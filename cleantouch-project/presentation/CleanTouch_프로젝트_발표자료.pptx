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CleanTouch는 쇼츠를 보다가 궁금한 상품이 등장하면 플로팅 버튼 한 번으로 화면을 분석하고 쇼핑 검색으로 연결하는 앱입니다. 오늘은 문제를 발견한 과정, 아이디어가 바뀐 이유, 현재 구현 결과와 다음 단계까지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쇼츠 위에 상품명과 가격이 계속 떠 있으면 정보를 바로 볼 수 있지만 영상 내용을 가립니다. 반대로 아무 정보가 없으면 상품을 직접 찾기 어렵습니다. CleanTouch는 정보를 계속 노출하지 않고 사용자가 궁금한 순간에만 상품 검색을 시작하는 방식입니다.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처음에는 딤팩 기술처럼 영상 속 상품을 직접 터치하는 SDK를 생각했습니다. 하지만 외부 회사가 유튜브나 인스타그램 플레이어를 수정할 수 없었습니다. 그래서 플랫폼이 설치해 주기를 기다리는 방식에서 사용자가 직접 현재 화면을 스캔하는 방식으로 바꿨습니다.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CleanTouch에서 스캔 모드를 시작하고 Android의 전체 화면 공유를 허용합니다. 평소처럼 영상 앱을 사용하다가 상품이 보일 때 버튼을 누릅니다. 한 화면만 분석하고 쇼핑 검색으로 연결합니다. 상품이 작거나 여러 개면 사용자가 직접 위치를 지정해 다시 검색합니다.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버전은 단순한 화면 시안이 아닙니다. Android MediaProjection, 플로팅 오버레이, 화면 캡처, 검색 API, AI 상품 설명, 쇼핑 검색 링크까지 실제로 연결했습니다. 작은 상품 보정, 회전, 네트워크 오류와 임시 이미지 삭제도 처리했습니다.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휴대전화 화면 중앙에 작게 보이는 검은색 가방을 스캔했습니다. CleanTouch가 검정색 미니 숄더백 계열로 인식했고 네이버 쇼핑과 Google Shopping 경로를 만들었습니다. 서버 자동 테스트 16개와 Android 린트도 통과했습니다.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공유 세션은 스캔 모드 동안 유지되지만 실제 파일 생성과 업로드는 사용자가 버튼을 누른 순간에만 수행합니다. 임시 파일은 삭제하고 서버도 이미지를 디스크에 저장하지 않습니다. 한도 초과나 외부 서비스 오류도 사용자에게 구분해 안내합니다.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Lens 같은 이미지 검색 서비스도 있습니다. CleanTouch의 차이는 검색 기술을 새로 발명했다는 데 있지 않습니다. 영상 중 스크린샷 저장, 앱 이동, 이미지 불러오기 과정을 줄이고 정보를 계속 띄우지 않는 사용 흐름이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일반 사용자는 무료로 사용하고 쇼핑몰, 브랜드, 숏폼 커머스 사업자가 비용을 내는 구조입니다. 기업용 라이선스, 상품 DB 연동, 분석 기능, 제휴 수수료를 생각하고 있습니다. 연 2,400만 원과 구매액 2퍼센트는 확정 가격이 아니라 고객 인터뷰로 검증할 가정입니다.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버전은 실제 동작하는 기술 시제품입니다. 다만 무료 AI와 로컬 서버를 사용하므로 많은 사용자를 받을 수는 없습니다. 정확한 동일 상품과 가격을 제공하려면 제휴 카탈로그와 이미지 검색이 필요하고, iPhone과 스토어 정책도 별도로 해결해야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 단계에서는 모든 상품을 한 번에 지원하기보다 가방 카테고리부터 정확도를 측정하겠습니다. 실제 쇼츠 50개와 사용자 20명 이상을 대상으로 완주율과 클릭률을 검증한 뒤 HTTPS 서버와 첫 상품 DB 파트너로 발전시키겠습니다. CleanTouch의 핵심은 정보를 더 많이 보여주는 것이 아니라 원하는 순간에만 자연스럽게 연결하는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81E"/>
        </a:solidFill>
      </p:bgPr>
    </p:bg>
    <p:spTree>
      <p:nvGrpSpPr>
        <p:cNvPr id="1" name=""/>
        <p:cNvGrpSpPr/>
        <p:nvPr/>
      </p:nvGrpSpPr>
      <p:grpSpPr>
        <a:xfrm>
          <a:off x="0" y="0"/>
          <a:ext cx="0" cy="0"/>
          <a:chOff x="0" y="0"/>
          <a:chExt cx="0" cy="0"/>
        </a:xfrm>
      </p:grpSpPr>
      <p:pic>
        <p:nvPicPr>
          <p:cNvPr id="2" name="Image 0" descr="C:\Users\first2000\practice-board\idea\cleantouch-product-mockup.png">    </p:cNvPr>
          <p:cNvPicPr>
            <a:picLocks noChangeAspect="1"/>
          </p:cNvPicPr>
          <p:nvPr/>
        </p:nvPicPr>
        <p:blipFill>
          <a:blip r:embed="rId1">
            <a:alphaModFix amt="98000"/>
          </a:blip>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61318">
              <a:alpha val="68000"/>
            </a:srgbClr>
          </a:solidFill>
          <a:ln w="12700">
            <a:solidFill>
              <a:srgbClr val="061318">
                <a:alpha val="0"/>
              </a:srgbClr>
            </a:solidFill>
            <a:prstDash val="solid"/>
          </a:ln>
        </p:spPr>
      </p:sp>
      <p:sp>
        <p:nvSpPr>
          <p:cNvPr id="4" name="Shape 1"/>
          <p:cNvSpPr/>
          <p:nvPr/>
        </p:nvSpPr>
        <p:spPr>
          <a:xfrm>
            <a:off x="640080" y="576072"/>
            <a:ext cx="2423160" cy="329184"/>
          </a:xfrm>
          <a:prstGeom prst="roundRect">
            <a:avLst>
              <a:gd name="adj" fmla="val 22222"/>
            </a:avLst>
          </a:prstGeom>
          <a:solidFill>
            <a:srgbClr val="DFF8FC"/>
          </a:solidFill>
          <a:ln w="12700">
            <a:solidFill>
              <a:srgbClr val="DFF8FC"/>
            </a:solidFill>
            <a:prstDash val="solid"/>
          </a:ln>
        </p:spPr>
      </p:sp>
      <p:sp>
        <p:nvSpPr>
          <p:cNvPr id="5" name="Text 2"/>
          <p:cNvSpPr/>
          <p:nvPr/>
        </p:nvSpPr>
        <p:spPr>
          <a:xfrm>
            <a:off x="694944" y="644652"/>
            <a:ext cx="2313432" cy="146304"/>
          </a:xfrm>
          <a:prstGeom prst="rect">
            <a:avLst/>
          </a:prstGeom>
          <a:noFill/>
          <a:ln/>
        </p:spPr>
        <p:txBody>
          <a:bodyPr wrap="square" lIns="0" tIns="0" rIns="0" bIns="0" rtlCol="0" anchor="ctr">
            <a:normAutofit/>
          </a:bodyPr>
          <a:lstStyle/>
          <a:p>
            <a:pPr algn="ctr" indent="0" marL="0">
              <a:buNone/>
            </a:pPr>
            <a:r>
              <a:rPr lang="en-US" sz="750" b="1" dirty="0">
                <a:solidFill>
                  <a:srgbClr val="168CA3"/>
                </a:solidFill>
                <a:latin typeface="Malgun Gothic" pitchFamily="34" charset="0"/>
                <a:ea typeface="Malgun Gothic" pitchFamily="34" charset="-122"/>
                <a:cs typeface="Malgun Gothic" pitchFamily="34" charset="-120"/>
              </a:rPr>
              <a:t>ANDROID PROTOTYPE · v0.2.1</a:t>
            </a:r>
            <a:endParaRPr lang="en-US" sz="750" dirty="0"/>
          </a:p>
        </p:txBody>
      </p:sp>
      <p:sp>
        <p:nvSpPr>
          <p:cNvPr id="6" name="Text 3"/>
          <p:cNvSpPr/>
          <p:nvPr/>
        </p:nvSpPr>
        <p:spPr>
          <a:xfrm>
            <a:off x="621792" y="1207008"/>
            <a:ext cx="5943600" cy="160020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Malgun Gothic" pitchFamily="34" charset="0"/>
                <a:ea typeface="Malgun Gothic" pitchFamily="34" charset="-122"/>
                <a:cs typeface="Malgun Gothic" pitchFamily="34" charset="-120"/>
              </a:rPr>
              <a:t>영상 속 상품을</a:t>
            </a:r>
            <a:endParaRPr lang="en-US" sz="3400" dirty="0"/>
          </a:p>
          <a:p>
            <a:pPr indent="0" marL="0">
              <a:buNone/>
            </a:pPr>
            <a:r>
              <a:rPr lang="en-US" sz="3400" b="1" dirty="0">
                <a:solidFill>
                  <a:srgbClr val="FFFFFF"/>
                </a:solidFill>
                <a:latin typeface="Malgun Gothic" pitchFamily="34" charset="0"/>
                <a:ea typeface="Malgun Gothic" pitchFamily="34" charset="-122"/>
                <a:cs typeface="Malgun Gothic" pitchFamily="34" charset="-120"/>
              </a:rPr>
              <a:t>원하는 순간 바로 찾다</a:t>
            </a:r>
            <a:endParaRPr lang="en-US" sz="3400" dirty="0"/>
          </a:p>
        </p:txBody>
      </p:sp>
      <p:sp>
        <p:nvSpPr>
          <p:cNvPr id="7" name="Text 4"/>
          <p:cNvSpPr/>
          <p:nvPr/>
        </p:nvSpPr>
        <p:spPr>
          <a:xfrm>
            <a:off x="640080" y="3063240"/>
            <a:ext cx="4023360" cy="548640"/>
          </a:xfrm>
          <a:prstGeom prst="rect">
            <a:avLst/>
          </a:prstGeom>
          <a:noFill/>
          <a:ln/>
        </p:spPr>
        <p:txBody>
          <a:bodyPr wrap="square" lIns="0" tIns="0" rIns="0" bIns="0" rtlCol="0" anchor="ctr"/>
          <a:lstStyle/>
          <a:p>
            <a:pPr indent="0" marL="0">
              <a:buNone/>
            </a:pPr>
            <a:r>
              <a:rPr lang="en-US" sz="2500" b="1" dirty="0">
                <a:solidFill>
                  <a:srgbClr val="38C9DF"/>
                </a:solidFill>
                <a:latin typeface="Malgun Gothic" pitchFamily="34" charset="0"/>
                <a:ea typeface="Malgun Gothic" pitchFamily="34" charset="-122"/>
                <a:cs typeface="Malgun Gothic" pitchFamily="34" charset="-120"/>
              </a:rPr>
              <a:t>CleanTouch</a:t>
            </a:r>
            <a:endParaRPr lang="en-US" sz="2500" dirty="0"/>
          </a:p>
        </p:txBody>
      </p:sp>
      <p:sp>
        <p:nvSpPr>
          <p:cNvPr id="8" name="Text 5"/>
          <p:cNvSpPr/>
          <p:nvPr/>
        </p:nvSpPr>
        <p:spPr>
          <a:xfrm>
            <a:off x="658368" y="3685032"/>
            <a:ext cx="5303520" cy="457200"/>
          </a:xfrm>
          <a:prstGeom prst="rect">
            <a:avLst/>
          </a:prstGeom>
          <a:noFill/>
          <a:ln/>
        </p:spPr>
        <p:txBody>
          <a:bodyPr wrap="square" lIns="0" tIns="0" rIns="0" bIns="0" rtlCol="0" anchor="ctr">
            <a:normAutofit/>
          </a:bodyPr>
          <a:lstStyle/>
          <a:p>
            <a:pPr indent="0" marL="0">
              <a:buNone/>
            </a:pPr>
            <a:r>
              <a:rPr lang="en-US" sz="1150" dirty="0">
                <a:solidFill>
                  <a:srgbClr val="E3ECEE"/>
                </a:solidFill>
                <a:latin typeface="Malgun Gothic" pitchFamily="34" charset="0"/>
                <a:ea typeface="Malgun Gothic" pitchFamily="34" charset="-122"/>
                <a:cs typeface="Malgun Gothic" pitchFamily="34" charset="-120"/>
              </a:rPr>
              <a:t>아이디어 구체화부터 실제 Android 앱·AI 검색 서버 구현까지</a:t>
            </a:r>
            <a:endParaRPr lang="en-US" sz="1150" dirty="0"/>
          </a:p>
        </p:txBody>
      </p:sp>
      <p:sp>
        <p:nvSpPr>
          <p:cNvPr id="9" name="Shape 6"/>
          <p:cNvSpPr/>
          <p:nvPr/>
        </p:nvSpPr>
        <p:spPr>
          <a:xfrm>
            <a:off x="658368" y="4343400"/>
            <a:ext cx="3474720" cy="0"/>
          </a:xfrm>
          <a:prstGeom prst="line">
            <a:avLst/>
          </a:prstGeom>
          <a:noFill/>
          <a:ln w="25400">
            <a:solidFill>
              <a:srgbClr val="38C9DF"/>
            </a:solidFill>
            <a:prstDash val="solid"/>
          </a:ln>
        </p:spPr>
      </p:sp>
      <p:sp>
        <p:nvSpPr>
          <p:cNvPr id="10" name="Text 7"/>
          <p:cNvSpPr/>
          <p:nvPr/>
        </p:nvSpPr>
        <p:spPr>
          <a:xfrm>
            <a:off x="658368" y="4498848"/>
            <a:ext cx="4023360" cy="228600"/>
          </a:xfrm>
          <a:prstGeom prst="rect">
            <a:avLst/>
          </a:prstGeom>
          <a:noFill/>
          <a:ln/>
        </p:spPr>
        <p:txBody>
          <a:bodyPr wrap="square" lIns="0" tIns="0" rIns="0" bIns="0" rtlCol="0" anchor="ctr"/>
          <a:lstStyle/>
          <a:p>
            <a:pPr indent="0" marL="0">
              <a:buNone/>
            </a:pPr>
            <a:r>
              <a:rPr lang="en-US" sz="750" b="1" spc="160" kern="0" dirty="0">
                <a:solidFill>
                  <a:srgbClr val="D1DDE0"/>
                </a:solidFill>
                <a:latin typeface="Malgun Gothic" pitchFamily="34" charset="0"/>
                <a:ea typeface="Malgun Gothic" pitchFamily="34" charset="-122"/>
                <a:cs typeface="Malgun Gothic" pitchFamily="34" charset="-120"/>
              </a:rPr>
              <a:t>PROJECT PROGRESS PRESENTATION</a:t>
            </a:r>
            <a:endParaRPr lang="en-US" sz="750" dirty="0"/>
          </a:p>
        </p:txBody>
      </p:sp>
      <p:sp>
        <p:nvSpPr>
          <p:cNvPr id="11" name="Text 8"/>
          <p:cNvSpPr/>
          <p:nvPr/>
        </p:nvSpPr>
        <p:spPr>
          <a:xfrm>
            <a:off x="411480" y="6528816"/>
            <a:ext cx="1463040" cy="182880"/>
          </a:xfrm>
          <a:prstGeom prst="rect">
            <a:avLst/>
          </a:prstGeom>
          <a:noFill/>
          <a:ln/>
        </p:spPr>
        <p:txBody>
          <a:bodyPr wrap="square" lIns="0" tIns="0" rIns="0" bIns="0" rtlCol="0" anchor="ctr"/>
          <a:lstStyle/>
          <a:p>
            <a:pPr indent="0" marL="0">
              <a:buNone/>
            </a:pPr>
            <a:r>
              <a:rPr lang="en-US" sz="750" b="1" dirty="0">
                <a:solidFill>
                  <a:srgbClr val="D7E4E7"/>
                </a:solidFill>
                <a:latin typeface="Malgun Gothic" pitchFamily="34" charset="0"/>
                <a:ea typeface="Malgun Gothic" pitchFamily="34" charset="-122"/>
                <a:cs typeface="Malgun Gothic" pitchFamily="34" charset="-120"/>
              </a:rPr>
              <a:t>CleanTouch</a:t>
            </a:r>
            <a:endParaRPr lang="en-US" sz="750" dirty="0"/>
          </a:p>
        </p:txBody>
      </p:sp>
      <p:sp>
        <p:nvSpPr>
          <p:cNvPr id="12" name="Text 9"/>
          <p:cNvSpPr/>
          <p:nvPr/>
        </p:nvSpPr>
        <p:spPr>
          <a:xfrm>
            <a:off x="11292840" y="6510528"/>
            <a:ext cx="457200" cy="182880"/>
          </a:xfrm>
          <a:prstGeom prst="rect">
            <a:avLst/>
          </a:prstGeom>
          <a:noFill/>
          <a:ln/>
        </p:spPr>
        <p:txBody>
          <a:bodyPr wrap="square" lIns="0" tIns="0" rIns="0" bIns="0" rtlCol="0" anchor="ctr"/>
          <a:lstStyle/>
          <a:p>
            <a:pPr algn="r" indent="0" marL="0">
              <a:buNone/>
            </a:pPr>
            <a:r>
              <a:rPr lang="en-US" sz="750" dirty="0">
                <a:solidFill>
                  <a:srgbClr val="D7E4E7"/>
                </a:solidFill>
                <a:latin typeface="Malgun Gothic" pitchFamily="34" charset="0"/>
                <a:ea typeface="Malgun Gothic" pitchFamily="34" charset="-122"/>
                <a:cs typeface="Malgun Gothic" pitchFamily="34" charset="-120"/>
              </a:rPr>
              <a:t>01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7F8"/>
        </a:solidFill>
      </p:bgPr>
    </p:bg>
    <p:spTree>
      <p:nvGrpSpPr>
        <p:cNvPr id="1" name=""/>
        <p:cNvGrpSpPr/>
        <p:nvPr/>
      </p:nvGrpSpPr>
      <p:grpSpPr>
        <a:xfrm>
          <a:off x="0" y="0"/>
          <a:ext cx="0" cy="0"/>
          <a:chOff x="0" y="0"/>
          <a:chExt cx="0" cy="0"/>
        </a:xfrm>
      </p:grpSpPr>
      <p:sp>
        <p:nvSpPr>
          <p:cNvPr id="2" name="Text 0"/>
          <p:cNvSpPr/>
          <p:nvPr/>
        </p:nvSpPr>
        <p:spPr>
          <a:xfrm>
            <a:off x="548640" y="347472"/>
            <a:ext cx="4114800" cy="228600"/>
          </a:xfrm>
          <a:prstGeom prst="rect">
            <a:avLst/>
          </a:prstGeom>
          <a:noFill/>
          <a:ln/>
        </p:spPr>
        <p:txBody>
          <a:bodyPr wrap="square" lIns="0" tIns="0" rIns="0" bIns="0" rtlCol="0" anchor="ctr"/>
          <a:lstStyle/>
          <a:p>
            <a:pPr indent="0" marL="0">
              <a:buNone/>
            </a:pPr>
            <a:r>
              <a:rPr lang="en-US" sz="850" b="1" spc="140" kern="0" dirty="0">
                <a:solidFill>
                  <a:srgbClr val="168CA3"/>
                </a:solidFill>
                <a:latin typeface="Malgun Gothic" pitchFamily="34" charset="0"/>
                <a:ea typeface="Malgun Gothic" pitchFamily="34" charset="-122"/>
                <a:cs typeface="Malgun Gothic" pitchFamily="34" charset="-120"/>
              </a:rPr>
              <a:t>01 · PROBLEM</a:t>
            </a:r>
            <a:endParaRPr lang="en-US" sz="850" dirty="0"/>
          </a:p>
        </p:txBody>
      </p:sp>
      <p:sp>
        <p:nvSpPr>
          <p:cNvPr id="3" name="Text 1"/>
          <p:cNvSpPr/>
          <p:nvPr/>
        </p:nvSpPr>
        <p:spPr>
          <a:xfrm>
            <a:off x="548640" y="685800"/>
            <a:ext cx="11064240" cy="566928"/>
          </a:xfrm>
          <a:prstGeom prst="rect">
            <a:avLst/>
          </a:prstGeom>
          <a:noFill/>
          <a:ln/>
        </p:spPr>
        <p:txBody>
          <a:bodyPr wrap="square" lIns="0" tIns="0" rIns="0" bIns="0" rtlCol="0" anchor="ctr">
            <a:normAutofit/>
          </a:bodyPr>
          <a:lstStyle/>
          <a:p>
            <a:pPr indent="0" marL="0">
              <a:buNone/>
            </a:pPr>
            <a:r>
              <a:rPr lang="en-US" sz="2500" b="1" dirty="0">
                <a:solidFill>
                  <a:srgbClr val="14272E"/>
                </a:solidFill>
                <a:latin typeface="Malgun Gothic" pitchFamily="34" charset="0"/>
                <a:ea typeface="Malgun Gothic" pitchFamily="34" charset="-122"/>
                <a:cs typeface="Malgun Gothic" pitchFamily="34" charset="-120"/>
              </a:rPr>
              <a:t>정보를 보여줄수록, 영상은 더 가려진다</a:t>
            </a:r>
            <a:endParaRPr lang="en-US" sz="2500" dirty="0"/>
          </a:p>
        </p:txBody>
      </p:sp>
      <p:sp>
        <p:nvSpPr>
          <p:cNvPr id="4" name="Text 2"/>
          <p:cNvSpPr/>
          <p:nvPr/>
        </p:nvSpPr>
        <p:spPr>
          <a:xfrm>
            <a:off x="566928" y="1353312"/>
            <a:ext cx="10698480" cy="384048"/>
          </a:xfrm>
          <a:prstGeom prst="rect">
            <a:avLst/>
          </a:prstGeom>
          <a:noFill/>
          <a:ln/>
        </p:spPr>
        <p:txBody>
          <a:bodyPr wrap="square" lIns="0" tIns="0" rIns="0" bIns="0" rtlCol="0" anchor="ctr">
            <a:normAutofit/>
          </a:bodyPr>
          <a:lstStyle/>
          <a:p>
            <a:pPr indent="0" marL="0">
              <a:buNone/>
            </a:pPr>
            <a:r>
              <a:rPr lang="en-US" sz="1050" dirty="0">
                <a:solidFill>
                  <a:srgbClr val="708087"/>
                </a:solidFill>
                <a:latin typeface="Malgun Gothic" pitchFamily="34" charset="0"/>
                <a:ea typeface="Malgun Gothic" pitchFamily="34" charset="-122"/>
                <a:cs typeface="Malgun Gothic" pitchFamily="34" charset="-120"/>
              </a:rPr>
              <a:t>쇼츠 커머스의 정보 전달과 영상 몰입 사이에는 충돌이 있습니다.</a:t>
            </a:r>
            <a:endParaRPr lang="en-US" sz="1050" dirty="0"/>
          </a:p>
        </p:txBody>
      </p:sp>
      <p:sp>
        <p:nvSpPr>
          <p:cNvPr id="5" name="Shape 3"/>
          <p:cNvSpPr/>
          <p:nvPr/>
        </p:nvSpPr>
        <p:spPr>
          <a:xfrm>
            <a:off x="594360" y="1965960"/>
            <a:ext cx="5257800" cy="2880360"/>
          </a:xfrm>
          <a:prstGeom prst="roundRect">
            <a:avLst>
              <a:gd name="adj" fmla="val 3810"/>
            </a:avLst>
          </a:prstGeom>
          <a:solidFill>
            <a:srgbClr val="FFFFFF"/>
          </a:solidFill>
          <a:ln w="12700">
            <a:solidFill>
              <a:srgbClr val="D8E2E5"/>
            </a:solidFill>
            <a:prstDash val="solid"/>
          </a:ln>
          <a:effectLst>
            <a:outerShdw sx="100000" sy="100000" kx="0" ky="0" algn="bl" rotWithShape="0" blurRad="19050" dist="50800" dir="2700000">
              <a:srgbClr val="AEBFC4">
                <a:alpha val="16000"/>
              </a:srgbClr>
            </a:outerShdw>
          </a:effectLst>
        </p:spPr>
      </p:sp>
      <p:sp>
        <p:nvSpPr>
          <p:cNvPr id="6" name="Shape 4"/>
          <p:cNvSpPr/>
          <p:nvPr/>
        </p:nvSpPr>
        <p:spPr>
          <a:xfrm>
            <a:off x="850392" y="2240280"/>
            <a:ext cx="109728" cy="512064"/>
          </a:xfrm>
          <a:prstGeom prst="roundRect">
            <a:avLst>
              <a:gd name="adj" fmla="val 33333"/>
            </a:avLst>
          </a:prstGeom>
          <a:solidFill>
            <a:srgbClr val="6550B6"/>
          </a:solidFill>
          <a:ln w="12700">
            <a:solidFill>
              <a:srgbClr val="6550B6"/>
            </a:solidFill>
            <a:prstDash val="solid"/>
          </a:ln>
        </p:spPr>
      </p:sp>
      <p:sp>
        <p:nvSpPr>
          <p:cNvPr id="7" name="Text 5"/>
          <p:cNvSpPr/>
          <p:nvPr/>
        </p:nvSpPr>
        <p:spPr>
          <a:xfrm>
            <a:off x="1097280" y="2221992"/>
            <a:ext cx="4507992" cy="329184"/>
          </a:xfrm>
          <a:prstGeom prst="rect">
            <a:avLst/>
          </a:prstGeom>
          <a:noFill/>
          <a:ln/>
        </p:spPr>
        <p:txBody>
          <a:bodyPr wrap="square" lIns="0" tIns="0" rIns="0" bIns="0" rtlCol="0" anchor="ctr">
            <a:normAutofit/>
          </a:bodyPr>
          <a:lstStyle/>
          <a:p>
            <a:pPr indent="0" marL="0">
              <a:buNone/>
            </a:pPr>
            <a:r>
              <a:rPr lang="en-US" sz="1400" b="1" dirty="0">
                <a:solidFill>
                  <a:srgbClr val="14272E"/>
                </a:solidFill>
                <a:latin typeface="Malgun Gothic" pitchFamily="34" charset="0"/>
                <a:ea typeface="Malgun Gothic" pitchFamily="34" charset="-122"/>
                <a:cs typeface="Malgun Gothic" pitchFamily="34" charset="-120"/>
              </a:rPr>
              <a:t>정보가 계속 보일 때</a:t>
            </a:r>
            <a:endParaRPr lang="en-US" sz="1400" dirty="0"/>
          </a:p>
        </p:txBody>
      </p:sp>
      <p:sp>
        <p:nvSpPr>
          <p:cNvPr id="8" name="Text 6"/>
          <p:cNvSpPr/>
          <p:nvPr/>
        </p:nvSpPr>
        <p:spPr>
          <a:xfrm>
            <a:off x="1097280" y="2770632"/>
            <a:ext cx="4507992" cy="1828800"/>
          </a:xfrm>
          <a:prstGeom prst="rect">
            <a:avLst/>
          </a:prstGeom>
          <a:noFill/>
          <a:ln/>
        </p:spPr>
        <p:txBody>
          <a:bodyPr wrap="square" lIns="0" tIns="0" rIns="0" bIns="0" rtlCol="0" anchor="t">
            <a:normAutofit/>
          </a:bodyPr>
          <a:lstStyle/>
          <a:p>
            <a:r>
              <a:rPr lang="en-US" sz="1020" dirty="0">
                <a:solidFill>
                  <a:srgbClr val="708087"/>
                </a:solidFill>
                <a:latin typeface="Malgun Gothic" pitchFamily="34" charset="0"/>
                <a:ea typeface="Malgun Gothic" pitchFamily="34" charset="-122"/>
                <a:cs typeface="Malgun Gothic" pitchFamily="34" charset="-120"/>
              </a:rPr>
              <a:t>상품명·가격·구매 링크가 옷의 핏과 중요한 장면을 가림</a:t>
            </a:r>
            <a:endParaRPr lang="en-US" sz="1020" dirty="0"/>
          </a:p>
          <a:p>
            <a:r>
              <a:rPr lang="en-US" sz="1020" dirty="0">
                <a:solidFill>
                  <a:srgbClr val="708087"/>
                </a:solidFill>
                <a:latin typeface="Malgun Gothic" pitchFamily="34" charset="0"/>
                <a:ea typeface="Malgun Gothic" pitchFamily="34" charset="-122"/>
                <a:cs typeface="Malgun Gothic" pitchFamily="34" charset="-120"/>
              </a:rPr>
              <a:t>시청 몰입과 영상 완주를 방해할 수 있음</a:t>
            </a:r>
            <a:endParaRPr lang="en-US" sz="1020" dirty="0"/>
          </a:p>
        </p:txBody>
      </p:sp>
      <p:sp>
        <p:nvSpPr>
          <p:cNvPr id="9" name="Shape 7"/>
          <p:cNvSpPr/>
          <p:nvPr/>
        </p:nvSpPr>
        <p:spPr>
          <a:xfrm>
            <a:off x="6327648" y="1965960"/>
            <a:ext cx="5257800" cy="2880360"/>
          </a:xfrm>
          <a:prstGeom prst="roundRect">
            <a:avLst>
              <a:gd name="adj" fmla="val 3810"/>
            </a:avLst>
          </a:prstGeom>
          <a:solidFill>
            <a:srgbClr val="FFFFFF"/>
          </a:solidFill>
          <a:ln w="12700">
            <a:solidFill>
              <a:srgbClr val="D8E2E5"/>
            </a:solidFill>
            <a:prstDash val="solid"/>
          </a:ln>
          <a:effectLst>
            <a:outerShdw sx="100000" sy="100000" kx="0" ky="0" algn="bl" rotWithShape="0" blurRad="19050" dist="50800" dir="2700000">
              <a:srgbClr val="AEBFC4">
                <a:alpha val="16000"/>
              </a:srgbClr>
            </a:outerShdw>
          </a:effectLst>
        </p:spPr>
      </p:sp>
      <p:sp>
        <p:nvSpPr>
          <p:cNvPr id="10" name="Shape 8"/>
          <p:cNvSpPr/>
          <p:nvPr/>
        </p:nvSpPr>
        <p:spPr>
          <a:xfrm>
            <a:off x="6583680" y="2240280"/>
            <a:ext cx="109728" cy="512064"/>
          </a:xfrm>
          <a:prstGeom prst="roundRect">
            <a:avLst>
              <a:gd name="adj" fmla="val 33333"/>
            </a:avLst>
          </a:prstGeom>
          <a:solidFill>
            <a:srgbClr val="38C9DF"/>
          </a:solidFill>
          <a:ln w="12700">
            <a:solidFill>
              <a:srgbClr val="38C9DF"/>
            </a:solidFill>
            <a:prstDash val="solid"/>
          </a:ln>
        </p:spPr>
      </p:sp>
      <p:sp>
        <p:nvSpPr>
          <p:cNvPr id="11" name="Text 9"/>
          <p:cNvSpPr/>
          <p:nvPr/>
        </p:nvSpPr>
        <p:spPr>
          <a:xfrm>
            <a:off x="6830568" y="2221992"/>
            <a:ext cx="4507992" cy="329184"/>
          </a:xfrm>
          <a:prstGeom prst="rect">
            <a:avLst/>
          </a:prstGeom>
          <a:noFill/>
          <a:ln/>
        </p:spPr>
        <p:txBody>
          <a:bodyPr wrap="square" lIns="0" tIns="0" rIns="0" bIns="0" rtlCol="0" anchor="ctr">
            <a:normAutofit/>
          </a:bodyPr>
          <a:lstStyle/>
          <a:p>
            <a:pPr indent="0" marL="0">
              <a:buNone/>
            </a:pPr>
            <a:r>
              <a:rPr lang="en-US" sz="1400" b="1" dirty="0">
                <a:solidFill>
                  <a:srgbClr val="14272E"/>
                </a:solidFill>
                <a:latin typeface="Malgun Gothic" pitchFamily="34" charset="0"/>
                <a:ea typeface="Malgun Gothic" pitchFamily="34" charset="-122"/>
                <a:cs typeface="Malgun Gothic" pitchFamily="34" charset="-120"/>
              </a:rPr>
              <a:t>정보가 전혀 없을 때</a:t>
            </a:r>
            <a:endParaRPr lang="en-US" sz="1400" dirty="0"/>
          </a:p>
        </p:txBody>
      </p:sp>
      <p:sp>
        <p:nvSpPr>
          <p:cNvPr id="12" name="Text 10"/>
          <p:cNvSpPr/>
          <p:nvPr/>
        </p:nvSpPr>
        <p:spPr>
          <a:xfrm>
            <a:off x="6830568" y="2770632"/>
            <a:ext cx="4507992" cy="1828800"/>
          </a:xfrm>
          <a:prstGeom prst="rect">
            <a:avLst/>
          </a:prstGeom>
          <a:noFill/>
          <a:ln/>
        </p:spPr>
        <p:txBody>
          <a:bodyPr wrap="square" lIns="0" tIns="0" rIns="0" bIns="0" rtlCol="0" anchor="t">
            <a:normAutofit/>
          </a:bodyPr>
          <a:lstStyle/>
          <a:p>
            <a:r>
              <a:rPr lang="en-US" sz="1020" dirty="0">
                <a:solidFill>
                  <a:srgbClr val="708087"/>
                </a:solidFill>
                <a:latin typeface="Malgun Gothic" pitchFamily="34" charset="0"/>
                <a:ea typeface="Malgun Gothic" pitchFamily="34" charset="-122"/>
                <a:cs typeface="Malgun Gothic" pitchFamily="34" charset="-120"/>
              </a:rPr>
              <a:t>궁금한 가방·옷·신발을 사용자가 직접 검색해야 함</a:t>
            </a:r>
            <a:endParaRPr lang="en-US" sz="1020" dirty="0"/>
          </a:p>
          <a:p>
            <a:r>
              <a:rPr lang="en-US" sz="1020" dirty="0">
                <a:solidFill>
                  <a:srgbClr val="708087"/>
                </a:solidFill>
                <a:latin typeface="Malgun Gothic" pitchFamily="34" charset="0"/>
                <a:ea typeface="Malgun Gothic" pitchFamily="34" charset="-122"/>
                <a:cs typeface="Malgun Gothic" pitchFamily="34" charset="-120"/>
              </a:rPr>
              <a:t>브랜드나 모델을 모르면 구매까지 이어지기 어려움</a:t>
            </a:r>
            <a:endParaRPr lang="en-US" sz="1020" dirty="0"/>
          </a:p>
        </p:txBody>
      </p:sp>
      <p:sp>
        <p:nvSpPr>
          <p:cNvPr id="13" name="Shape 11"/>
          <p:cNvSpPr/>
          <p:nvPr/>
        </p:nvSpPr>
        <p:spPr>
          <a:xfrm>
            <a:off x="1920240" y="5193792"/>
            <a:ext cx="8366760" cy="685800"/>
          </a:xfrm>
          <a:prstGeom prst="roundRect">
            <a:avLst>
              <a:gd name="adj" fmla="val 13333"/>
            </a:avLst>
          </a:prstGeom>
          <a:solidFill>
            <a:srgbClr val="14272E"/>
          </a:solidFill>
          <a:ln w="12700">
            <a:solidFill>
              <a:srgbClr val="14272E"/>
            </a:solidFill>
            <a:prstDash val="solid"/>
          </a:ln>
        </p:spPr>
      </p:sp>
      <p:sp>
        <p:nvSpPr>
          <p:cNvPr id="14" name="Text 12"/>
          <p:cNvSpPr/>
          <p:nvPr/>
        </p:nvSpPr>
        <p:spPr>
          <a:xfrm>
            <a:off x="2148840" y="5404104"/>
            <a:ext cx="7909560" cy="22860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핵심 질문  |  정보를 계속 띄우지 않고, 사용자가 원하는 순간에만 연결할 수 없을까?</a:t>
            </a:r>
            <a:endParaRPr lang="en-US" sz="1200" dirty="0"/>
          </a:p>
        </p:txBody>
      </p:sp>
      <p:sp>
        <p:nvSpPr>
          <p:cNvPr id="15" name="Text 13"/>
          <p:cNvSpPr/>
          <p:nvPr/>
        </p:nvSpPr>
        <p:spPr>
          <a:xfrm>
            <a:off x="411480" y="6528816"/>
            <a:ext cx="1463040" cy="182880"/>
          </a:xfrm>
          <a:prstGeom prst="rect">
            <a:avLst/>
          </a:prstGeom>
          <a:noFill/>
          <a:ln/>
        </p:spPr>
        <p:txBody>
          <a:bodyPr wrap="square" lIns="0" tIns="0" rIns="0" bIns="0" rtlCol="0" anchor="ctr"/>
          <a:lstStyle/>
          <a:p>
            <a:pPr indent="0" marL="0">
              <a:buNone/>
            </a:pPr>
            <a:r>
              <a:rPr lang="en-US" sz="750" b="1" dirty="0">
                <a:solidFill>
                  <a:srgbClr val="A4B0B4"/>
                </a:solidFill>
                <a:latin typeface="Malgun Gothic" pitchFamily="34" charset="0"/>
                <a:ea typeface="Malgun Gothic" pitchFamily="34" charset="-122"/>
                <a:cs typeface="Malgun Gothic" pitchFamily="34" charset="-120"/>
              </a:rPr>
              <a:t>CleanTouch</a:t>
            </a:r>
            <a:endParaRPr lang="en-US" sz="750" dirty="0"/>
          </a:p>
        </p:txBody>
      </p:sp>
      <p:sp>
        <p:nvSpPr>
          <p:cNvPr id="16" name="Text 14"/>
          <p:cNvSpPr/>
          <p:nvPr/>
        </p:nvSpPr>
        <p:spPr>
          <a:xfrm>
            <a:off x="11292840" y="6510528"/>
            <a:ext cx="457200" cy="182880"/>
          </a:xfrm>
          <a:prstGeom prst="rect">
            <a:avLst/>
          </a:prstGeom>
          <a:noFill/>
          <a:ln/>
        </p:spPr>
        <p:txBody>
          <a:bodyPr wrap="square" lIns="0" tIns="0" rIns="0" bIns="0" rtlCol="0" anchor="ctr"/>
          <a:lstStyle/>
          <a:p>
            <a:pPr algn="r" indent="0" marL="0">
              <a:buNone/>
            </a:pPr>
            <a:r>
              <a:rPr lang="en-US" sz="750" dirty="0">
                <a:solidFill>
                  <a:srgbClr val="A4B0B4"/>
                </a:solidFill>
                <a:latin typeface="Malgun Gothic" pitchFamily="34" charset="0"/>
                <a:ea typeface="Malgun Gothic" pitchFamily="34" charset="-122"/>
                <a:cs typeface="Malgun Gothic" pitchFamily="34" charset="-120"/>
              </a:rPr>
              <a:t>02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7F8"/>
        </a:solidFill>
      </p:bgPr>
    </p:bg>
    <p:spTree>
      <p:nvGrpSpPr>
        <p:cNvPr id="1" name=""/>
        <p:cNvGrpSpPr/>
        <p:nvPr/>
      </p:nvGrpSpPr>
      <p:grpSpPr>
        <a:xfrm>
          <a:off x="0" y="0"/>
          <a:ext cx="0" cy="0"/>
          <a:chOff x="0" y="0"/>
          <a:chExt cx="0" cy="0"/>
        </a:xfrm>
      </p:grpSpPr>
      <p:sp>
        <p:nvSpPr>
          <p:cNvPr id="2" name="Text 0"/>
          <p:cNvSpPr/>
          <p:nvPr/>
        </p:nvSpPr>
        <p:spPr>
          <a:xfrm>
            <a:off x="548640" y="347472"/>
            <a:ext cx="4114800" cy="228600"/>
          </a:xfrm>
          <a:prstGeom prst="rect">
            <a:avLst/>
          </a:prstGeom>
          <a:noFill/>
          <a:ln/>
        </p:spPr>
        <p:txBody>
          <a:bodyPr wrap="square" lIns="0" tIns="0" rIns="0" bIns="0" rtlCol="0" anchor="ctr"/>
          <a:lstStyle/>
          <a:p>
            <a:pPr indent="0" marL="0">
              <a:buNone/>
            </a:pPr>
            <a:r>
              <a:rPr lang="en-US" sz="850" b="1" spc="140" kern="0" dirty="0">
                <a:solidFill>
                  <a:srgbClr val="168CA3"/>
                </a:solidFill>
                <a:latin typeface="Malgun Gothic" pitchFamily="34" charset="0"/>
                <a:ea typeface="Malgun Gothic" pitchFamily="34" charset="-122"/>
                <a:cs typeface="Malgun Gothic" pitchFamily="34" charset="-120"/>
              </a:rPr>
              <a:t>02 · PIVOT</a:t>
            </a:r>
            <a:endParaRPr lang="en-US" sz="850" dirty="0"/>
          </a:p>
        </p:txBody>
      </p:sp>
      <p:sp>
        <p:nvSpPr>
          <p:cNvPr id="3" name="Text 1"/>
          <p:cNvSpPr/>
          <p:nvPr/>
        </p:nvSpPr>
        <p:spPr>
          <a:xfrm>
            <a:off x="548640" y="685800"/>
            <a:ext cx="11064240" cy="566928"/>
          </a:xfrm>
          <a:prstGeom prst="rect">
            <a:avLst/>
          </a:prstGeom>
          <a:noFill/>
          <a:ln/>
        </p:spPr>
        <p:txBody>
          <a:bodyPr wrap="square" lIns="0" tIns="0" rIns="0" bIns="0" rtlCol="0" anchor="ctr">
            <a:normAutofit/>
          </a:bodyPr>
          <a:lstStyle/>
          <a:p>
            <a:pPr indent="0" marL="0">
              <a:buNone/>
            </a:pPr>
            <a:r>
              <a:rPr lang="en-US" sz="2500" b="1" dirty="0">
                <a:solidFill>
                  <a:srgbClr val="14272E"/>
                </a:solidFill>
                <a:latin typeface="Malgun Gothic" pitchFamily="34" charset="0"/>
                <a:ea typeface="Malgun Gothic" pitchFamily="34" charset="-122"/>
                <a:cs typeface="Malgun Gothic" pitchFamily="34" charset="-120"/>
              </a:rPr>
              <a:t>플랫폼 중심 SDK에서 사용자 중심 스캔 앱으로</a:t>
            </a:r>
            <a:endParaRPr lang="en-US" sz="2500" dirty="0"/>
          </a:p>
        </p:txBody>
      </p:sp>
      <p:sp>
        <p:nvSpPr>
          <p:cNvPr id="4" name="Text 2"/>
          <p:cNvSpPr/>
          <p:nvPr/>
        </p:nvSpPr>
        <p:spPr>
          <a:xfrm>
            <a:off x="566928" y="1353312"/>
            <a:ext cx="10698480" cy="384048"/>
          </a:xfrm>
          <a:prstGeom prst="rect">
            <a:avLst/>
          </a:prstGeom>
          <a:noFill/>
          <a:ln/>
        </p:spPr>
        <p:txBody>
          <a:bodyPr wrap="square" lIns="0" tIns="0" rIns="0" bIns="0" rtlCol="0" anchor="ctr">
            <a:normAutofit/>
          </a:bodyPr>
          <a:lstStyle/>
          <a:p>
            <a:pPr indent="0" marL="0">
              <a:buNone/>
            </a:pPr>
            <a:r>
              <a:rPr lang="en-US" sz="1050" dirty="0">
                <a:solidFill>
                  <a:srgbClr val="708087"/>
                </a:solidFill>
                <a:latin typeface="Malgun Gothic" pitchFamily="34" charset="0"/>
                <a:ea typeface="Malgun Gothic" pitchFamily="34" charset="-122"/>
                <a:cs typeface="Malgun Gothic" pitchFamily="34" charset="-120"/>
              </a:rPr>
              <a:t>유튜브·인스타그램의 플레이어를 외부에서 수정할 수 없다는 현실을 반영했습니다.</a:t>
            </a:r>
            <a:endParaRPr lang="en-US" sz="1050" dirty="0"/>
          </a:p>
        </p:txBody>
      </p:sp>
      <p:sp>
        <p:nvSpPr>
          <p:cNvPr id="5" name="Shape 3"/>
          <p:cNvSpPr/>
          <p:nvPr/>
        </p:nvSpPr>
        <p:spPr>
          <a:xfrm>
            <a:off x="640080" y="1920240"/>
            <a:ext cx="4846320" cy="3429000"/>
          </a:xfrm>
          <a:prstGeom prst="roundRect">
            <a:avLst>
              <a:gd name="adj" fmla="val 3200"/>
            </a:avLst>
          </a:prstGeom>
          <a:solidFill>
            <a:srgbClr val="FFFFFF"/>
          </a:solidFill>
          <a:ln w="12700">
            <a:solidFill>
              <a:srgbClr val="D8E2E5"/>
            </a:solidFill>
            <a:prstDash val="solid"/>
          </a:ln>
        </p:spPr>
      </p:sp>
      <p:sp>
        <p:nvSpPr>
          <p:cNvPr id="6" name="Shape 4"/>
          <p:cNvSpPr/>
          <p:nvPr/>
        </p:nvSpPr>
        <p:spPr>
          <a:xfrm>
            <a:off x="960120" y="2258568"/>
            <a:ext cx="1143000" cy="329184"/>
          </a:xfrm>
          <a:prstGeom prst="roundRect">
            <a:avLst>
              <a:gd name="adj" fmla="val 22222"/>
            </a:avLst>
          </a:prstGeom>
          <a:solidFill>
            <a:srgbClr val="EEEAFB"/>
          </a:solidFill>
          <a:ln w="12700">
            <a:solidFill>
              <a:srgbClr val="EEEAFB"/>
            </a:solidFill>
            <a:prstDash val="solid"/>
          </a:ln>
        </p:spPr>
      </p:sp>
      <p:sp>
        <p:nvSpPr>
          <p:cNvPr id="7" name="Text 5"/>
          <p:cNvSpPr/>
          <p:nvPr/>
        </p:nvSpPr>
        <p:spPr>
          <a:xfrm>
            <a:off x="1014984" y="2327148"/>
            <a:ext cx="1033272" cy="146304"/>
          </a:xfrm>
          <a:prstGeom prst="rect">
            <a:avLst/>
          </a:prstGeom>
          <a:noFill/>
          <a:ln/>
        </p:spPr>
        <p:txBody>
          <a:bodyPr wrap="square" lIns="0" tIns="0" rIns="0" bIns="0" rtlCol="0" anchor="ctr">
            <a:normAutofit/>
          </a:bodyPr>
          <a:lstStyle/>
          <a:p>
            <a:pPr algn="ctr" indent="0" marL="0">
              <a:buNone/>
            </a:pPr>
            <a:r>
              <a:rPr lang="en-US" sz="750" b="1" dirty="0">
                <a:solidFill>
                  <a:srgbClr val="6550B6"/>
                </a:solidFill>
                <a:latin typeface="Malgun Gothic" pitchFamily="34" charset="0"/>
                <a:ea typeface="Malgun Gothic" pitchFamily="34" charset="-122"/>
                <a:cs typeface="Malgun Gothic" pitchFamily="34" charset="-120"/>
              </a:rPr>
              <a:t>초기 구상</a:t>
            </a:r>
            <a:endParaRPr lang="en-US" sz="750" dirty="0"/>
          </a:p>
        </p:txBody>
      </p:sp>
      <p:sp>
        <p:nvSpPr>
          <p:cNvPr id="8" name="Text 6"/>
          <p:cNvSpPr/>
          <p:nvPr/>
        </p:nvSpPr>
        <p:spPr>
          <a:xfrm>
            <a:off x="960120" y="2761488"/>
            <a:ext cx="4023360" cy="411480"/>
          </a:xfrm>
          <a:prstGeom prst="rect">
            <a:avLst/>
          </a:prstGeom>
          <a:noFill/>
          <a:ln/>
        </p:spPr>
        <p:txBody>
          <a:bodyPr wrap="square" lIns="0" tIns="0" rIns="0" bIns="0" rtlCol="0" anchor="ctr"/>
          <a:lstStyle/>
          <a:p>
            <a:pPr indent="0" marL="0">
              <a:buNone/>
            </a:pPr>
            <a:r>
              <a:rPr lang="en-US" sz="1900" b="1" dirty="0">
                <a:solidFill>
                  <a:srgbClr val="14272E"/>
                </a:solidFill>
                <a:latin typeface="Malgun Gothic" pitchFamily="34" charset="0"/>
                <a:ea typeface="Malgun Gothic" pitchFamily="34" charset="-122"/>
                <a:cs typeface="Malgun Gothic" pitchFamily="34" charset="-120"/>
              </a:rPr>
              <a:t>영상 속 상품을 직접 터치</a:t>
            </a:r>
            <a:endParaRPr lang="en-US" sz="1900" dirty="0"/>
          </a:p>
        </p:txBody>
      </p:sp>
      <p:sp>
        <p:nvSpPr>
          <p:cNvPr id="9" name="Text 7"/>
          <p:cNvSpPr/>
          <p:nvPr/>
        </p:nvSpPr>
        <p:spPr>
          <a:xfrm>
            <a:off x="987552" y="3429000"/>
            <a:ext cx="3886200" cy="1325880"/>
          </a:xfrm>
          <a:prstGeom prst="rect">
            <a:avLst/>
          </a:prstGeom>
          <a:noFill/>
          <a:ln/>
        </p:spPr>
        <p:txBody>
          <a:bodyPr wrap="square" lIns="0" tIns="0" rIns="0" bIns="0" rtlCol="0" anchor="ctr">
            <a:normAutofit/>
          </a:bodyPr>
          <a:lstStyle/>
          <a:p>
            <a:pPr indent="0" marL="0">
              <a:buNone/>
            </a:pPr>
            <a:r>
              <a:rPr lang="en-US" sz="1100" dirty="0">
                <a:solidFill>
                  <a:srgbClr val="708087"/>
                </a:solidFill>
                <a:latin typeface="Malgun Gothic" pitchFamily="34" charset="0"/>
                <a:ea typeface="Malgun Gothic" pitchFamily="34" charset="-122"/>
                <a:cs typeface="Malgun Gothic" pitchFamily="34" charset="-120"/>
              </a:rPr>
              <a:t>• 영상 서비스가 SDK를 설치해야 함</a:t>
            </a:r>
            <a:endParaRPr lang="en-US" sz="1100" dirty="0"/>
          </a:p>
          <a:p>
            <a:pPr indent="0" marL="0">
              <a:buNone/>
            </a:pPr>
            <a:r>
              <a:rPr lang="en-US" sz="1100" dirty="0">
                <a:solidFill>
                  <a:srgbClr val="708087"/>
                </a:solidFill>
                <a:latin typeface="Malgun Gothic" pitchFamily="34" charset="0"/>
                <a:ea typeface="Malgun Gothic" pitchFamily="34" charset="-122"/>
                <a:cs typeface="Malgun Gothic" pitchFamily="34" charset="-120"/>
              </a:rPr>
              <a:t>• 상품 위치와 정보를 미리 등록</a:t>
            </a:r>
            <a:endParaRPr lang="en-US" sz="1100" dirty="0"/>
          </a:p>
          <a:p>
            <a:pPr indent="0" marL="0">
              <a:buNone/>
            </a:pPr>
            <a:r>
              <a:rPr lang="en-US" sz="1100" dirty="0">
                <a:solidFill>
                  <a:srgbClr val="708087"/>
                </a:solidFill>
                <a:latin typeface="Malgun Gothic" pitchFamily="34" charset="0"/>
                <a:ea typeface="Malgun Gothic" pitchFamily="34" charset="-122"/>
                <a:cs typeface="Malgun Gothic" pitchFamily="34" charset="-120"/>
              </a:rPr>
              <a:t>• YouTube·Instagram에 바로 적용하기 어려움</a:t>
            </a:r>
            <a:endParaRPr lang="en-US" sz="1100" dirty="0"/>
          </a:p>
        </p:txBody>
      </p:sp>
      <p:sp>
        <p:nvSpPr>
          <p:cNvPr id="10" name="Shape 8"/>
          <p:cNvSpPr/>
          <p:nvPr/>
        </p:nvSpPr>
        <p:spPr>
          <a:xfrm>
            <a:off x="5650992" y="3136392"/>
            <a:ext cx="868680" cy="960120"/>
          </a:xfrm>
          <a:prstGeom prst="chevron">
            <a:avLst/>
          </a:prstGeom>
          <a:solidFill>
            <a:srgbClr val="38C9DF"/>
          </a:solidFill>
          <a:ln w="12700">
            <a:solidFill>
              <a:srgbClr val="38C9DF"/>
            </a:solidFill>
            <a:prstDash val="solid"/>
          </a:ln>
        </p:spPr>
      </p:sp>
      <p:sp>
        <p:nvSpPr>
          <p:cNvPr id="11" name="Shape 9"/>
          <p:cNvSpPr/>
          <p:nvPr/>
        </p:nvSpPr>
        <p:spPr>
          <a:xfrm>
            <a:off x="6720840" y="1920240"/>
            <a:ext cx="4846320" cy="3429000"/>
          </a:xfrm>
          <a:prstGeom prst="roundRect">
            <a:avLst>
              <a:gd name="adj" fmla="val 3200"/>
            </a:avLst>
          </a:prstGeom>
          <a:solidFill>
            <a:srgbClr val="14272E"/>
          </a:solidFill>
          <a:ln w="12700">
            <a:solidFill>
              <a:srgbClr val="14272E"/>
            </a:solidFill>
            <a:prstDash val="solid"/>
          </a:ln>
        </p:spPr>
      </p:sp>
      <p:sp>
        <p:nvSpPr>
          <p:cNvPr id="12" name="Shape 10"/>
          <p:cNvSpPr/>
          <p:nvPr/>
        </p:nvSpPr>
        <p:spPr>
          <a:xfrm>
            <a:off x="7040880" y="2258568"/>
            <a:ext cx="1143000" cy="329184"/>
          </a:xfrm>
          <a:prstGeom prst="roundRect">
            <a:avLst>
              <a:gd name="adj" fmla="val 22222"/>
            </a:avLst>
          </a:prstGeom>
          <a:solidFill>
            <a:srgbClr val="DFF8FC"/>
          </a:solidFill>
          <a:ln w="12700">
            <a:solidFill>
              <a:srgbClr val="DFF8FC"/>
            </a:solidFill>
            <a:prstDash val="solid"/>
          </a:ln>
        </p:spPr>
      </p:sp>
      <p:sp>
        <p:nvSpPr>
          <p:cNvPr id="13" name="Text 11"/>
          <p:cNvSpPr/>
          <p:nvPr/>
        </p:nvSpPr>
        <p:spPr>
          <a:xfrm>
            <a:off x="7095744" y="2327148"/>
            <a:ext cx="1033272" cy="146304"/>
          </a:xfrm>
          <a:prstGeom prst="rect">
            <a:avLst/>
          </a:prstGeom>
          <a:noFill/>
          <a:ln/>
        </p:spPr>
        <p:txBody>
          <a:bodyPr wrap="square" lIns="0" tIns="0" rIns="0" bIns="0" rtlCol="0" anchor="ctr">
            <a:normAutofit/>
          </a:bodyPr>
          <a:lstStyle/>
          <a:p>
            <a:pPr algn="ctr" indent="0" marL="0">
              <a:buNone/>
            </a:pPr>
            <a:r>
              <a:rPr lang="en-US" sz="750" b="1" dirty="0">
                <a:solidFill>
                  <a:srgbClr val="168CA3"/>
                </a:solidFill>
                <a:latin typeface="Malgun Gothic" pitchFamily="34" charset="0"/>
                <a:ea typeface="Malgun Gothic" pitchFamily="34" charset="-122"/>
                <a:cs typeface="Malgun Gothic" pitchFamily="34" charset="-120"/>
              </a:rPr>
              <a:t>현재 구현</a:t>
            </a:r>
            <a:endParaRPr lang="en-US" sz="750" dirty="0"/>
          </a:p>
        </p:txBody>
      </p:sp>
      <p:sp>
        <p:nvSpPr>
          <p:cNvPr id="14" name="Text 12"/>
          <p:cNvSpPr/>
          <p:nvPr/>
        </p:nvSpPr>
        <p:spPr>
          <a:xfrm>
            <a:off x="7040880" y="2761488"/>
            <a:ext cx="4023360" cy="411480"/>
          </a:xfrm>
          <a:prstGeom prst="rect">
            <a:avLst/>
          </a:prstGeom>
          <a:noFill/>
          <a:ln/>
        </p:spPr>
        <p:txBody>
          <a:bodyPr wrap="square" lIns="0" tIns="0" rIns="0" bIns="0" rtlCol="0" anchor="ctr"/>
          <a:lstStyle/>
          <a:p>
            <a:pPr indent="0" marL="0">
              <a:buNone/>
            </a:pPr>
            <a:r>
              <a:rPr lang="en-US" sz="1900" b="1" dirty="0">
                <a:solidFill>
                  <a:srgbClr val="FFFFFF"/>
                </a:solidFill>
                <a:latin typeface="Malgun Gothic" pitchFamily="34" charset="0"/>
                <a:ea typeface="Malgun Gothic" pitchFamily="34" charset="-122"/>
                <a:cs typeface="Malgun Gothic" pitchFamily="34" charset="-120"/>
              </a:rPr>
              <a:t>원하는 순간 현재 화면 스캔</a:t>
            </a:r>
            <a:endParaRPr lang="en-US" sz="1900" dirty="0"/>
          </a:p>
        </p:txBody>
      </p:sp>
      <p:sp>
        <p:nvSpPr>
          <p:cNvPr id="15" name="Text 13"/>
          <p:cNvSpPr/>
          <p:nvPr/>
        </p:nvSpPr>
        <p:spPr>
          <a:xfrm>
            <a:off x="7068312" y="3429000"/>
            <a:ext cx="3886200" cy="1325880"/>
          </a:xfrm>
          <a:prstGeom prst="rect">
            <a:avLst/>
          </a:prstGeom>
          <a:noFill/>
          <a:ln/>
        </p:spPr>
        <p:txBody>
          <a:bodyPr wrap="square" lIns="0" tIns="0" rIns="0" bIns="0" rtlCol="0" anchor="ctr">
            <a:normAutofit/>
          </a:bodyPr>
          <a:lstStyle/>
          <a:p>
            <a:pPr indent="0" marL="0">
              <a:buNone/>
            </a:pPr>
            <a:r>
              <a:rPr lang="en-US" sz="1100" dirty="0">
                <a:solidFill>
                  <a:srgbClr val="D4E0E3"/>
                </a:solidFill>
                <a:latin typeface="Malgun Gothic" pitchFamily="34" charset="0"/>
                <a:ea typeface="Malgun Gothic" pitchFamily="34" charset="-122"/>
                <a:cs typeface="Malgun Gothic" pitchFamily="34" charset="-120"/>
              </a:rPr>
              <a:t>• Android 플로팅 버튼으로 실행</a:t>
            </a:r>
            <a:endParaRPr lang="en-US" sz="1100" dirty="0"/>
          </a:p>
          <a:p>
            <a:pPr indent="0" marL="0">
              <a:buNone/>
            </a:pPr>
            <a:r>
              <a:rPr lang="en-US" sz="1100" dirty="0">
                <a:solidFill>
                  <a:srgbClr val="D4E0E3"/>
                </a:solidFill>
                <a:latin typeface="Malgun Gothic" pitchFamily="34" charset="0"/>
                <a:ea typeface="Malgun Gothic" pitchFamily="34" charset="-122"/>
                <a:cs typeface="Malgun Gothic" pitchFamily="34" charset="-120"/>
              </a:rPr>
              <a:t>• 영상 제작자의 사전 등록 불필요</a:t>
            </a:r>
            <a:endParaRPr lang="en-US" sz="1100" dirty="0"/>
          </a:p>
          <a:p>
            <a:pPr indent="0" marL="0">
              <a:buNone/>
            </a:pPr>
            <a:r>
              <a:rPr lang="en-US" sz="1100" dirty="0">
                <a:solidFill>
                  <a:srgbClr val="D4E0E3"/>
                </a:solidFill>
                <a:latin typeface="Malgun Gothic" pitchFamily="34" charset="0"/>
                <a:ea typeface="Malgun Gothic" pitchFamily="34" charset="-122"/>
                <a:cs typeface="Malgun Gothic" pitchFamily="34" charset="-120"/>
              </a:rPr>
              <a:t>• 사용자가 상품 위치를 직접 보정 가능</a:t>
            </a:r>
            <a:endParaRPr lang="en-US" sz="1100" dirty="0"/>
          </a:p>
        </p:txBody>
      </p:sp>
      <p:sp>
        <p:nvSpPr>
          <p:cNvPr id="16" name="Text 14"/>
          <p:cNvSpPr/>
          <p:nvPr/>
        </p:nvSpPr>
        <p:spPr>
          <a:xfrm>
            <a:off x="411480" y="6528816"/>
            <a:ext cx="1463040" cy="182880"/>
          </a:xfrm>
          <a:prstGeom prst="rect">
            <a:avLst/>
          </a:prstGeom>
          <a:noFill/>
          <a:ln/>
        </p:spPr>
        <p:txBody>
          <a:bodyPr wrap="square" lIns="0" tIns="0" rIns="0" bIns="0" rtlCol="0" anchor="ctr"/>
          <a:lstStyle/>
          <a:p>
            <a:pPr indent="0" marL="0">
              <a:buNone/>
            </a:pPr>
            <a:r>
              <a:rPr lang="en-US" sz="750" b="1" dirty="0">
                <a:solidFill>
                  <a:srgbClr val="A4B0B4"/>
                </a:solidFill>
                <a:latin typeface="Malgun Gothic" pitchFamily="34" charset="0"/>
                <a:ea typeface="Malgun Gothic" pitchFamily="34" charset="-122"/>
                <a:cs typeface="Malgun Gothic" pitchFamily="34" charset="-120"/>
              </a:rPr>
              <a:t>CleanTouch</a:t>
            </a:r>
            <a:endParaRPr lang="en-US" sz="750" dirty="0"/>
          </a:p>
        </p:txBody>
      </p:sp>
      <p:sp>
        <p:nvSpPr>
          <p:cNvPr id="17" name="Text 15"/>
          <p:cNvSpPr/>
          <p:nvPr/>
        </p:nvSpPr>
        <p:spPr>
          <a:xfrm>
            <a:off x="11292840" y="6510528"/>
            <a:ext cx="457200" cy="182880"/>
          </a:xfrm>
          <a:prstGeom prst="rect">
            <a:avLst/>
          </a:prstGeom>
          <a:noFill/>
          <a:ln/>
        </p:spPr>
        <p:txBody>
          <a:bodyPr wrap="square" lIns="0" tIns="0" rIns="0" bIns="0" rtlCol="0" anchor="ctr"/>
          <a:lstStyle/>
          <a:p>
            <a:pPr algn="r" indent="0" marL="0">
              <a:buNone/>
            </a:pPr>
            <a:r>
              <a:rPr lang="en-US" sz="750" dirty="0">
                <a:solidFill>
                  <a:srgbClr val="A4B0B4"/>
                </a:solidFill>
                <a:latin typeface="Malgun Gothic" pitchFamily="34" charset="0"/>
                <a:ea typeface="Malgun Gothic" pitchFamily="34" charset="-122"/>
                <a:cs typeface="Malgun Gothic" pitchFamily="34" charset="-120"/>
              </a:rPr>
              <a:t>03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7F8"/>
        </a:solidFill>
      </p:bgPr>
    </p:bg>
    <p:spTree>
      <p:nvGrpSpPr>
        <p:cNvPr id="1" name=""/>
        <p:cNvGrpSpPr/>
        <p:nvPr/>
      </p:nvGrpSpPr>
      <p:grpSpPr>
        <a:xfrm>
          <a:off x="0" y="0"/>
          <a:ext cx="0" cy="0"/>
          <a:chOff x="0" y="0"/>
          <a:chExt cx="0" cy="0"/>
        </a:xfrm>
      </p:grpSpPr>
      <p:sp>
        <p:nvSpPr>
          <p:cNvPr id="2" name="Text 0"/>
          <p:cNvSpPr/>
          <p:nvPr/>
        </p:nvSpPr>
        <p:spPr>
          <a:xfrm>
            <a:off x="548640" y="347472"/>
            <a:ext cx="4114800" cy="228600"/>
          </a:xfrm>
          <a:prstGeom prst="rect">
            <a:avLst/>
          </a:prstGeom>
          <a:noFill/>
          <a:ln/>
        </p:spPr>
        <p:txBody>
          <a:bodyPr wrap="square" lIns="0" tIns="0" rIns="0" bIns="0" rtlCol="0" anchor="ctr"/>
          <a:lstStyle/>
          <a:p>
            <a:pPr indent="0" marL="0">
              <a:buNone/>
            </a:pPr>
            <a:r>
              <a:rPr lang="en-US" sz="850" b="1" spc="140" kern="0" dirty="0">
                <a:solidFill>
                  <a:srgbClr val="168CA3"/>
                </a:solidFill>
                <a:latin typeface="Malgun Gothic" pitchFamily="34" charset="0"/>
                <a:ea typeface="Malgun Gothic" pitchFamily="34" charset="-122"/>
                <a:cs typeface="Malgun Gothic" pitchFamily="34" charset="-120"/>
              </a:rPr>
              <a:t>03 · EXPERIENCE</a:t>
            </a:r>
            <a:endParaRPr lang="en-US" sz="850" dirty="0"/>
          </a:p>
        </p:txBody>
      </p:sp>
      <p:sp>
        <p:nvSpPr>
          <p:cNvPr id="3" name="Text 1"/>
          <p:cNvSpPr/>
          <p:nvPr/>
        </p:nvSpPr>
        <p:spPr>
          <a:xfrm>
            <a:off x="548640" y="685800"/>
            <a:ext cx="11064240" cy="566928"/>
          </a:xfrm>
          <a:prstGeom prst="rect">
            <a:avLst/>
          </a:prstGeom>
          <a:noFill/>
          <a:ln/>
        </p:spPr>
        <p:txBody>
          <a:bodyPr wrap="square" lIns="0" tIns="0" rIns="0" bIns="0" rtlCol="0" anchor="ctr">
            <a:normAutofit/>
          </a:bodyPr>
          <a:lstStyle/>
          <a:p>
            <a:pPr indent="0" marL="0">
              <a:buNone/>
            </a:pPr>
            <a:r>
              <a:rPr lang="en-US" sz="2500" b="1" dirty="0">
                <a:solidFill>
                  <a:srgbClr val="14272E"/>
                </a:solidFill>
                <a:latin typeface="Malgun Gothic" pitchFamily="34" charset="0"/>
                <a:ea typeface="Malgun Gothic" pitchFamily="34" charset="-122"/>
                <a:cs typeface="Malgun Gothic" pitchFamily="34" charset="-120"/>
              </a:rPr>
              <a:t>여섯 단계로 끝나는 상품 검색</a:t>
            </a:r>
            <a:endParaRPr lang="en-US" sz="2500" dirty="0"/>
          </a:p>
        </p:txBody>
      </p:sp>
      <p:sp>
        <p:nvSpPr>
          <p:cNvPr id="4" name="Text 2"/>
          <p:cNvSpPr/>
          <p:nvPr/>
        </p:nvSpPr>
        <p:spPr>
          <a:xfrm>
            <a:off x="566928" y="1353312"/>
            <a:ext cx="10698480" cy="384048"/>
          </a:xfrm>
          <a:prstGeom prst="rect">
            <a:avLst/>
          </a:prstGeom>
          <a:noFill/>
          <a:ln/>
        </p:spPr>
        <p:txBody>
          <a:bodyPr wrap="square" lIns="0" tIns="0" rIns="0" bIns="0" rtlCol="0" anchor="ctr">
            <a:normAutofit/>
          </a:bodyPr>
          <a:lstStyle/>
          <a:p>
            <a:pPr indent="0" marL="0">
              <a:buNone/>
            </a:pPr>
            <a:r>
              <a:rPr lang="en-US" sz="1050" dirty="0">
                <a:solidFill>
                  <a:srgbClr val="708087"/>
                </a:solidFill>
                <a:latin typeface="Malgun Gothic" pitchFamily="34" charset="0"/>
                <a:ea typeface="Malgun Gothic" pitchFamily="34" charset="-122"/>
                <a:cs typeface="Malgun Gothic" pitchFamily="34" charset="-120"/>
              </a:rPr>
              <a:t>영상 시청 흐름을 가능한 한 끊지 않는 것이 핵심입니다.</a:t>
            </a:r>
            <a:endParaRPr lang="en-US" sz="1050" dirty="0"/>
          </a:p>
        </p:txBody>
      </p:sp>
      <p:sp>
        <p:nvSpPr>
          <p:cNvPr id="5" name="Shape 3"/>
          <p:cNvSpPr/>
          <p:nvPr/>
        </p:nvSpPr>
        <p:spPr>
          <a:xfrm>
            <a:off x="1051560" y="2971800"/>
            <a:ext cx="10012680" cy="0"/>
          </a:xfrm>
          <a:prstGeom prst="line">
            <a:avLst/>
          </a:prstGeom>
          <a:noFill/>
          <a:ln w="25400">
            <a:solidFill>
              <a:srgbClr val="D8E2E5"/>
            </a:solidFill>
            <a:prstDash val="solid"/>
          </a:ln>
        </p:spPr>
      </p:sp>
      <p:sp>
        <p:nvSpPr>
          <p:cNvPr id="6" name="Shape 4"/>
          <p:cNvSpPr/>
          <p:nvPr/>
        </p:nvSpPr>
        <p:spPr>
          <a:xfrm>
            <a:off x="996696" y="2478024"/>
            <a:ext cx="960120" cy="960120"/>
          </a:xfrm>
          <a:prstGeom prst="ellipse">
            <a:avLst/>
          </a:prstGeom>
          <a:solidFill>
            <a:srgbClr val="14272E"/>
          </a:solidFill>
          <a:ln w="25400">
            <a:solidFill>
              <a:srgbClr val="FFFFFF"/>
            </a:solidFill>
            <a:prstDash val="solid"/>
          </a:ln>
        </p:spPr>
      </p:sp>
      <p:sp>
        <p:nvSpPr>
          <p:cNvPr id="7" name="Text 5"/>
          <p:cNvSpPr/>
          <p:nvPr/>
        </p:nvSpPr>
        <p:spPr>
          <a:xfrm>
            <a:off x="1106424" y="2761488"/>
            <a:ext cx="73152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01</a:t>
            </a:r>
            <a:endParaRPr lang="en-US" sz="1000" dirty="0"/>
          </a:p>
        </p:txBody>
      </p:sp>
      <p:sp>
        <p:nvSpPr>
          <p:cNvPr id="8" name="Text 6"/>
          <p:cNvSpPr/>
          <p:nvPr/>
        </p:nvSpPr>
        <p:spPr>
          <a:xfrm>
            <a:off x="502920" y="3703320"/>
            <a:ext cx="1947672" cy="320040"/>
          </a:xfrm>
          <a:prstGeom prst="rect">
            <a:avLst/>
          </a:prstGeom>
          <a:noFill/>
          <a:ln/>
        </p:spPr>
        <p:txBody>
          <a:bodyPr wrap="square" lIns="0" tIns="0" rIns="0" bIns="0" rtlCol="0" anchor="ctr">
            <a:normAutofit/>
          </a:bodyPr>
          <a:lstStyle/>
          <a:p>
            <a:pPr algn="ctr" indent="0" marL="0">
              <a:buNone/>
            </a:pPr>
            <a:r>
              <a:rPr lang="en-US" sz="1200" b="1" dirty="0">
                <a:solidFill>
                  <a:srgbClr val="14272E"/>
                </a:solidFill>
                <a:latin typeface="Malgun Gothic" pitchFamily="34" charset="0"/>
                <a:ea typeface="Malgun Gothic" pitchFamily="34" charset="-122"/>
                <a:cs typeface="Malgun Gothic" pitchFamily="34" charset="-120"/>
              </a:rPr>
              <a:t>스캔 모드</a:t>
            </a:r>
            <a:endParaRPr lang="en-US" sz="1200" dirty="0"/>
          </a:p>
        </p:txBody>
      </p:sp>
      <p:sp>
        <p:nvSpPr>
          <p:cNvPr id="9" name="Text 7"/>
          <p:cNvSpPr/>
          <p:nvPr/>
        </p:nvSpPr>
        <p:spPr>
          <a:xfrm>
            <a:off x="502920" y="4187952"/>
            <a:ext cx="1947672" cy="475488"/>
          </a:xfrm>
          <a:prstGeom prst="rect">
            <a:avLst/>
          </a:prstGeom>
          <a:noFill/>
          <a:ln/>
        </p:spPr>
        <p:txBody>
          <a:bodyPr wrap="square" lIns="0" tIns="0" rIns="0" bIns="0" rtlCol="0" anchor="ctr">
            <a:normAutofit/>
          </a:bodyPr>
          <a:lstStyle/>
          <a:p>
            <a:pPr algn="ctr" indent="0" marL="0">
              <a:buNone/>
            </a:pPr>
            <a:r>
              <a:rPr lang="en-US" sz="880" dirty="0">
                <a:solidFill>
                  <a:srgbClr val="708087"/>
                </a:solidFill>
                <a:latin typeface="Malgun Gothic" pitchFamily="34" charset="0"/>
                <a:ea typeface="Malgun Gothic" pitchFamily="34" charset="-122"/>
                <a:cs typeface="Malgun Gothic" pitchFamily="34" charset="-120"/>
              </a:rPr>
              <a:t>CleanTouch에서 시작</a:t>
            </a:r>
            <a:endParaRPr lang="en-US" sz="880" dirty="0"/>
          </a:p>
        </p:txBody>
      </p:sp>
      <p:sp>
        <p:nvSpPr>
          <p:cNvPr id="10" name="Shape 8"/>
          <p:cNvSpPr/>
          <p:nvPr/>
        </p:nvSpPr>
        <p:spPr>
          <a:xfrm>
            <a:off x="2898648" y="2478024"/>
            <a:ext cx="960120" cy="960120"/>
          </a:xfrm>
          <a:prstGeom prst="ellipse">
            <a:avLst/>
          </a:prstGeom>
          <a:solidFill>
            <a:srgbClr val="14272E"/>
          </a:solidFill>
          <a:ln w="25400">
            <a:solidFill>
              <a:srgbClr val="FFFFFF"/>
            </a:solidFill>
            <a:prstDash val="solid"/>
          </a:ln>
        </p:spPr>
      </p:sp>
      <p:sp>
        <p:nvSpPr>
          <p:cNvPr id="11" name="Text 9"/>
          <p:cNvSpPr/>
          <p:nvPr/>
        </p:nvSpPr>
        <p:spPr>
          <a:xfrm>
            <a:off x="3008376" y="2761488"/>
            <a:ext cx="73152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02</a:t>
            </a:r>
            <a:endParaRPr lang="en-US" sz="1000" dirty="0"/>
          </a:p>
        </p:txBody>
      </p:sp>
      <p:sp>
        <p:nvSpPr>
          <p:cNvPr id="12" name="Text 10"/>
          <p:cNvSpPr/>
          <p:nvPr/>
        </p:nvSpPr>
        <p:spPr>
          <a:xfrm>
            <a:off x="2404872" y="3703320"/>
            <a:ext cx="1947672" cy="320040"/>
          </a:xfrm>
          <a:prstGeom prst="rect">
            <a:avLst/>
          </a:prstGeom>
          <a:noFill/>
          <a:ln/>
        </p:spPr>
        <p:txBody>
          <a:bodyPr wrap="square" lIns="0" tIns="0" rIns="0" bIns="0" rtlCol="0" anchor="ctr">
            <a:normAutofit/>
          </a:bodyPr>
          <a:lstStyle/>
          <a:p>
            <a:pPr algn="ctr" indent="0" marL="0">
              <a:buNone/>
            </a:pPr>
            <a:r>
              <a:rPr lang="en-US" sz="1200" b="1" dirty="0">
                <a:solidFill>
                  <a:srgbClr val="14272E"/>
                </a:solidFill>
                <a:latin typeface="Malgun Gothic" pitchFamily="34" charset="0"/>
                <a:ea typeface="Malgun Gothic" pitchFamily="34" charset="-122"/>
                <a:cs typeface="Malgun Gothic" pitchFamily="34" charset="-120"/>
              </a:rPr>
              <a:t>전체 화면 공유</a:t>
            </a:r>
            <a:endParaRPr lang="en-US" sz="1200" dirty="0"/>
          </a:p>
        </p:txBody>
      </p:sp>
      <p:sp>
        <p:nvSpPr>
          <p:cNvPr id="13" name="Text 11"/>
          <p:cNvSpPr/>
          <p:nvPr/>
        </p:nvSpPr>
        <p:spPr>
          <a:xfrm>
            <a:off x="2404872" y="4187952"/>
            <a:ext cx="1947672" cy="475488"/>
          </a:xfrm>
          <a:prstGeom prst="rect">
            <a:avLst/>
          </a:prstGeom>
          <a:noFill/>
          <a:ln/>
        </p:spPr>
        <p:txBody>
          <a:bodyPr wrap="square" lIns="0" tIns="0" rIns="0" bIns="0" rtlCol="0" anchor="ctr">
            <a:normAutofit/>
          </a:bodyPr>
          <a:lstStyle/>
          <a:p>
            <a:pPr algn="ctr" indent="0" marL="0">
              <a:buNone/>
            </a:pPr>
            <a:r>
              <a:rPr lang="en-US" sz="880" dirty="0">
                <a:solidFill>
                  <a:srgbClr val="708087"/>
                </a:solidFill>
                <a:latin typeface="Malgun Gothic" pitchFamily="34" charset="0"/>
                <a:ea typeface="Malgun Gothic" pitchFamily="34" charset="-122"/>
                <a:cs typeface="Malgun Gothic" pitchFamily="34" charset="-120"/>
              </a:rPr>
              <a:t>Android에서 직접 승인</a:t>
            </a:r>
            <a:endParaRPr lang="en-US" sz="880" dirty="0"/>
          </a:p>
        </p:txBody>
      </p:sp>
      <p:sp>
        <p:nvSpPr>
          <p:cNvPr id="14" name="Shape 12"/>
          <p:cNvSpPr/>
          <p:nvPr/>
        </p:nvSpPr>
        <p:spPr>
          <a:xfrm>
            <a:off x="4800600" y="2478024"/>
            <a:ext cx="960120" cy="960120"/>
          </a:xfrm>
          <a:prstGeom prst="ellipse">
            <a:avLst/>
          </a:prstGeom>
          <a:solidFill>
            <a:srgbClr val="14272E"/>
          </a:solidFill>
          <a:ln w="25400">
            <a:solidFill>
              <a:srgbClr val="FFFFFF"/>
            </a:solidFill>
            <a:prstDash val="solid"/>
          </a:ln>
        </p:spPr>
      </p:sp>
      <p:sp>
        <p:nvSpPr>
          <p:cNvPr id="15" name="Text 13"/>
          <p:cNvSpPr/>
          <p:nvPr/>
        </p:nvSpPr>
        <p:spPr>
          <a:xfrm>
            <a:off x="4910328" y="2761488"/>
            <a:ext cx="73152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03</a:t>
            </a:r>
            <a:endParaRPr lang="en-US" sz="1000" dirty="0"/>
          </a:p>
        </p:txBody>
      </p:sp>
      <p:sp>
        <p:nvSpPr>
          <p:cNvPr id="16" name="Text 14"/>
          <p:cNvSpPr/>
          <p:nvPr/>
        </p:nvSpPr>
        <p:spPr>
          <a:xfrm>
            <a:off x="4306824" y="3703320"/>
            <a:ext cx="1947672" cy="320040"/>
          </a:xfrm>
          <a:prstGeom prst="rect">
            <a:avLst/>
          </a:prstGeom>
          <a:noFill/>
          <a:ln/>
        </p:spPr>
        <p:txBody>
          <a:bodyPr wrap="square" lIns="0" tIns="0" rIns="0" bIns="0" rtlCol="0" anchor="ctr">
            <a:normAutofit/>
          </a:bodyPr>
          <a:lstStyle/>
          <a:p>
            <a:pPr algn="ctr" indent="0" marL="0">
              <a:buNone/>
            </a:pPr>
            <a:r>
              <a:rPr lang="en-US" sz="1200" b="1" dirty="0">
                <a:solidFill>
                  <a:srgbClr val="14272E"/>
                </a:solidFill>
                <a:latin typeface="Malgun Gothic" pitchFamily="34" charset="0"/>
                <a:ea typeface="Malgun Gothic" pitchFamily="34" charset="-122"/>
                <a:cs typeface="Malgun Gothic" pitchFamily="34" charset="-120"/>
              </a:rPr>
              <a:t>영상 시청</a:t>
            </a:r>
            <a:endParaRPr lang="en-US" sz="1200" dirty="0"/>
          </a:p>
        </p:txBody>
      </p:sp>
      <p:sp>
        <p:nvSpPr>
          <p:cNvPr id="17" name="Text 15"/>
          <p:cNvSpPr/>
          <p:nvPr/>
        </p:nvSpPr>
        <p:spPr>
          <a:xfrm>
            <a:off x="4306824" y="4187952"/>
            <a:ext cx="1947672" cy="475488"/>
          </a:xfrm>
          <a:prstGeom prst="rect">
            <a:avLst/>
          </a:prstGeom>
          <a:noFill/>
          <a:ln/>
        </p:spPr>
        <p:txBody>
          <a:bodyPr wrap="square" lIns="0" tIns="0" rIns="0" bIns="0" rtlCol="0" anchor="ctr">
            <a:normAutofit/>
          </a:bodyPr>
          <a:lstStyle/>
          <a:p>
            <a:pPr algn="ctr" indent="0" marL="0">
              <a:buNone/>
            </a:pPr>
            <a:r>
              <a:rPr lang="en-US" sz="880" dirty="0">
                <a:solidFill>
                  <a:srgbClr val="708087"/>
                </a:solidFill>
                <a:latin typeface="Malgun Gothic" pitchFamily="34" charset="0"/>
                <a:ea typeface="Malgun Gothic" pitchFamily="34" charset="-122"/>
                <a:cs typeface="Malgun Gothic" pitchFamily="34" charset="-120"/>
              </a:rPr>
              <a:t>YouTube·Instagram 이동</a:t>
            </a:r>
            <a:endParaRPr lang="en-US" sz="880" dirty="0"/>
          </a:p>
        </p:txBody>
      </p:sp>
      <p:sp>
        <p:nvSpPr>
          <p:cNvPr id="18" name="Shape 16"/>
          <p:cNvSpPr/>
          <p:nvPr/>
        </p:nvSpPr>
        <p:spPr>
          <a:xfrm>
            <a:off x="6702552" y="2478024"/>
            <a:ext cx="960120" cy="960120"/>
          </a:xfrm>
          <a:prstGeom prst="ellipse">
            <a:avLst/>
          </a:prstGeom>
          <a:solidFill>
            <a:srgbClr val="38C9DF"/>
          </a:solidFill>
          <a:ln w="25400">
            <a:solidFill>
              <a:srgbClr val="FFFFFF"/>
            </a:solidFill>
            <a:prstDash val="solid"/>
          </a:ln>
        </p:spPr>
      </p:sp>
      <p:sp>
        <p:nvSpPr>
          <p:cNvPr id="19" name="Text 17"/>
          <p:cNvSpPr/>
          <p:nvPr/>
        </p:nvSpPr>
        <p:spPr>
          <a:xfrm>
            <a:off x="6812280" y="2761488"/>
            <a:ext cx="73152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04</a:t>
            </a:r>
            <a:endParaRPr lang="en-US" sz="1000" dirty="0"/>
          </a:p>
        </p:txBody>
      </p:sp>
      <p:sp>
        <p:nvSpPr>
          <p:cNvPr id="20" name="Text 18"/>
          <p:cNvSpPr/>
          <p:nvPr/>
        </p:nvSpPr>
        <p:spPr>
          <a:xfrm>
            <a:off x="6208776" y="3703320"/>
            <a:ext cx="1947672" cy="320040"/>
          </a:xfrm>
          <a:prstGeom prst="rect">
            <a:avLst/>
          </a:prstGeom>
          <a:noFill/>
          <a:ln/>
        </p:spPr>
        <p:txBody>
          <a:bodyPr wrap="square" lIns="0" tIns="0" rIns="0" bIns="0" rtlCol="0" anchor="ctr">
            <a:normAutofit/>
          </a:bodyPr>
          <a:lstStyle/>
          <a:p>
            <a:pPr algn="ctr" indent="0" marL="0">
              <a:buNone/>
            </a:pPr>
            <a:r>
              <a:rPr lang="en-US" sz="1200" b="1" dirty="0">
                <a:solidFill>
                  <a:srgbClr val="14272E"/>
                </a:solidFill>
                <a:latin typeface="Malgun Gothic" pitchFamily="34" charset="0"/>
                <a:ea typeface="Malgun Gothic" pitchFamily="34" charset="-122"/>
                <a:cs typeface="Malgun Gothic" pitchFamily="34" charset="-120"/>
              </a:rPr>
              <a:t>버튼 선택</a:t>
            </a:r>
            <a:endParaRPr lang="en-US" sz="1200" dirty="0"/>
          </a:p>
        </p:txBody>
      </p:sp>
      <p:sp>
        <p:nvSpPr>
          <p:cNvPr id="21" name="Text 19"/>
          <p:cNvSpPr/>
          <p:nvPr/>
        </p:nvSpPr>
        <p:spPr>
          <a:xfrm>
            <a:off x="6208776" y="4187952"/>
            <a:ext cx="1947672" cy="475488"/>
          </a:xfrm>
          <a:prstGeom prst="rect">
            <a:avLst/>
          </a:prstGeom>
          <a:noFill/>
          <a:ln/>
        </p:spPr>
        <p:txBody>
          <a:bodyPr wrap="square" lIns="0" tIns="0" rIns="0" bIns="0" rtlCol="0" anchor="ctr">
            <a:normAutofit/>
          </a:bodyPr>
          <a:lstStyle/>
          <a:p>
            <a:pPr algn="ctr" indent="0" marL="0">
              <a:buNone/>
            </a:pPr>
            <a:r>
              <a:rPr lang="en-US" sz="880" dirty="0">
                <a:solidFill>
                  <a:srgbClr val="708087"/>
                </a:solidFill>
                <a:latin typeface="Malgun Gothic" pitchFamily="34" charset="0"/>
                <a:ea typeface="Malgun Gothic" pitchFamily="34" charset="-122"/>
                <a:cs typeface="Malgun Gothic" pitchFamily="34" charset="-120"/>
              </a:rPr>
              <a:t>궁금한 순간 한 번</a:t>
            </a:r>
            <a:endParaRPr lang="en-US" sz="880" dirty="0"/>
          </a:p>
        </p:txBody>
      </p:sp>
      <p:sp>
        <p:nvSpPr>
          <p:cNvPr id="22" name="Shape 20"/>
          <p:cNvSpPr/>
          <p:nvPr/>
        </p:nvSpPr>
        <p:spPr>
          <a:xfrm>
            <a:off x="8604504" y="2478024"/>
            <a:ext cx="960120" cy="960120"/>
          </a:xfrm>
          <a:prstGeom prst="ellipse">
            <a:avLst/>
          </a:prstGeom>
          <a:solidFill>
            <a:srgbClr val="14272E"/>
          </a:solidFill>
          <a:ln w="25400">
            <a:solidFill>
              <a:srgbClr val="FFFFFF"/>
            </a:solidFill>
            <a:prstDash val="solid"/>
          </a:ln>
        </p:spPr>
      </p:sp>
      <p:sp>
        <p:nvSpPr>
          <p:cNvPr id="23" name="Text 21"/>
          <p:cNvSpPr/>
          <p:nvPr/>
        </p:nvSpPr>
        <p:spPr>
          <a:xfrm>
            <a:off x="8714232" y="2761488"/>
            <a:ext cx="73152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05</a:t>
            </a:r>
            <a:endParaRPr lang="en-US" sz="1000" dirty="0"/>
          </a:p>
        </p:txBody>
      </p:sp>
      <p:sp>
        <p:nvSpPr>
          <p:cNvPr id="24" name="Text 22"/>
          <p:cNvSpPr/>
          <p:nvPr/>
        </p:nvSpPr>
        <p:spPr>
          <a:xfrm>
            <a:off x="8110728" y="3703320"/>
            <a:ext cx="1947672" cy="320040"/>
          </a:xfrm>
          <a:prstGeom prst="rect">
            <a:avLst/>
          </a:prstGeom>
          <a:noFill/>
          <a:ln/>
        </p:spPr>
        <p:txBody>
          <a:bodyPr wrap="square" lIns="0" tIns="0" rIns="0" bIns="0" rtlCol="0" anchor="ctr">
            <a:normAutofit/>
          </a:bodyPr>
          <a:lstStyle/>
          <a:p>
            <a:pPr algn="ctr" indent="0" marL="0">
              <a:buNone/>
            </a:pPr>
            <a:r>
              <a:rPr lang="en-US" sz="1200" b="1" dirty="0">
                <a:solidFill>
                  <a:srgbClr val="14272E"/>
                </a:solidFill>
                <a:latin typeface="Malgun Gothic" pitchFamily="34" charset="0"/>
                <a:ea typeface="Malgun Gothic" pitchFamily="34" charset="-122"/>
                <a:cs typeface="Malgun Gothic" pitchFamily="34" charset="-120"/>
              </a:rPr>
              <a:t>상품 분석</a:t>
            </a:r>
            <a:endParaRPr lang="en-US" sz="1200" dirty="0"/>
          </a:p>
        </p:txBody>
      </p:sp>
      <p:sp>
        <p:nvSpPr>
          <p:cNvPr id="25" name="Text 23"/>
          <p:cNvSpPr/>
          <p:nvPr/>
        </p:nvSpPr>
        <p:spPr>
          <a:xfrm>
            <a:off x="8110728" y="4187952"/>
            <a:ext cx="1947672" cy="475488"/>
          </a:xfrm>
          <a:prstGeom prst="rect">
            <a:avLst/>
          </a:prstGeom>
          <a:noFill/>
          <a:ln/>
        </p:spPr>
        <p:txBody>
          <a:bodyPr wrap="square" lIns="0" tIns="0" rIns="0" bIns="0" rtlCol="0" anchor="ctr">
            <a:normAutofit/>
          </a:bodyPr>
          <a:lstStyle/>
          <a:p>
            <a:pPr algn="ctr" indent="0" marL="0">
              <a:buNone/>
            </a:pPr>
            <a:r>
              <a:rPr lang="en-US" sz="880" dirty="0">
                <a:solidFill>
                  <a:srgbClr val="708087"/>
                </a:solidFill>
                <a:latin typeface="Malgun Gothic" pitchFamily="34" charset="0"/>
                <a:ea typeface="Malgun Gothic" pitchFamily="34" charset="-122"/>
                <a:cs typeface="Malgun Gothic" pitchFamily="34" charset="-120"/>
              </a:rPr>
              <a:t>확대 영역으로 AI 검색</a:t>
            </a:r>
            <a:endParaRPr lang="en-US" sz="880" dirty="0"/>
          </a:p>
        </p:txBody>
      </p:sp>
      <p:sp>
        <p:nvSpPr>
          <p:cNvPr id="26" name="Shape 24"/>
          <p:cNvSpPr/>
          <p:nvPr/>
        </p:nvSpPr>
        <p:spPr>
          <a:xfrm>
            <a:off x="10506456" y="2478024"/>
            <a:ext cx="960120" cy="960120"/>
          </a:xfrm>
          <a:prstGeom prst="ellipse">
            <a:avLst/>
          </a:prstGeom>
          <a:solidFill>
            <a:srgbClr val="14272E"/>
          </a:solidFill>
          <a:ln w="25400">
            <a:solidFill>
              <a:srgbClr val="FFFFFF"/>
            </a:solidFill>
            <a:prstDash val="solid"/>
          </a:ln>
        </p:spPr>
      </p:sp>
      <p:sp>
        <p:nvSpPr>
          <p:cNvPr id="27" name="Text 25"/>
          <p:cNvSpPr/>
          <p:nvPr/>
        </p:nvSpPr>
        <p:spPr>
          <a:xfrm>
            <a:off x="10616184" y="2761488"/>
            <a:ext cx="731520" cy="18288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06</a:t>
            </a:r>
            <a:endParaRPr lang="en-US" sz="1000" dirty="0"/>
          </a:p>
        </p:txBody>
      </p:sp>
      <p:sp>
        <p:nvSpPr>
          <p:cNvPr id="28" name="Text 26"/>
          <p:cNvSpPr/>
          <p:nvPr/>
        </p:nvSpPr>
        <p:spPr>
          <a:xfrm>
            <a:off x="10012680" y="3703320"/>
            <a:ext cx="1947672" cy="320040"/>
          </a:xfrm>
          <a:prstGeom prst="rect">
            <a:avLst/>
          </a:prstGeom>
          <a:noFill/>
          <a:ln/>
        </p:spPr>
        <p:txBody>
          <a:bodyPr wrap="square" lIns="0" tIns="0" rIns="0" bIns="0" rtlCol="0" anchor="ctr">
            <a:normAutofit/>
          </a:bodyPr>
          <a:lstStyle/>
          <a:p>
            <a:pPr algn="ctr" indent="0" marL="0">
              <a:buNone/>
            </a:pPr>
            <a:r>
              <a:rPr lang="en-US" sz="1200" b="1" dirty="0">
                <a:solidFill>
                  <a:srgbClr val="14272E"/>
                </a:solidFill>
                <a:latin typeface="Malgun Gothic" pitchFamily="34" charset="0"/>
                <a:ea typeface="Malgun Gothic" pitchFamily="34" charset="-122"/>
                <a:cs typeface="Malgun Gothic" pitchFamily="34" charset="-120"/>
              </a:rPr>
              <a:t>구매 연결</a:t>
            </a:r>
            <a:endParaRPr lang="en-US" sz="1200" dirty="0"/>
          </a:p>
        </p:txBody>
      </p:sp>
      <p:sp>
        <p:nvSpPr>
          <p:cNvPr id="29" name="Text 27"/>
          <p:cNvSpPr/>
          <p:nvPr/>
        </p:nvSpPr>
        <p:spPr>
          <a:xfrm>
            <a:off x="10012680" y="4187952"/>
            <a:ext cx="1947672" cy="475488"/>
          </a:xfrm>
          <a:prstGeom prst="rect">
            <a:avLst/>
          </a:prstGeom>
          <a:noFill/>
          <a:ln/>
        </p:spPr>
        <p:txBody>
          <a:bodyPr wrap="square" lIns="0" tIns="0" rIns="0" bIns="0" rtlCol="0" anchor="ctr">
            <a:normAutofit/>
          </a:bodyPr>
          <a:lstStyle/>
          <a:p>
            <a:pPr algn="ctr" indent="0" marL="0">
              <a:buNone/>
            </a:pPr>
            <a:r>
              <a:rPr lang="en-US" sz="880" dirty="0">
                <a:solidFill>
                  <a:srgbClr val="708087"/>
                </a:solidFill>
                <a:latin typeface="Malgun Gothic" pitchFamily="34" charset="0"/>
                <a:ea typeface="Malgun Gothic" pitchFamily="34" charset="-122"/>
                <a:cs typeface="Malgun Gothic" pitchFamily="34" charset="-120"/>
              </a:rPr>
              <a:t>쇼핑 검색 결과 이동</a:t>
            </a:r>
            <a:endParaRPr lang="en-US" sz="880" dirty="0"/>
          </a:p>
        </p:txBody>
      </p:sp>
      <p:sp>
        <p:nvSpPr>
          <p:cNvPr id="30" name="Shape 28"/>
          <p:cNvSpPr/>
          <p:nvPr/>
        </p:nvSpPr>
        <p:spPr>
          <a:xfrm>
            <a:off x="2286000" y="5212080"/>
            <a:ext cx="7589520" cy="566928"/>
          </a:xfrm>
          <a:prstGeom prst="roundRect">
            <a:avLst>
              <a:gd name="adj" fmla="val 12903"/>
            </a:avLst>
          </a:prstGeom>
          <a:solidFill>
            <a:srgbClr val="DFF8FC"/>
          </a:solidFill>
          <a:ln w="12700">
            <a:solidFill>
              <a:srgbClr val="DFF8FC"/>
            </a:solidFill>
            <a:prstDash val="solid"/>
          </a:ln>
        </p:spPr>
      </p:sp>
      <p:sp>
        <p:nvSpPr>
          <p:cNvPr id="31" name="Text 29"/>
          <p:cNvSpPr/>
          <p:nvPr/>
        </p:nvSpPr>
        <p:spPr>
          <a:xfrm>
            <a:off x="2523744" y="5394960"/>
            <a:ext cx="7114032" cy="201168"/>
          </a:xfrm>
          <a:prstGeom prst="rect">
            <a:avLst/>
          </a:prstGeom>
          <a:noFill/>
          <a:ln/>
        </p:spPr>
        <p:txBody>
          <a:bodyPr wrap="square" lIns="0" tIns="0" rIns="0" bIns="0" rtlCol="0" anchor="ctr">
            <a:normAutofit/>
          </a:bodyPr>
          <a:lstStyle/>
          <a:p>
            <a:pPr algn="ctr" indent="0" marL="0">
              <a:buNone/>
            </a:pPr>
            <a:r>
              <a:rPr lang="en-US" sz="1050" b="1" dirty="0">
                <a:solidFill>
                  <a:srgbClr val="168CA3"/>
                </a:solidFill>
                <a:latin typeface="Malgun Gothic" pitchFamily="34" charset="0"/>
                <a:ea typeface="Malgun Gothic" pitchFamily="34" charset="-122"/>
                <a:cs typeface="Malgun Gothic" pitchFamily="34" charset="-120"/>
              </a:rPr>
              <a:t>자동 인식 실패 시  →  작게·보통·넓게 영역을 선택하고 상품 위치를 지정해 재검색</a:t>
            </a:r>
            <a:endParaRPr lang="en-US" sz="1050" dirty="0"/>
          </a:p>
        </p:txBody>
      </p:sp>
      <p:sp>
        <p:nvSpPr>
          <p:cNvPr id="32" name="Text 30"/>
          <p:cNvSpPr/>
          <p:nvPr/>
        </p:nvSpPr>
        <p:spPr>
          <a:xfrm>
            <a:off x="411480" y="6528816"/>
            <a:ext cx="1463040" cy="182880"/>
          </a:xfrm>
          <a:prstGeom prst="rect">
            <a:avLst/>
          </a:prstGeom>
          <a:noFill/>
          <a:ln/>
        </p:spPr>
        <p:txBody>
          <a:bodyPr wrap="square" lIns="0" tIns="0" rIns="0" bIns="0" rtlCol="0" anchor="ctr"/>
          <a:lstStyle/>
          <a:p>
            <a:pPr indent="0" marL="0">
              <a:buNone/>
            </a:pPr>
            <a:r>
              <a:rPr lang="en-US" sz="750" b="1" dirty="0">
                <a:solidFill>
                  <a:srgbClr val="A4B0B4"/>
                </a:solidFill>
                <a:latin typeface="Malgun Gothic" pitchFamily="34" charset="0"/>
                <a:ea typeface="Malgun Gothic" pitchFamily="34" charset="-122"/>
                <a:cs typeface="Malgun Gothic" pitchFamily="34" charset="-120"/>
              </a:rPr>
              <a:t>CleanTouch</a:t>
            </a:r>
            <a:endParaRPr lang="en-US" sz="750" dirty="0"/>
          </a:p>
        </p:txBody>
      </p:sp>
      <p:sp>
        <p:nvSpPr>
          <p:cNvPr id="33" name="Text 31"/>
          <p:cNvSpPr/>
          <p:nvPr/>
        </p:nvSpPr>
        <p:spPr>
          <a:xfrm>
            <a:off x="11292840" y="6510528"/>
            <a:ext cx="457200" cy="182880"/>
          </a:xfrm>
          <a:prstGeom prst="rect">
            <a:avLst/>
          </a:prstGeom>
          <a:noFill/>
          <a:ln/>
        </p:spPr>
        <p:txBody>
          <a:bodyPr wrap="square" lIns="0" tIns="0" rIns="0" bIns="0" rtlCol="0" anchor="ctr"/>
          <a:lstStyle/>
          <a:p>
            <a:pPr algn="r" indent="0" marL="0">
              <a:buNone/>
            </a:pPr>
            <a:r>
              <a:rPr lang="en-US" sz="750" dirty="0">
                <a:solidFill>
                  <a:srgbClr val="A4B0B4"/>
                </a:solidFill>
                <a:latin typeface="Malgun Gothic" pitchFamily="34" charset="0"/>
                <a:ea typeface="Malgun Gothic" pitchFamily="34" charset="-122"/>
                <a:cs typeface="Malgun Gothic" pitchFamily="34" charset="-120"/>
              </a:rPr>
              <a:t>04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7F8"/>
        </a:solidFill>
      </p:bgPr>
    </p:bg>
    <p:spTree>
      <p:nvGrpSpPr>
        <p:cNvPr id="1" name=""/>
        <p:cNvGrpSpPr/>
        <p:nvPr/>
      </p:nvGrpSpPr>
      <p:grpSpPr>
        <a:xfrm>
          <a:off x="0" y="0"/>
          <a:ext cx="0" cy="0"/>
          <a:chOff x="0" y="0"/>
          <a:chExt cx="0" cy="0"/>
        </a:xfrm>
      </p:grpSpPr>
      <p:sp>
        <p:nvSpPr>
          <p:cNvPr id="2" name="Text 0"/>
          <p:cNvSpPr/>
          <p:nvPr/>
        </p:nvSpPr>
        <p:spPr>
          <a:xfrm>
            <a:off x="548640" y="347472"/>
            <a:ext cx="4114800" cy="228600"/>
          </a:xfrm>
          <a:prstGeom prst="rect">
            <a:avLst/>
          </a:prstGeom>
          <a:noFill/>
          <a:ln/>
        </p:spPr>
        <p:txBody>
          <a:bodyPr wrap="square" lIns="0" tIns="0" rIns="0" bIns="0" rtlCol="0" anchor="ctr"/>
          <a:lstStyle/>
          <a:p>
            <a:pPr indent="0" marL="0">
              <a:buNone/>
            </a:pPr>
            <a:r>
              <a:rPr lang="en-US" sz="850" b="1" spc="140" kern="0" dirty="0">
                <a:solidFill>
                  <a:srgbClr val="168CA3"/>
                </a:solidFill>
                <a:latin typeface="Malgun Gothic" pitchFamily="34" charset="0"/>
                <a:ea typeface="Malgun Gothic" pitchFamily="34" charset="-122"/>
                <a:cs typeface="Malgun Gothic" pitchFamily="34" charset="-120"/>
              </a:rPr>
              <a:t>04 · BUILD</a:t>
            </a:r>
            <a:endParaRPr lang="en-US" sz="850" dirty="0"/>
          </a:p>
        </p:txBody>
      </p:sp>
      <p:sp>
        <p:nvSpPr>
          <p:cNvPr id="3" name="Text 1"/>
          <p:cNvSpPr/>
          <p:nvPr/>
        </p:nvSpPr>
        <p:spPr>
          <a:xfrm>
            <a:off x="548640" y="685800"/>
            <a:ext cx="11064240" cy="566928"/>
          </a:xfrm>
          <a:prstGeom prst="rect">
            <a:avLst/>
          </a:prstGeom>
          <a:noFill/>
          <a:ln/>
        </p:spPr>
        <p:txBody>
          <a:bodyPr wrap="square" lIns="0" tIns="0" rIns="0" bIns="0" rtlCol="0" anchor="ctr">
            <a:normAutofit/>
          </a:bodyPr>
          <a:lstStyle/>
          <a:p>
            <a:pPr indent="0" marL="0">
              <a:buNone/>
            </a:pPr>
            <a:r>
              <a:rPr lang="en-US" sz="2500" b="1" dirty="0">
                <a:solidFill>
                  <a:srgbClr val="14272E"/>
                </a:solidFill>
                <a:latin typeface="Malgun Gothic" pitchFamily="34" charset="0"/>
                <a:ea typeface="Malgun Gothic" pitchFamily="34" charset="-122"/>
                <a:cs typeface="Malgun Gothic" pitchFamily="34" charset="-120"/>
              </a:rPr>
              <a:t>실제 Android 앱과 검색 서버까지 구현</a:t>
            </a:r>
            <a:endParaRPr lang="en-US" sz="2500" dirty="0"/>
          </a:p>
        </p:txBody>
      </p:sp>
      <p:sp>
        <p:nvSpPr>
          <p:cNvPr id="4" name="Text 2"/>
          <p:cNvSpPr/>
          <p:nvPr/>
        </p:nvSpPr>
        <p:spPr>
          <a:xfrm>
            <a:off x="566928" y="1353312"/>
            <a:ext cx="10698480" cy="384048"/>
          </a:xfrm>
          <a:prstGeom prst="rect">
            <a:avLst/>
          </a:prstGeom>
          <a:noFill/>
          <a:ln/>
        </p:spPr>
        <p:txBody>
          <a:bodyPr wrap="square" lIns="0" tIns="0" rIns="0" bIns="0" rtlCol="0" anchor="ctr">
            <a:normAutofit/>
          </a:bodyPr>
          <a:lstStyle/>
          <a:p>
            <a:pPr indent="0" marL="0">
              <a:buNone/>
            </a:pPr>
            <a:r>
              <a:rPr lang="en-US" sz="1050" dirty="0">
                <a:solidFill>
                  <a:srgbClr val="708087"/>
                </a:solidFill>
                <a:latin typeface="Malgun Gothic" pitchFamily="34" charset="0"/>
                <a:ea typeface="Malgun Gothic" pitchFamily="34" charset="-122"/>
                <a:cs typeface="Malgun Gothic" pitchFamily="34" charset="-120"/>
              </a:rPr>
              <a:t>웹 화면 시안에서 출발해 다른 앱 위에서 동작하는 네이티브 앱으로 발전했습니다.</a:t>
            </a:r>
            <a:endParaRPr lang="en-US" sz="1050" dirty="0"/>
          </a:p>
        </p:txBody>
      </p:sp>
      <p:sp>
        <p:nvSpPr>
          <p:cNvPr id="5" name="Shape 3"/>
          <p:cNvSpPr/>
          <p:nvPr/>
        </p:nvSpPr>
        <p:spPr>
          <a:xfrm>
            <a:off x="438912" y="2176272"/>
            <a:ext cx="1965960" cy="1874520"/>
          </a:xfrm>
          <a:prstGeom prst="roundRect">
            <a:avLst>
              <a:gd name="adj" fmla="val 5854"/>
            </a:avLst>
          </a:prstGeom>
          <a:solidFill>
            <a:srgbClr val="EEEAFB"/>
          </a:solidFill>
          <a:ln w="12700">
            <a:solidFill>
              <a:srgbClr val="EEEAFB"/>
            </a:solidFill>
            <a:prstDash val="solid"/>
          </a:ln>
        </p:spPr>
      </p:sp>
      <p:sp>
        <p:nvSpPr>
          <p:cNvPr id="6" name="Text 4"/>
          <p:cNvSpPr/>
          <p:nvPr/>
        </p:nvSpPr>
        <p:spPr>
          <a:xfrm>
            <a:off x="640080" y="2432304"/>
            <a:ext cx="411480" cy="228600"/>
          </a:xfrm>
          <a:prstGeom prst="rect">
            <a:avLst/>
          </a:prstGeom>
          <a:noFill/>
          <a:ln/>
        </p:spPr>
        <p:txBody>
          <a:bodyPr wrap="square" lIns="0" tIns="0" rIns="0" bIns="0" rtlCol="0" anchor="ctr"/>
          <a:lstStyle/>
          <a:p>
            <a:pPr indent="0" marL="0">
              <a:buNone/>
            </a:pPr>
            <a:r>
              <a:rPr lang="en-US" sz="850" b="1" dirty="0">
                <a:solidFill>
                  <a:srgbClr val="6550B6"/>
                </a:solidFill>
                <a:latin typeface="Malgun Gothic" pitchFamily="34" charset="0"/>
                <a:ea typeface="Malgun Gothic" pitchFamily="34" charset="-122"/>
                <a:cs typeface="Malgun Gothic" pitchFamily="34" charset="-120"/>
              </a:rPr>
              <a:t>01</a:t>
            </a:r>
            <a:endParaRPr lang="en-US" sz="850" dirty="0"/>
          </a:p>
        </p:txBody>
      </p:sp>
      <p:sp>
        <p:nvSpPr>
          <p:cNvPr id="7" name="Text 5"/>
          <p:cNvSpPr/>
          <p:nvPr/>
        </p:nvSpPr>
        <p:spPr>
          <a:xfrm>
            <a:off x="640080" y="2807208"/>
            <a:ext cx="1554480" cy="329184"/>
          </a:xfrm>
          <a:prstGeom prst="rect">
            <a:avLst/>
          </a:prstGeom>
          <a:noFill/>
          <a:ln/>
        </p:spPr>
        <p:txBody>
          <a:bodyPr wrap="square" lIns="0" tIns="0" rIns="0" bIns="0" rtlCol="0" anchor="ctr">
            <a:normAutofit/>
          </a:bodyPr>
          <a:lstStyle/>
          <a:p>
            <a:pPr indent="0" marL="0">
              <a:buNone/>
            </a:pPr>
            <a:r>
              <a:rPr lang="en-US" sz="1400" b="1" dirty="0">
                <a:solidFill>
                  <a:srgbClr val="14272E"/>
                </a:solidFill>
                <a:latin typeface="Malgun Gothic" pitchFamily="34" charset="0"/>
                <a:ea typeface="Malgun Gothic" pitchFamily="34" charset="-122"/>
                <a:cs typeface="Malgun Gothic" pitchFamily="34" charset="-120"/>
              </a:rPr>
              <a:t>영상 앱</a:t>
            </a:r>
            <a:endParaRPr lang="en-US" sz="1400" dirty="0"/>
          </a:p>
        </p:txBody>
      </p:sp>
      <p:sp>
        <p:nvSpPr>
          <p:cNvPr id="8" name="Text 6"/>
          <p:cNvSpPr/>
          <p:nvPr/>
        </p:nvSpPr>
        <p:spPr>
          <a:xfrm>
            <a:off x="640080" y="3337560"/>
            <a:ext cx="1572768" cy="384048"/>
          </a:xfrm>
          <a:prstGeom prst="rect">
            <a:avLst/>
          </a:prstGeom>
          <a:noFill/>
          <a:ln/>
        </p:spPr>
        <p:txBody>
          <a:bodyPr wrap="square" lIns="0" tIns="0" rIns="0" bIns="0" rtlCol="0" anchor="ctr">
            <a:normAutofit/>
          </a:bodyPr>
          <a:lstStyle/>
          <a:p>
            <a:pPr indent="0" marL="0">
              <a:buNone/>
            </a:pPr>
            <a:r>
              <a:rPr lang="en-US" sz="880" dirty="0">
                <a:solidFill>
                  <a:srgbClr val="708087"/>
                </a:solidFill>
                <a:latin typeface="Malgun Gothic" pitchFamily="34" charset="0"/>
                <a:ea typeface="Malgun Gothic" pitchFamily="34" charset="-122"/>
                <a:cs typeface="Malgun Gothic" pitchFamily="34" charset="-120"/>
              </a:rPr>
              <a:t>YouTube · Instagram</a:t>
            </a:r>
            <a:endParaRPr lang="en-US" sz="880" dirty="0"/>
          </a:p>
        </p:txBody>
      </p:sp>
      <p:sp>
        <p:nvSpPr>
          <p:cNvPr id="9" name="Shape 7"/>
          <p:cNvSpPr/>
          <p:nvPr/>
        </p:nvSpPr>
        <p:spPr>
          <a:xfrm>
            <a:off x="2468880" y="2852928"/>
            <a:ext cx="256032" cy="502920"/>
          </a:xfrm>
          <a:prstGeom prst="chevron">
            <a:avLst/>
          </a:prstGeom>
          <a:solidFill>
            <a:srgbClr val="A4B0B4"/>
          </a:solidFill>
          <a:ln w="12700">
            <a:solidFill>
              <a:srgbClr val="A4B0B4"/>
            </a:solidFill>
            <a:prstDash val="solid"/>
          </a:ln>
        </p:spPr>
      </p:sp>
      <p:sp>
        <p:nvSpPr>
          <p:cNvPr id="10" name="Shape 8"/>
          <p:cNvSpPr/>
          <p:nvPr/>
        </p:nvSpPr>
        <p:spPr>
          <a:xfrm>
            <a:off x="2798064" y="2176272"/>
            <a:ext cx="1965960" cy="1874520"/>
          </a:xfrm>
          <a:prstGeom prst="roundRect">
            <a:avLst>
              <a:gd name="adj" fmla="val 5854"/>
            </a:avLst>
          </a:prstGeom>
          <a:solidFill>
            <a:srgbClr val="DFF8FC"/>
          </a:solidFill>
          <a:ln w="12700">
            <a:solidFill>
              <a:srgbClr val="DFF8FC"/>
            </a:solidFill>
            <a:prstDash val="solid"/>
          </a:ln>
        </p:spPr>
      </p:sp>
      <p:sp>
        <p:nvSpPr>
          <p:cNvPr id="11" name="Text 9"/>
          <p:cNvSpPr/>
          <p:nvPr/>
        </p:nvSpPr>
        <p:spPr>
          <a:xfrm>
            <a:off x="2999232" y="2432304"/>
            <a:ext cx="411480" cy="228600"/>
          </a:xfrm>
          <a:prstGeom prst="rect">
            <a:avLst/>
          </a:prstGeom>
          <a:noFill/>
          <a:ln/>
        </p:spPr>
        <p:txBody>
          <a:bodyPr wrap="square" lIns="0" tIns="0" rIns="0" bIns="0" rtlCol="0" anchor="ctr"/>
          <a:lstStyle/>
          <a:p>
            <a:pPr indent="0" marL="0">
              <a:buNone/>
            </a:pPr>
            <a:r>
              <a:rPr lang="en-US" sz="850" b="1" dirty="0">
                <a:solidFill>
                  <a:srgbClr val="168CA3"/>
                </a:solidFill>
                <a:latin typeface="Malgun Gothic" pitchFamily="34" charset="0"/>
                <a:ea typeface="Malgun Gothic" pitchFamily="34" charset="-122"/>
                <a:cs typeface="Malgun Gothic" pitchFamily="34" charset="-120"/>
              </a:rPr>
              <a:t>02</a:t>
            </a:r>
            <a:endParaRPr lang="en-US" sz="850" dirty="0"/>
          </a:p>
        </p:txBody>
      </p:sp>
      <p:sp>
        <p:nvSpPr>
          <p:cNvPr id="12" name="Text 10"/>
          <p:cNvSpPr/>
          <p:nvPr/>
        </p:nvSpPr>
        <p:spPr>
          <a:xfrm>
            <a:off x="2999232" y="2807208"/>
            <a:ext cx="1554480" cy="329184"/>
          </a:xfrm>
          <a:prstGeom prst="rect">
            <a:avLst/>
          </a:prstGeom>
          <a:noFill/>
          <a:ln/>
        </p:spPr>
        <p:txBody>
          <a:bodyPr wrap="square" lIns="0" tIns="0" rIns="0" bIns="0" rtlCol="0" anchor="ctr">
            <a:normAutofit/>
          </a:bodyPr>
          <a:lstStyle/>
          <a:p>
            <a:pPr indent="0" marL="0">
              <a:buNone/>
            </a:pPr>
            <a:r>
              <a:rPr lang="en-US" sz="1400" b="1" dirty="0">
                <a:solidFill>
                  <a:srgbClr val="14272E"/>
                </a:solidFill>
                <a:latin typeface="Malgun Gothic" pitchFamily="34" charset="0"/>
                <a:ea typeface="Malgun Gothic" pitchFamily="34" charset="-122"/>
                <a:cs typeface="Malgun Gothic" pitchFamily="34" charset="-120"/>
              </a:rPr>
              <a:t>플로팅 버튼</a:t>
            </a:r>
            <a:endParaRPr lang="en-US" sz="1400" dirty="0"/>
          </a:p>
        </p:txBody>
      </p:sp>
      <p:sp>
        <p:nvSpPr>
          <p:cNvPr id="13" name="Text 11"/>
          <p:cNvSpPr/>
          <p:nvPr/>
        </p:nvSpPr>
        <p:spPr>
          <a:xfrm>
            <a:off x="2999232" y="3337560"/>
            <a:ext cx="1572768" cy="384048"/>
          </a:xfrm>
          <a:prstGeom prst="rect">
            <a:avLst/>
          </a:prstGeom>
          <a:noFill/>
          <a:ln/>
        </p:spPr>
        <p:txBody>
          <a:bodyPr wrap="square" lIns="0" tIns="0" rIns="0" bIns="0" rtlCol="0" anchor="ctr">
            <a:normAutofit/>
          </a:bodyPr>
          <a:lstStyle/>
          <a:p>
            <a:pPr indent="0" marL="0">
              <a:buNone/>
            </a:pPr>
            <a:r>
              <a:rPr lang="en-US" sz="880" dirty="0">
                <a:solidFill>
                  <a:srgbClr val="708087"/>
                </a:solidFill>
                <a:latin typeface="Malgun Gothic" pitchFamily="34" charset="0"/>
                <a:ea typeface="Malgun Gothic" pitchFamily="34" charset="-122"/>
                <a:cs typeface="Malgun Gothic" pitchFamily="34" charset="-120"/>
              </a:rPr>
              <a:t>다른 앱 위에서 실행</a:t>
            </a:r>
            <a:endParaRPr lang="en-US" sz="880" dirty="0"/>
          </a:p>
        </p:txBody>
      </p:sp>
      <p:sp>
        <p:nvSpPr>
          <p:cNvPr id="14" name="Shape 12"/>
          <p:cNvSpPr/>
          <p:nvPr/>
        </p:nvSpPr>
        <p:spPr>
          <a:xfrm>
            <a:off x="4828032" y="2852928"/>
            <a:ext cx="256032" cy="502920"/>
          </a:xfrm>
          <a:prstGeom prst="chevron">
            <a:avLst/>
          </a:prstGeom>
          <a:solidFill>
            <a:srgbClr val="A4B0B4"/>
          </a:solidFill>
          <a:ln w="12700">
            <a:solidFill>
              <a:srgbClr val="A4B0B4"/>
            </a:solidFill>
            <a:prstDash val="solid"/>
          </a:ln>
        </p:spPr>
      </p:sp>
      <p:sp>
        <p:nvSpPr>
          <p:cNvPr id="15" name="Shape 13"/>
          <p:cNvSpPr/>
          <p:nvPr/>
        </p:nvSpPr>
        <p:spPr>
          <a:xfrm>
            <a:off x="5157216" y="2176272"/>
            <a:ext cx="1965960" cy="1874520"/>
          </a:xfrm>
          <a:prstGeom prst="roundRect">
            <a:avLst>
              <a:gd name="adj" fmla="val 5854"/>
            </a:avLst>
          </a:prstGeom>
          <a:solidFill>
            <a:srgbClr val="E5F8F2"/>
          </a:solidFill>
          <a:ln w="12700">
            <a:solidFill>
              <a:srgbClr val="E5F8F2"/>
            </a:solidFill>
            <a:prstDash val="solid"/>
          </a:ln>
        </p:spPr>
      </p:sp>
      <p:sp>
        <p:nvSpPr>
          <p:cNvPr id="16" name="Text 14"/>
          <p:cNvSpPr/>
          <p:nvPr/>
        </p:nvSpPr>
        <p:spPr>
          <a:xfrm>
            <a:off x="5358384" y="2432304"/>
            <a:ext cx="411480" cy="228600"/>
          </a:xfrm>
          <a:prstGeom prst="rect">
            <a:avLst/>
          </a:prstGeom>
          <a:noFill/>
          <a:ln/>
        </p:spPr>
        <p:txBody>
          <a:bodyPr wrap="square" lIns="0" tIns="0" rIns="0" bIns="0" rtlCol="0" anchor="ctr"/>
          <a:lstStyle/>
          <a:p>
            <a:pPr indent="0" marL="0">
              <a:buNone/>
            </a:pPr>
            <a:r>
              <a:rPr lang="en-US" sz="850" b="1" dirty="0">
                <a:solidFill>
                  <a:srgbClr val="18866E"/>
                </a:solidFill>
                <a:latin typeface="Malgun Gothic" pitchFamily="34" charset="0"/>
                <a:ea typeface="Malgun Gothic" pitchFamily="34" charset="-122"/>
                <a:cs typeface="Malgun Gothic" pitchFamily="34" charset="-120"/>
              </a:rPr>
              <a:t>03</a:t>
            </a:r>
            <a:endParaRPr lang="en-US" sz="850" dirty="0"/>
          </a:p>
        </p:txBody>
      </p:sp>
      <p:sp>
        <p:nvSpPr>
          <p:cNvPr id="17" name="Text 15"/>
          <p:cNvSpPr/>
          <p:nvPr/>
        </p:nvSpPr>
        <p:spPr>
          <a:xfrm>
            <a:off x="5358384" y="2807208"/>
            <a:ext cx="1554480" cy="329184"/>
          </a:xfrm>
          <a:prstGeom prst="rect">
            <a:avLst/>
          </a:prstGeom>
          <a:noFill/>
          <a:ln/>
        </p:spPr>
        <p:txBody>
          <a:bodyPr wrap="square" lIns="0" tIns="0" rIns="0" bIns="0" rtlCol="0" anchor="ctr">
            <a:normAutofit/>
          </a:bodyPr>
          <a:lstStyle/>
          <a:p>
            <a:pPr indent="0" marL="0">
              <a:buNone/>
            </a:pPr>
            <a:r>
              <a:rPr lang="en-US" sz="1400" b="1" dirty="0">
                <a:solidFill>
                  <a:srgbClr val="14272E"/>
                </a:solidFill>
                <a:latin typeface="Malgun Gothic" pitchFamily="34" charset="0"/>
                <a:ea typeface="Malgun Gothic" pitchFamily="34" charset="-122"/>
                <a:cs typeface="Malgun Gothic" pitchFamily="34" charset="-120"/>
              </a:rPr>
              <a:t>화면 한 장</a:t>
            </a:r>
            <a:endParaRPr lang="en-US" sz="1400" dirty="0"/>
          </a:p>
        </p:txBody>
      </p:sp>
      <p:sp>
        <p:nvSpPr>
          <p:cNvPr id="18" name="Text 16"/>
          <p:cNvSpPr/>
          <p:nvPr/>
        </p:nvSpPr>
        <p:spPr>
          <a:xfrm>
            <a:off x="5358384" y="3337560"/>
            <a:ext cx="1572768" cy="384048"/>
          </a:xfrm>
          <a:prstGeom prst="rect">
            <a:avLst/>
          </a:prstGeom>
          <a:noFill/>
          <a:ln/>
        </p:spPr>
        <p:txBody>
          <a:bodyPr wrap="square" lIns="0" tIns="0" rIns="0" bIns="0" rtlCol="0" anchor="ctr">
            <a:normAutofit/>
          </a:bodyPr>
          <a:lstStyle/>
          <a:p>
            <a:pPr indent="0" marL="0">
              <a:buNone/>
            </a:pPr>
            <a:r>
              <a:rPr lang="en-US" sz="880" dirty="0">
                <a:solidFill>
                  <a:srgbClr val="708087"/>
                </a:solidFill>
                <a:latin typeface="Malgun Gothic" pitchFamily="34" charset="0"/>
                <a:ea typeface="Malgun Gothic" pitchFamily="34" charset="-122"/>
                <a:cs typeface="Malgun Gothic" pitchFamily="34" charset="-120"/>
              </a:rPr>
              <a:t>버튼 순간만 파일 생성</a:t>
            </a:r>
            <a:endParaRPr lang="en-US" sz="880" dirty="0"/>
          </a:p>
        </p:txBody>
      </p:sp>
      <p:sp>
        <p:nvSpPr>
          <p:cNvPr id="19" name="Shape 17"/>
          <p:cNvSpPr/>
          <p:nvPr/>
        </p:nvSpPr>
        <p:spPr>
          <a:xfrm>
            <a:off x="7187184" y="2852928"/>
            <a:ext cx="256032" cy="502920"/>
          </a:xfrm>
          <a:prstGeom prst="chevron">
            <a:avLst/>
          </a:prstGeom>
          <a:solidFill>
            <a:srgbClr val="A4B0B4"/>
          </a:solidFill>
          <a:ln w="12700">
            <a:solidFill>
              <a:srgbClr val="A4B0B4"/>
            </a:solidFill>
            <a:prstDash val="solid"/>
          </a:ln>
        </p:spPr>
      </p:sp>
      <p:sp>
        <p:nvSpPr>
          <p:cNvPr id="20" name="Shape 18"/>
          <p:cNvSpPr/>
          <p:nvPr/>
        </p:nvSpPr>
        <p:spPr>
          <a:xfrm>
            <a:off x="7516368" y="2176272"/>
            <a:ext cx="1965960" cy="1874520"/>
          </a:xfrm>
          <a:prstGeom prst="roundRect">
            <a:avLst>
              <a:gd name="adj" fmla="val 5854"/>
            </a:avLst>
          </a:prstGeom>
          <a:solidFill>
            <a:srgbClr val="E8EFF1"/>
          </a:solidFill>
          <a:ln w="12700">
            <a:solidFill>
              <a:srgbClr val="E8EFF1"/>
            </a:solidFill>
            <a:prstDash val="solid"/>
          </a:ln>
        </p:spPr>
      </p:sp>
      <p:sp>
        <p:nvSpPr>
          <p:cNvPr id="21" name="Text 19"/>
          <p:cNvSpPr/>
          <p:nvPr/>
        </p:nvSpPr>
        <p:spPr>
          <a:xfrm>
            <a:off x="7717536" y="2432304"/>
            <a:ext cx="411480" cy="228600"/>
          </a:xfrm>
          <a:prstGeom prst="rect">
            <a:avLst/>
          </a:prstGeom>
          <a:noFill/>
          <a:ln/>
        </p:spPr>
        <p:txBody>
          <a:bodyPr wrap="square" lIns="0" tIns="0" rIns="0" bIns="0" rtlCol="0" anchor="ctr"/>
          <a:lstStyle/>
          <a:p>
            <a:pPr indent="0" marL="0">
              <a:buNone/>
            </a:pPr>
            <a:r>
              <a:rPr lang="en-US" sz="850" b="1" dirty="0">
                <a:solidFill>
                  <a:srgbClr val="263A42"/>
                </a:solidFill>
                <a:latin typeface="Malgun Gothic" pitchFamily="34" charset="0"/>
                <a:ea typeface="Malgun Gothic" pitchFamily="34" charset="-122"/>
                <a:cs typeface="Malgun Gothic" pitchFamily="34" charset="-120"/>
              </a:rPr>
              <a:t>04</a:t>
            </a:r>
            <a:endParaRPr lang="en-US" sz="850" dirty="0"/>
          </a:p>
        </p:txBody>
      </p:sp>
      <p:sp>
        <p:nvSpPr>
          <p:cNvPr id="22" name="Text 20"/>
          <p:cNvSpPr/>
          <p:nvPr/>
        </p:nvSpPr>
        <p:spPr>
          <a:xfrm>
            <a:off x="7717536" y="2807208"/>
            <a:ext cx="1554480" cy="329184"/>
          </a:xfrm>
          <a:prstGeom prst="rect">
            <a:avLst/>
          </a:prstGeom>
          <a:noFill/>
          <a:ln/>
        </p:spPr>
        <p:txBody>
          <a:bodyPr wrap="square" lIns="0" tIns="0" rIns="0" bIns="0" rtlCol="0" anchor="ctr">
            <a:normAutofit/>
          </a:bodyPr>
          <a:lstStyle/>
          <a:p>
            <a:pPr indent="0" marL="0">
              <a:buNone/>
            </a:pPr>
            <a:r>
              <a:rPr lang="en-US" sz="1400" b="1" dirty="0">
                <a:solidFill>
                  <a:srgbClr val="14272E"/>
                </a:solidFill>
                <a:latin typeface="Malgun Gothic" pitchFamily="34" charset="0"/>
                <a:ea typeface="Malgun Gothic" pitchFamily="34" charset="-122"/>
                <a:cs typeface="Malgun Gothic" pitchFamily="34" charset="-120"/>
              </a:rPr>
              <a:t>검색 API</a:t>
            </a:r>
            <a:endParaRPr lang="en-US" sz="1400" dirty="0"/>
          </a:p>
        </p:txBody>
      </p:sp>
      <p:sp>
        <p:nvSpPr>
          <p:cNvPr id="23" name="Text 21"/>
          <p:cNvSpPr/>
          <p:nvPr/>
        </p:nvSpPr>
        <p:spPr>
          <a:xfrm>
            <a:off x="7717536" y="3337560"/>
            <a:ext cx="1572768" cy="384048"/>
          </a:xfrm>
          <a:prstGeom prst="rect">
            <a:avLst/>
          </a:prstGeom>
          <a:noFill/>
          <a:ln/>
        </p:spPr>
        <p:txBody>
          <a:bodyPr wrap="square" lIns="0" tIns="0" rIns="0" bIns="0" rtlCol="0" anchor="ctr">
            <a:normAutofit/>
          </a:bodyPr>
          <a:lstStyle/>
          <a:p>
            <a:pPr indent="0" marL="0">
              <a:buNone/>
            </a:pPr>
            <a:r>
              <a:rPr lang="en-US" sz="880" dirty="0">
                <a:solidFill>
                  <a:srgbClr val="708087"/>
                </a:solidFill>
                <a:latin typeface="Malgun Gothic" pitchFamily="34" charset="0"/>
                <a:ea typeface="Malgun Gothic" pitchFamily="34" charset="-122"/>
                <a:cs typeface="Malgun Gothic" pitchFamily="34" charset="-120"/>
              </a:rPr>
              <a:t>검증 · 정규화 · AI 분석</a:t>
            </a:r>
            <a:endParaRPr lang="en-US" sz="880" dirty="0"/>
          </a:p>
        </p:txBody>
      </p:sp>
      <p:sp>
        <p:nvSpPr>
          <p:cNvPr id="24" name="Shape 22"/>
          <p:cNvSpPr/>
          <p:nvPr/>
        </p:nvSpPr>
        <p:spPr>
          <a:xfrm>
            <a:off x="9546336" y="2852928"/>
            <a:ext cx="256032" cy="502920"/>
          </a:xfrm>
          <a:prstGeom prst="chevron">
            <a:avLst/>
          </a:prstGeom>
          <a:solidFill>
            <a:srgbClr val="A4B0B4"/>
          </a:solidFill>
          <a:ln w="12700">
            <a:solidFill>
              <a:srgbClr val="A4B0B4"/>
            </a:solidFill>
            <a:prstDash val="solid"/>
          </a:ln>
        </p:spPr>
      </p:sp>
      <p:sp>
        <p:nvSpPr>
          <p:cNvPr id="25" name="Shape 23"/>
          <p:cNvSpPr/>
          <p:nvPr/>
        </p:nvSpPr>
        <p:spPr>
          <a:xfrm>
            <a:off x="9875520" y="2176272"/>
            <a:ext cx="1965960" cy="1874520"/>
          </a:xfrm>
          <a:prstGeom prst="roundRect">
            <a:avLst>
              <a:gd name="adj" fmla="val 5854"/>
            </a:avLst>
          </a:prstGeom>
          <a:solidFill>
            <a:srgbClr val="FFF2D9"/>
          </a:solidFill>
          <a:ln w="12700">
            <a:solidFill>
              <a:srgbClr val="FFF2D9"/>
            </a:solidFill>
            <a:prstDash val="solid"/>
          </a:ln>
        </p:spPr>
      </p:sp>
      <p:sp>
        <p:nvSpPr>
          <p:cNvPr id="26" name="Text 24"/>
          <p:cNvSpPr/>
          <p:nvPr/>
        </p:nvSpPr>
        <p:spPr>
          <a:xfrm>
            <a:off x="10076688" y="2432304"/>
            <a:ext cx="411480" cy="228600"/>
          </a:xfrm>
          <a:prstGeom prst="rect">
            <a:avLst/>
          </a:prstGeom>
          <a:noFill/>
          <a:ln/>
        </p:spPr>
        <p:txBody>
          <a:bodyPr wrap="square" lIns="0" tIns="0" rIns="0" bIns="0" rtlCol="0" anchor="ctr"/>
          <a:lstStyle/>
          <a:p>
            <a:pPr indent="0" marL="0">
              <a:buNone/>
            </a:pPr>
            <a:r>
              <a:rPr lang="en-US" sz="850" b="1" dirty="0">
                <a:solidFill>
                  <a:srgbClr val="8A5A00"/>
                </a:solidFill>
                <a:latin typeface="Malgun Gothic" pitchFamily="34" charset="0"/>
                <a:ea typeface="Malgun Gothic" pitchFamily="34" charset="-122"/>
                <a:cs typeface="Malgun Gothic" pitchFamily="34" charset="-120"/>
              </a:rPr>
              <a:t>05</a:t>
            </a:r>
            <a:endParaRPr lang="en-US" sz="850" dirty="0"/>
          </a:p>
        </p:txBody>
      </p:sp>
      <p:sp>
        <p:nvSpPr>
          <p:cNvPr id="27" name="Text 25"/>
          <p:cNvSpPr/>
          <p:nvPr/>
        </p:nvSpPr>
        <p:spPr>
          <a:xfrm>
            <a:off x="10076688" y="2807208"/>
            <a:ext cx="1554480" cy="329184"/>
          </a:xfrm>
          <a:prstGeom prst="rect">
            <a:avLst/>
          </a:prstGeom>
          <a:noFill/>
          <a:ln/>
        </p:spPr>
        <p:txBody>
          <a:bodyPr wrap="square" lIns="0" tIns="0" rIns="0" bIns="0" rtlCol="0" anchor="ctr">
            <a:normAutofit/>
          </a:bodyPr>
          <a:lstStyle/>
          <a:p>
            <a:pPr indent="0" marL="0">
              <a:buNone/>
            </a:pPr>
            <a:r>
              <a:rPr lang="en-US" sz="1400" b="1" dirty="0">
                <a:solidFill>
                  <a:srgbClr val="14272E"/>
                </a:solidFill>
                <a:latin typeface="Malgun Gothic" pitchFamily="34" charset="0"/>
                <a:ea typeface="Malgun Gothic" pitchFamily="34" charset="-122"/>
                <a:cs typeface="Malgun Gothic" pitchFamily="34" charset="-120"/>
              </a:rPr>
              <a:t>쇼핑 연결</a:t>
            </a:r>
            <a:endParaRPr lang="en-US" sz="1400" dirty="0"/>
          </a:p>
        </p:txBody>
      </p:sp>
      <p:sp>
        <p:nvSpPr>
          <p:cNvPr id="28" name="Text 26"/>
          <p:cNvSpPr/>
          <p:nvPr/>
        </p:nvSpPr>
        <p:spPr>
          <a:xfrm>
            <a:off x="10076688" y="3337560"/>
            <a:ext cx="1572768" cy="384048"/>
          </a:xfrm>
          <a:prstGeom prst="rect">
            <a:avLst/>
          </a:prstGeom>
          <a:noFill/>
          <a:ln/>
        </p:spPr>
        <p:txBody>
          <a:bodyPr wrap="square" lIns="0" tIns="0" rIns="0" bIns="0" rtlCol="0" anchor="ctr">
            <a:normAutofit/>
          </a:bodyPr>
          <a:lstStyle/>
          <a:p>
            <a:pPr indent="0" marL="0">
              <a:buNone/>
            </a:pPr>
            <a:r>
              <a:rPr lang="en-US" sz="880" dirty="0">
                <a:solidFill>
                  <a:srgbClr val="708087"/>
                </a:solidFill>
                <a:latin typeface="Malgun Gothic" pitchFamily="34" charset="0"/>
                <a:ea typeface="Malgun Gothic" pitchFamily="34" charset="-122"/>
                <a:cs typeface="Malgun Gothic" pitchFamily="34" charset="-120"/>
              </a:rPr>
              <a:t>Naver · Google</a:t>
            </a:r>
            <a:endParaRPr lang="en-US" sz="880" dirty="0"/>
          </a:p>
        </p:txBody>
      </p:sp>
      <p:sp>
        <p:nvSpPr>
          <p:cNvPr id="29" name="Shape 27"/>
          <p:cNvSpPr/>
          <p:nvPr/>
        </p:nvSpPr>
        <p:spPr>
          <a:xfrm>
            <a:off x="621792" y="4690872"/>
            <a:ext cx="2514600" cy="795528"/>
          </a:xfrm>
          <a:prstGeom prst="roundRect">
            <a:avLst>
              <a:gd name="adj" fmla="val 10345"/>
            </a:avLst>
          </a:prstGeom>
          <a:solidFill>
            <a:srgbClr val="FFFFFF"/>
          </a:solidFill>
          <a:ln w="12700">
            <a:solidFill>
              <a:srgbClr val="D8E2E5"/>
            </a:solidFill>
            <a:prstDash val="solid"/>
          </a:ln>
        </p:spPr>
      </p:sp>
      <p:sp>
        <p:nvSpPr>
          <p:cNvPr id="30" name="Text 28"/>
          <p:cNvSpPr/>
          <p:nvPr/>
        </p:nvSpPr>
        <p:spPr>
          <a:xfrm>
            <a:off x="786384" y="4901184"/>
            <a:ext cx="841248" cy="201168"/>
          </a:xfrm>
          <a:prstGeom prst="rect">
            <a:avLst/>
          </a:prstGeom>
          <a:noFill/>
          <a:ln/>
        </p:spPr>
        <p:txBody>
          <a:bodyPr wrap="square" lIns="0" tIns="0" rIns="0" bIns="0" rtlCol="0" anchor="ctr"/>
          <a:lstStyle/>
          <a:p>
            <a:pPr indent="0" marL="0">
              <a:buNone/>
            </a:pPr>
            <a:r>
              <a:rPr lang="en-US" sz="920" b="1" dirty="0">
                <a:solidFill>
                  <a:srgbClr val="168CA3"/>
                </a:solidFill>
                <a:latin typeface="Malgun Gothic" pitchFamily="34" charset="0"/>
                <a:ea typeface="Malgun Gothic" pitchFamily="34" charset="-122"/>
                <a:cs typeface="Malgun Gothic" pitchFamily="34" charset="-120"/>
              </a:rPr>
              <a:t>위치 지정</a:t>
            </a:r>
            <a:endParaRPr lang="en-US" sz="920" dirty="0"/>
          </a:p>
        </p:txBody>
      </p:sp>
      <p:sp>
        <p:nvSpPr>
          <p:cNvPr id="31" name="Text 29"/>
          <p:cNvSpPr/>
          <p:nvPr/>
        </p:nvSpPr>
        <p:spPr>
          <a:xfrm>
            <a:off x="1563624" y="4882896"/>
            <a:ext cx="1408176" cy="256032"/>
          </a:xfrm>
          <a:prstGeom prst="rect">
            <a:avLst/>
          </a:prstGeom>
          <a:noFill/>
          <a:ln/>
        </p:spPr>
        <p:txBody>
          <a:bodyPr wrap="square" lIns="0" tIns="0" rIns="0" bIns="0" rtlCol="0" anchor="ctr">
            <a:normAutofit/>
          </a:bodyPr>
          <a:lstStyle/>
          <a:p>
            <a:pPr indent="0" marL="0">
              <a:buNone/>
            </a:pPr>
            <a:r>
              <a:rPr lang="en-US" sz="820" dirty="0">
                <a:solidFill>
                  <a:srgbClr val="708087"/>
                </a:solidFill>
                <a:latin typeface="Malgun Gothic" pitchFamily="34" charset="0"/>
                <a:ea typeface="Malgun Gothic" pitchFamily="34" charset="-122"/>
                <a:cs typeface="Malgun Gothic" pitchFamily="34" charset="-120"/>
              </a:rPr>
              <a:t>작은 상품 확대 재검색</a:t>
            </a:r>
            <a:endParaRPr lang="en-US" sz="820" dirty="0"/>
          </a:p>
        </p:txBody>
      </p:sp>
      <p:sp>
        <p:nvSpPr>
          <p:cNvPr id="32" name="Shape 30"/>
          <p:cNvSpPr/>
          <p:nvPr/>
        </p:nvSpPr>
        <p:spPr>
          <a:xfrm>
            <a:off x="3474720" y="4690872"/>
            <a:ext cx="2514600" cy="795528"/>
          </a:xfrm>
          <a:prstGeom prst="roundRect">
            <a:avLst>
              <a:gd name="adj" fmla="val 10345"/>
            </a:avLst>
          </a:prstGeom>
          <a:solidFill>
            <a:srgbClr val="FFFFFF"/>
          </a:solidFill>
          <a:ln w="12700">
            <a:solidFill>
              <a:srgbClr val="D8E2E5"/>
            </a:solidFill>
            <a:prstDash val="solid"/>
          </a:ln>
        </p:spPr>
      </p:sp>
      <p:sp>
        <p:nvSpPr>
          <p:cNvPr id="33" name="Text 31"/>
          <p:cNvSpPr/>
          <p:nvPr/>
        </p:nvSpPr>
        <p:spPr>
          <a:xfrm>
            <a:off x="3639312" y="4901184"/>
            <a:ext cx="841248" cy="201168"/>
          </a:xfrm>
          <a:prstGeom prst="rect">
            <a:avLst/>
          </a:prstGeom>
          <a:noFill/>
          <a:ln/>
        </p:spPr>
        <p:txBody>
          <a:bodyPr wrap="square" lIns="0" tIns="0" rIns="0" bIns="0" rtlCol="0" anchor="ctr"/>
          <a:lstStyle/>
          <a:p>
            <a:pPr indent="0" marL="0">
              <a:buNone/>
            </a:pPr>
            <a:r>
              <a:rPr lang="en-US" sz="920" b="1" dirty="0">
                <a:solidFill>
                  <a:srgbClr val="168CA3"/>
                </a:solidFill>
                <a:latin typeface="Malgun Gothic" pitchFamily="34" charset="0"/>
                <a:ea typeface="Malgun Gothic" pitchFamily="34" charset="-122"/>
                <a:cs typeface="Malgun Gothic" pitchFamily="34" charset="-120"/>
              </a:rPr>
              <a:t>오류 복구</a:t>
            </a:r>
            <a:endParaRPr lang="en-US" sz="920" dirty="0"/>
          </a:p>
        </p:txBody>
      </p:sp>
      <p:sp>
        <p:nvSpPr>
          <p:cNvPr id="34" name="Text 32"/>
          <p:cNvSpPr/>
          <p:nvPr/>
        </p:nvSpPr>
        <p:spPr>
          <a:xfrm>
            <a:off x="4416552" y="4882896"/>
            <a:ext cx="1408176" cy="256032"/>
          </a:xfrm>
          <a:prstGeom prst="rect">
            <a:avLst/>
          </a:prstGeom>
          <a:noFill/>
          <a:ln/>
        </p:spPr>
        <p:txBody>
          <a:bodyPr wrap="square" lIns="0" tIns="0" rIns="0" bIns="0" rtlCol="0" anchor="ctr">
            <a:normAutofit/>
          </a:bodyPr>
          <a:lstStyle/>
          <a:p>
            <a:pPr indent="0" marL="0">
              <a:buNone/>
            </a:pPr>
            <a:r>
              <a:rPr lang="en-US" sz="820" dirty="0">
                <a:solidFill>
                  <a:srgbClr val="708087"/>
                </a:solidFill>
                <a:latin typeface="Malgun Gothic" pitchFamily="34" charset="0"/>
                <a:ea typeface="Malgun Gothic" pitchFamily="34" charset="-122"/>
                <a:cs typeface="Malgun Gothic" pitchFamily="34" charset="-120"/>
              </a:rPr>
              <a:t>일시적 AI 오류 자동 재시도</a:t>
            </a:r>
            <a:endParaRPr lang="en-US" sz="820" dirty="0"/>
          </a:p>
        </p:txBody>
      </p:sp>
      <p:sp>
        <p:nvSpPr>
          <p:cNvPr id="35" name="Shape 33"/>
          <p:cNvSpPr/>
          <p:nvPr/>
        </p:nvSpPr>
        <p:spPr>
          <a:xfrm>
            <a:off x="6327648" y="4690872"/>
            <a:ext cx="2514600" cy="795528"/>
          </a:xfrm>
          <a:prstGeom prst="roundRect">
            <a:avLst>
              <a:gd name="adj" fmla="val 10345"/>
            </a:avLst>
          </a:prstGeom>
          <a:solidFill>
            <a:srgbClr val="FFFFFF"/>
          </a:solidFill>
          <a:ln w="12700">
            <a:solidFill>
              <a:srgbClr val="D8E2E5"/>
            </a:solidFill>
            <a:prstDash val="solid"/>
          </a:ln>
        </p:spPr>
      </p:sp>
      <p:sp>
        <p:nvSpPr>
          <p:cNvPr id="36" name="Text 34"/>
          <p:cNvSpPr/>
          <p:nvPr/>
        </p:nvSpPr>
        <p:spPr>
          <a:xfrm>
            <a:off x="6492240" y="4901184"/>
            <a:ext cx="841248" cy="201168"/>
          </a:xfrm>
          <a:prstGeom prst="rect">
            <a:avLst/>
          </a:prstGeom>
          <a:noFill/>
          <a:ln/>
        </p:spPr>
        <p:txBody>
          <a:bodyPr wrap="square" lIns="0" tIns="0" rIns="0" bIns="0" rtlCol="0" anchor="ctr"/>
          <a:lstStyle/>
          <a:p>
            <a:pPr indent="0" marL="0">
              <a:buNone/>
            </a:pPr>
            <a:r>
              <a:rPr lang="en-US" sz="920" b="1" dirty="0">
                <a:solidFill>
                  <a:srgbClr val="168CA3"/>
                </a:solidFill>
                <a:latin typeface="Malgun Gothic" pitchFamily="34" charset="0"/>
                <a:ea typeface="Malgun Gothic" pitchFamily="34" charset="-122"/>
                <a:cs typeface="Malgun Gothic" pitchFamily="34" charset="-120"/>
              </a:rPr>
              <a:t>회전 대응</a:t>
            </a:r>
            <a:endParaRPr lang="en-US" sz="920" dirty="0"/>
          </a:p>
        </p:txBody>
      </p:sp>
      <p:sp>
        <p:nvSpPr>
          <p:cNvPr id="37" name="Text 35"/>
          <p:cNvSpPr/>
          <p:nvPr/>
        </p:nvSpPr>
        <p:spPr>
          <a:xfrm>
            <a:off x="7269480" y="4882896"/>
            <a:ext cx="1408176" cy="256032"/>
          </a:xfrm>
          <a:prstGeom prst="rect">
            <a:avLst/>
          </a:prstGeom>
          <a:noFill/>
          <a:ln/>
        </p:spPr>
        <p:txBody>
          <a:bodyPr wrap="square" lIns="0" tIns="0" rIns="0" bIns="0" rtlCol="0" anchor="ctr">
            <a:normAutofit/>
          </a:bodyPr>
          <a:lstStyle/>
          <a:p>
            <a:pPr indent="0" marL="0">
              <a:buNone/>
            </a:pPr>
            <a:r>
              <a:rPr lang="en-US" sz="820" dirty="0">
                <a:solidFill>
                  <a:srgbClr val="708087"/>
                </a:solidFill>
                <a:latin typeface="Malgun Gothic" pitchFamily="34" charset="0"/>
                <a:ea typeface="Malgun Gothic" pitchFamily="34" charset="-122"/>
                <a:cs typeface="Malgun Gothic" pitchFamily="34" charset="-120"/>
              </a:rPr>
              <a:t>중복 AI 요청 없이 결과 유지</a:t>
            </a:r>
            <a:endParaRPr lang="en-US" sz="820" dirty="0"/>
          </a:p>
        </p:txBody>
      </p:sp>
      <p:sp>
        <p:nvSpPr>
          <p:cNvPr id="38" name="Shape 36"/>
          <p:cNvSpPr/>
          <p:nvPr/>
        </p:nvSpPr>
        <p:spPr>
          <a:xfrm>
            <a:off x="9180576" y="4690872"/>
            <a:ext cx="2514600" cy="795528"/>
          </a:xfrm>
          <a:prstGeom prst="roundRect">
            <a:avLst>
              <a:gd name="adj" fmla="val 10345"/>
            </a:avLst>
          </a:prstGeom>
          <a:solidFill>
            <a:srgbClr val="FFFFFF"/>
          </a:solidFill>
          <a:ln w="12700">
            <a:solidFill>
              <a:srgbClr val="D8E2E5"/>
            </a:solidFill>
            <a:prstDash val="solid"/>
          </a:ln>
        </p:spPr>
      </p:sp>
      <p:sp>
        <p:nvSpPr>
          <p:cNvPr id="39" name="Text 37"/>
          <p:cNvSpPr/>
          <p:nvPr/>
        </p:nvSpPr>
        <p:spPr>
          <a:xfrm>
            <a:off x="9345168" y="4901184"/>
            <a:ext cx="841248" cy="201168"/>
          </a:xfrm>
          <a:prstGeom prst="rect">
            <a:avLst/>
          </a:prstGeom>
          <a:noFill/>
          <a:ln/>
        </p:spPr>
        <p:txBody>
          <a:bodyPr wrap="square" lIns="0" tIns="0" rIns="0" bIns="0" rtlCol="0" anchor="ctr"/>
          <a:lstStyle/>
          <a:p>
            <a:pPr indent="0" marL="0">
              <a:buNone/>
            </a:pPr>
            <a:r>
              <a:rPr lang="en-US" sz="920" b="1" dirty="0">
                <a:solidFill>
                  <a:srgbClr val="168CA3"/>
                </a:solidFill>
                <a:latin typeface="Malgun Gothic" pitchFamily="34" charset="0"/>
                <a:ea typeface="Malgun Gothic" pitchFamily="34" charset="-122"/>
                <a:cs typeface="Malgun Gothic" pitchFamily="34" charset="-120"/>
              </a:rPr>
              <a:t>이미지 보호</a:t>
            </a:r>
            <a:endParaRPr lang="en-US" sz="920" dirty="0"/>
          </a:p>
        </p:txBody>
      </p:sp>
      <p:sp>
        <p:nvSpPr>
          <p:cNvPr id="40" name="Text 38"/>
          <p:cNvSpPr/>
          <p:nvPr/>
        </p:nvSpPr>
        <p:spPr>
          <a:xfrm>
            <a:off x="10122408" y="4882896"/>
            <a:ext cx="1408176" cy="256032"/>
          </a:xfrm>
          <a:prstGeom prst="rect">
            <a:avLst/>
          </a:prstGeom>
          <a:noFill/>
          <a:ln/>
        </p:spPr>
        <p:txBody>
          <a:bodyPr wrap="square" lIns="0" tIns="0" rIns="0" bIns="0" rtlCol="0" anchor="ctr">
            <a:normAutofit/>
          </a:bodyPr>
          <a:lstStyle/>
          <a:p>
            <a:pPr indent="0" marL="0">
              <a:buNone/>
            </a:pPr>
            <a:r>
              <a:rPr lang="en-US" sz="820" dirty="0">
                <a:solidFill>
                  <a:srgbClr val="708087"/>
                </a:solidFill>
                <a:latin typeface="Malgun Gothic" pitchFamily="34" charset="0"/>
                <a:ea typeface="Malgun Gothic" pitchFamily="34" charset="-122"/>
                <a:cs typeface="Malgun Gothic" pitchFamily="34" charset="-120"/>
              </a:rPr>
              <a:t>임시 파일 삭제·서버 미저장</a:t>
            </a:r>
            <a:endParaRPr lang="en-US" sz="820" dirty="0"/>
          </a:p>
        </p:txBody>
      </p:sp>
      <p:sp>
        <p:nvSpPr>
          <p:cNvPr id="41" name="Text 39"/>
          <p:cNvSpPr/>
          <p:nvPr/>
        </p:nvSpPr>
        <p:spPr>
          <a:xfrm>
            <a:off x="411480" y="6528816"/>
            <a:ext cx="1463040" cy="182880"/>
          </a:xfrm>
          <a:prstGeom prst="rect">
            <a:avLst/>
          </a:prstGeom>
          <a:noFill/>
          <a:ln/>
        </p:spPr>
        <p:txBody>
          <a:bodyPr wrap="square" lIns="0" tIns="0" rIns="0" bIns="0" rtlCol="0" anchor="ctr"/>
          <a:lstStyle/>
          <a:p>
            <a:pPr indent="0" marL="0">
              <a:buNone/>
            </a:pPr>
            <a:r>
              <a:rPr lang="en-US" sz="750" b="1" dirty="0">
                <a:solidFill>
                  <a:srgbClr val="A4B0B4"/>
                </a:solidFill>
                <a:latin typeface="Malgun Gothic" pitchFamily="34" charset="0"/>
                <a:ea typeface="Malgun Gothic" pitchFamily="34" charset="-122"/>
                <a:cs typeface="Malgun Gothic" pitchFamily="34" charset="-120"/>
              </a:rPr>
              <a:t>CleanTouch</a:t>
            </a:r>
            <a:endParaRPr lang="en-US" sz="750" dirty="0"/>
          </a:p>
        </p:txBody>
      </p:sp>
      <p:sp>
        <p:nvSpPr>
          <p:cNvPr id="42" name="Text 40"/>
          <p:cNvSpPr/>
          <p:nvPr/>
        </p:nvSpPr>
        <p:spPr>
          <a:xfrm>
            <a:off x="11292840" y="6510528"/>
            <a:ext cx="457200" cy="182880"/>
          </a:xfrm>
          <a:prstGeom prst="rect">
            <a:avLst/>
          </a:prstGeom>
          <a:noFill/>
          <a:ln/>
        </p:spPr>
        <p:txBody>
          <a:bodyPr wrap="square" lIns="0" tIns="0" rIns="0" bIns="0" rtlCol="0" anchor="ctr"/>
          <a:lstStyle/>
          <a:p>
            <a:pPr algn="r" indent="0" marL="0">
              <a:buNone/>
            </a:pPr>
            <a:r>
              <a:rPr lang="en-US" sz="750" dirty="0">
                <a:solidFill>
                  <a:srgbClr val="A4B0B4"/>
                </a:solidFill>
                <a:latin typeface="Malgun Gothic" pitchFamily="34" charset="0"/>
                <a:ea typeface="Malgun Gothic" pitchFamily="34" charset="-122"/>
                <a:cs typeface="Malgun Gothic" pitchFamily="34" charset="-120"/>
              </a:rPr>
              <a:t>05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7F8"/>
        </a:solidFill>
      </p:bgPr>
    </p:bg>
    <p:spTree>
      <p:nvGrpSpPr>
        <p:cNvPr id="1" name=""/>
        <p:cNvGrpSpPr/>
        <p:nvPr/>
      </p:nvGrpSpPr>
      <p:grpSpPr>
        <a:xfrm>
          <a:off x="0" y="0"/>
          <a:ext cx="0" cy="0"/>
          <a:chOff x="0" y="0"/>
          <a:chExt cx="0" cy="0"/>
        </a:xfrm>
      </p:grpSpPr>
      <p:sp>
        <p:nvSpPr>
          <p:cNvPr id="2" name="Text 0"/>
          <p:cNvSpPr/>
          <p:nvPr/>
        </p:nvSpPr>
        <p:spPr>
          <a:xfrm>
            <a:off x="548640" y="347472"/>
            <a:ext cx="4114800" cy="228600"/>
          </a:xfrm>
          <a:prstGeom prst="rect">
            <a:avLst/>
          </a:prstGeom>
          <a:noFill/>
          <a:ln/>
        </p:spPr>
        <p:txBody>
          <a:bodyPr wrap="square" lIns="0" tIns="0" rIns="0" bIns="0" rtlCol="0" anchor="ctr"/>
          <a:lstStyle/>
          <a:p>
            <a:pPr indent="0" marL="0">
              <a:buNone/>
            </a:pPr>
            <a:r>
              <a:rPr lang="en-US" sz="850" b="1" spc="140" kern="0" dirty="0">
                <a:solidFill>
                  <a:srgbClr val="168CA3"/>
                </a:solidFill>
                <a:latin typeface="Malgun Gothic" pitchFamily="34" charset="0"/>
                <a:ea typeface="Malgun Gothic" pitchFamily="34" charset="-122"/>
                <a:cs typeface="Malgun Gothic" pitchFamily="34" charset="-120"/>
              </a:rPr>
              <a:t>05 · RESULT</a:t>
            </a:r>
            <a:endParaRPr lang="en-US" sz="850" dirty="0"/>
          </a:p>
        </p:txBody>
      </p:sp>
      <p:sp>
        <p:nvSpPr>
          <p:cNvPr id="3" name="Text 1"/>
          <p:cNvSpPr/>
          <p:nvPr/>
        </p:nvSpPr>
        <p:spPr>
          <a:xfrm>
            <a:off x="548640" y="685800"/>
            <a:ext cx="11064240" cy="566928"/>
          </a:xfrm>
          <a:prstGeom prst="rect">
            <a:avLst/>
          </a:prstGeom>
          <a:noFill/>
          <a:ln/>
        </p:spPr>
        <p:txBody>
          <a:bodyPr wrap="square" lIns="0" tIns="0" rIns="0" bIns="0" rtlCol="0" anchor="ctr">
            <a:normAutofit/>
          </a:bodyPr>
          <a:lstStyle/>
          <a:p>
            <a:pPr indent="0" marL="0">
              <a:buNone/>
            </a:pPr>
            <a:r>
              <a:rPr lang="en-US" sz="2500" b="1" dirty="0">
                <a:solidFill>
                  <a:srgbClr val="14272E"/>
                </a:solidFill>
                <a:latin typeface="Malgun Gothic" pitchFamily="34" charset="0"/>
                <a:ea typeface="Malgun Gothic" pitchFamily="34" charset="-122"/>
                <a:cs typeface="Malgun Gothic" pitchFamily="34" charset="-120"/>
              </a:rPr>
              <a:t>작게 보이는 가방도 실제 인식 성공</a:t>
            </a:r>
            <a:endParaRPr lang="en-US" sz="2500" dirty="0"/>
          </a:p>
        </p:txBody>
      </p:sp>
      <p:sp>
        <p:nvSpPr>
          <p:cNvPr id="4" name="Text 2"/>
          <p:cNvSpPr/>
          <p:nvPr/>
        </p:nvSpPr>
        <p:spPr>
          <a:xfrm>
            <a:off x="566928" y="1353312"/>
            <a:ext cx="10698480" cy="384048"/>
          </a:xfrm>
          <a:prstGeom prst="rect">
            <a:avLst/>
          </a:prstGeom>
          <a:noFill/>
          <a:ln/>
        </p:spPr>
        <p:txBody>
          <a:bodyPr wrap="square" lIns="0" tIns="0" rIns="0" bIns="0" rtlCol="0" anchor="ctr">
            <a:normAutofit/>
          </a:bodyPr>
          <a:lstStyle/>
          <a:p>
            <a:pPr indent="0" marL="0">
              <a:buNone/>
            </a:pPr>
            <a:r>
              <a:rPr lang="en-US" sz="1050" dirty="0">
                <a:solidFill>
                  <a:srgbClr val="708087"/>
                </a:solidFill>
                <a:latin typeface="Malgun Gothic" pitchFamily="34" charset="0"/>
                <a:ea typeface="Malgun Gothic" pitchFamily="34" charset="-122"/>
                <a:cs typeface="Malgun Gothic" pitchFamily="34" charset="-120"/>
              </a:rPr>
              <a:t>전체 화면 중앙의 작은 상품을 스캔한 실제 Android 결과입니다.</a:t>
            </a:r>
            <a:endParaRPr lang="en-US" sz="1050" dirty="0"/>
          </a:p>
        </p:txBody>
      </p:sp>
      <p:sp>
        <p:nvSpPr>
          <p:cNvPr id="5" name="Shape 3"/>
          <p:cNvSpPr/>
          <p:nvPr/>
        </p:nvSpPr>
        <p:spPr>
          <a:xfrm>
            <a:off x="594360" y="1874520"/>
            <a:ext cx="2267712" cy="4160520"/>
          </a:xfrm>
          <a:prstGeom prst="roundRect">
            <a:avLst>
              <a:gd name="adj" fmla="val 6855"/>
            </a:avLst>
          </a:prstGeom>
          <a:solidFill>
            <a:srgbClr val="14272E"/>
          </a:solidFill>
          <a:ln w="12700">
            <a:solidFill>
              <a:srgbClr val="14272E"/>
            </a:solidFill>
            <a:prstDash val="solid"/>
          </a:ln>
        </p:spPr>
      </p:sp>
      <p:pic>
        <p:nvPicPr>
          <p:cNvPr id="6" name="Image 0" descr="C:\Users\first2000\practice-board\artifacts\device-tests\product-screen.png">    </p:cNvPr>
          <p:cNvPicPr>
            <a:picLocks noChangeAspect="1"/>
          </p:cNvPicPr>
          <p:nvPr/>
        </p:nvPicPr>
        <p:blipFill>
          <a:blip r:embed="rId1"/>
          <a:stretch>
            <a:fillRect/>
          </a:stretch>
        </p:blipFill>
        <p:spPr>
          <a:xfrm>
            <a:off x="749808" y="1993392"/>
            <a:ext cx="1956816" cy="3767328"/>
          </a:xfrm>
          <a:prstGeom prst="rect">
            <a:avLst/>
          </a:prstGeom>
        </p:spPr>
      </p:pic>
      <p:sp>
        <p:nvSpPr>
          <p:cNvPr id="7" name="Text 4"/>
          <p:cNvSpPr/>
          <p:nvPr/>
        </p:nvSpPr>
        <p:spPr>
          <a:xfrm>
            <a:off x="1216152" y="5779008"/>
            <a:ext cx="1005840"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입력 화면</a:t>
            </a:r>
            <a:endParaRPr lang="en-US" sz="850" dirty="0"/>
          </a:p>
        </p:txBody>
      </p:sp>
      <p:sp>
        <p:nvSpPr>
          <p:cNvPr id="8" name="Shape 5"/>
          <p:cNvSpPr/>
          <p:nvPr/>
        </p:nvSpPr>
        <p:spPr>
          <a:xfrm>
            <a:off x="3172968" y="3310128"/>
            <a:ext cx="658368" cy="777240"/>
          </a:xfrm>
          <a:prstGeom prst="chevron">
            <a:avLst/>
          </a:prstGeom>
          <a:solidFill>
            <a:srgbClr val="38C9DF"/>
          </a:solidFill>
          <a:ln w="12700">
            <a:solidFill>
              <a:srgbClr val="38C9DF"/>
            </a:solidFill>
            <a:prstDash val="solid"/>
          </a:ln>
        </p:spPr>
      </p:sp>
      <p:sp>
        <p:nvSpPr>
          <p:cNvPr id="9" name="Shape 6"/>
          <p:cNvSpPr/>
          <p:nvPr/>
        </p:nvSpPr>
        <p:spPr>
          <a:xfrm>
            <a:off x="4114800" y="1874520"/>
            <a:ext cx="2267712" cy="4160520"/>
          </a:xfrm>
          <a:prstGeom prst="roundRect">
            <a:avLst>
              <a:gd name="adj" fmla="val 6855"/>
            </a:avLst>
          </a:prstGeom>
          <a:solidFill>
            <a:srgbClr val="FFFFFF"/>
          </a:solidFill>
          <a:ln w="12700">
            <a:solidFill>
              <a:srgbClr val="D8E2E5"/>
            </a:solidFill>
            <a:prstDash val="solid"/>
          </a:ln>
        </p:spPr>
      </p:sp>
      <p:pic>
        <p:nvPicPr>
          <p:cNvPr id="10" name="Image 1" descr="C:\Users\first2000\practice-board\artifacts\device-tests\scroll-result.png">    </p:cNvPr>
          <p:cNvPicPr>
            <a:picLocks noChangeAspect="1"/>
          </p:cNvPicPr>
          <p:nvPr/>
        </p:nvPicPr>
        <p:blipFill>
          <a:blip r:embed="rId2"/>
          <a:stretch>
            <a:fillRect/>
          </a:stretch>
        </p:blipFill>
        <p:spPr>
          <a:xfrm>
            <a:off x="4297680" y="1993392"/>
            <a:ext cx="1901952" cy="3767328"/>
          </a:xfrm>
          <a:prstGeom prst="rect">
            <a:avLst/>
          </a:prstGeom>
        </p:spPr>
      </p:pic>
      <p:sp>
        <p:nvSpPr>
          <p:cNvPr id="11" name="Text 7"/>
          <p:cNvSpPr/>
          <p:nvPr/>
        </p:nvSpPr>
        <p:spPr>
          <a:xfrm>
            <a:off x="4745736" y="5779008"/>
            <a:ext cx="1005840" cy="182880"/>
          </a:xfrm>
          <a:prstGeom prst="rect">
            <a:avLst/>
          </a:prstGeom>
          <a:noFill/>
          <a:ln/>
        </p:spPr>
        <p:txBody>
          <a:bodyPr wrap="square" lIns="0" tIns="0" rIns="0" bIns="0" rtlCol="0" anchor="ctr"/>
          <a:lstStyle/>
          <a:p>
            <a:pPr algn="ctr" indent="0" marL="0">
              <a:buNone/>
            </a:pPr>
            <a:r>
              <a:rPr lang="en-US" sz="850" b="1" dirty="0">
                <a:solidFill>
                  <a:srgbClr val="14272E"/>
                </a:solidFill>
                <a:latin typeface="Malgun Gothic" pitchFamily="34" charset="0"/>
                <a:ea typeface="Malgun Gothic" pitchFamily="34" charset="-122"/>
                <a:cs typeface="Malgun Gothic" pitchFamily="34" charset="-120"/>
              </a:rPr>
              <a:t>인식 결과</a:t>
            </a:r>
            <a:endParaRPr lang="en-US" sz="850" dirty="0"/>
          </a:p>
        </p:txBody>
      </p:sp>
      <p:sp>
        <p:nvSpPr>
          <p:cNvPr id="12" name="Shape 8"/>
          <p:cNvSpPr/>
          <p:nvPr/>
        </p:nvSpPr>
        <p:spPr>
          <a:xfrm>
            <a:off x="6839712" y="1874520"/>
            <a:ext cx="4754880" cy="4160520"/>
          </a:xfrm>
          <a:prstGeom prst="roundRect">
            <a:avLst>
              <a:gd name="adj" fmla="val 2857"/>
            </a:avLst>
          </a:prstGeom>
          <a:solidFill>
            <a:srgbClr val="FFFFFF"/>
          </a:solidFill>
          <a:ln w="12700">
            <a:solidFill>
              <a:srgbClr val="D8E2E5"/>
            </a:solidFill>
            <a:prstDash val="solid"/>
          </a:ln>
        </p:spPr>
      </p:sp>
      <p:sp>
        <p:nvSpPr>
          <p:cNvPr id="13" name="Shape 9"/>
          <p:cNvSpPr/>
          <p:nvPr/>
        </p:nvSpPr>
        <p:spPr>
          <a:xfrm>
            <a:off x="7178040" y="2212848"/>
            <a:ext cx="1097280" cy="329184"/>
          </a:xfrm>
          <a:prstGeom prst="roundRect">
            <a:avLst>
              <a:gd name="adj" fmla="val 22222"/>
            </a:avLst>
          </a:prstGeom>
          <a:solidFill>
            <a:srgbClr val="DFF8FC"/>
          </a:solidFill>
          <a:ln w="12700">
            <a:solidFill>
              <a:srgbClr val="DFF8FC"/>
            </a:solidFill>
            <a:prstDash val="solid"/>
          </a:ln>
        </p:spPr>
      </p:sp>
      <p:sp>
        <p:nvSpPr>
          <p:cNvPr id="14" name="Text 10"/>
          <p:cNvSpPr/>
          <p:nvPr/>
        </p:nvSpPr>
        <p:spPr>
          <a:xfrm>
            <a:off x="7232904" y="2281428"/>
            <a:ext cx="987552" cy="146304"/>
          </a:xfrm>
          <a:prstGeom prst="rect">
            <a:avLst/>
          </a:prstGeom>
          <a:noFill/>
          <a:ln/>
        </p:spPr>
        <p:txBody>
          <a:bodyPr wrap="square" lIns="0" tIns="0" rIns="0" bIns="0" rtlCol="0" anchor="ctr">
            <a:normAutofit/>
          </a:bodyPr>
          <a:lstStyle/>
          <a:p>
            <a:pPr algn="ctr" indent="0" marL="0">
              <a:buNone/>
            </a:pPr>
            <a:r>
              <a:rPr lang="en-US" sz="750" b="1" dirty="0">
                <a:solidFill>
                  <a:srgbClr val="168CA3"/>
                </a:solidFill>
                <a:latin typeface="Malgun Gothic" pitchFamily="34" charset="0"/>
                <a:ea typeface="Malgun Gothic" pitchFamily="34" charset="-122"/>
                <a:cs typeface="Malgun Gothic" pitchFamily="34" charset="-120"/>
              </a:rPr>
              <a:t>LIVE TEST</a:t>
            </a:r>
            <a:endParaRPr lang="en-US" sz="750" dirty="0"/>
          </a:p>
        </p:txBody>
      </p:sp>
      <p:sp>
        <p:nvSpPr>
          <p:cNvPr id="15" name="Text 11"/>
          <p:cNvSpPr/>
          <p:nvPr/>
        </p:nvSpPr>
        <p:spPr>
          <a:xfrm>
            <a:off x="7178040" y="2788920"/>
            <a:ext cx="3886200" cy="502920"/>
          </a:xfrm>
          <a:prstGeom prst="rect">
            <a:avLst/>
          </a:prstGeom>
          <a:noFill/>
          <a:ln/>
        </p:spPr>
        <p:txBody>
          <a:bodyPr wrap="square" lIns="0" tIns="0" rIns="0" bIns="0" rtlCol="0" anchor="ctr">
            <a:normAutofit/>
          </a:bodyPr>
          <a:lstStyle/>
          <a:p>
            <a:pPr indent="0" marL="0">
              <a:buNone/>
            </a:pPr>
            <a:r>
              <a:rPr lang="en-US" sz="2200" b="1" dirty="0">
                <a:solidFill>
                  <a:srgbClr val="14272E"/>
                </a:solidFill>
                <a:latin typeface="Malgun Gothic" pitchFamily="34" charset="0"/>
                <a:ea typeface="Malgun Gothic" pitchFamily="34" charset="-122"/>
                <a:cs typeface="Malgun Gothic" pitchFamily="34" charset="-120"/>
              </a:rPr>
              <a:t>검정색 미니 숄더백</a:t>
            </a:r>
            <a:endParaRPr lang="en-US" sz="2200" dirty="0"/>
          </a:p>
        </p:txBody>
      </p:sp>
      <p:sp>
        <p:nvSpPr>
          <p:cNvPr id="16" name="Text 12"/>
          <p:cNvSpPr/>
          <p:nvPr/>
        </p:nvSpPr>
        <p:spPr>
          <a:xfrm>
            <a:off x="7196328" y="3520440"/>
            <a:ext cx="3840480" cy="777240"/>
          </a:xfrm>
          <a:prstGeom prst="rect">
            <a:avLst/>
          </a:prstGeom>
          <a:noFill/>
          <a:ln/>
        </p:spPr>
        <p:txBody>
          <a:bodyPr wrap="square" lIns="0" tIns="0" rIns="0" bIns="0" rtlCol="0" anchor="ctr">
            <a:normAutofit/>
          </a:bodyPr>
          <a:lstStyle/>
          <a:p>
            <a:pPr indent="0" marL="0">
              <a:buNone/>
            </a:pPr>
            <a:r>
              <a:rPr lang="en-US" sz="1100" dirty="0">
                <a:solidFill>
                  <a:srgbClr val="708087"/>
                </a:solidFill>
                <a:latin typeface="Malgun Gothic" pitchFamily="34" charset="0"/>
                <a:ea typeface="Malgun Gothic" pitchFamily="34" charset="-122"/>
                <a:cs typeface="Malgun Gothic" pitchFamily="34" charset="-120"/>
              </a:rPr>
              <a:t>AI가 색상·형태·카테고리를 분석해</a:t>
            </a:r>
            <a:endParaRPr lang="en-US" sz="1100" dirty="0"/>
          </a:p>
          <a:p>
            <a:pPr indent="0" marL="0">
              <a:buNone/>
            </a:pPr>
            <a:r>
              <a:rPr lang="en-US" sz="1100" dirty="0">
                <a:solidFill>
                  <a:srgbClr val="708087"/>
                </a:solidFill>
                <a:latin typeface="Malgun Gothic" pitchFamily="34" charset="0"/>
                <a:ea typeface="Malgun Gothic" pitchFamily="34" charset="-122"/>
                <a:cs typeface="Malgun Gothic" pitchFamily="34" charset="-120"/>
              </a:rPr>
              <a:t>쇼핑 검색어와 판매처 경로를 생성</a:t>
            </a:r>
            <a:endParaRPr lang="en-US" sz="1100" dirty="0"/>
          </a:p>
        </p:txBody>
      </p:sp>
      <p:sp>
        <p:nvSpPr>
          <p:cNvPr id="17" name="Text 13"/>
          <p:cNvSpPr/>
          <p:nvPr/>
        </p:nvSpPr>
        <p:spPr>
          <a:xfrm>
            <a:off x="7168896" y="4681728"/>
            <a:ext cx="1143000" cy="347472"/>
          </a:xfrm>
          <a:prstGeom prst="rect">
            <a:avLst/>
          </a:prstGeom>
          <a:noFill/>
          <a:ln/>
        </p:spPr>
        <p:txBody>
          <a:bodyPr wrap="square" lIns="0" tIns="0" rIns="0" bIns="0" rtlCol="0" anchor="ctr"/>
          <a:lstStyle/>
          <a:p>
            <a:pPr algn="ctr" indent="0" marL="0">
              <a:buNone/>
            </a:pPr>
            <a:r>
              <a:rPr lang="en-US" sz="1700" b="1" dirty="0">
                <a:solidFill>
                  <a:srgbClr val="168CA3"/>
                </a:solidFill>
                <a:latin typeface="Malgun Gothic" pitchFamily="34" charset="0"/>
                <a:ea typeface="Malgun Gothic" pitchFamily="34" charset="-122"/>
                <a:cs typeface="Malgun Gothic" pitchFamily="34" charset="-120"/>
              </a:rPr>
              <a:t>2개</a:t>
            </a:r>
            <a:endParaRPr lang="en-US" sz="1700" dirty="0"/>
          </a:p>
        </p:txBody>
      </p:sp>
      <p:sp>
        <p:nvSpPr>
          <p:cNvPr id="18" name="Text 14"/>
          <p:cNvSpPr/>
          <p:nvPr/>
        </p:nvSpPr>
        <p:spPr>
          <a:xfrm>
            <a:off x="7168896" y="5138928"/>
            <a:ext cx="1143000" cy="411480"/>
          </a:xfrm>
          <a:prstGeom prst="rect">
            <a:avLst/>
          </a:prstGeom>
          <a:noFill/>
          <a:ln/>
        </p:spPr>
        <p:txBody>
          <a:bodyPr wrap="square" lIns="0" tIns="0" rIns="0" bIns="0" rtlCol="0" anchor="ctr">
            <a:normAutofit/>
          </a:bodyPr>
          <a:lstStyle/>
          <a:p>
            <a:pPr algn="ctr" indent="0" marL="0">
              <a:buNone/>
            </a:pPr>
            <a:r>
              <a:rPr lang="en-US" sz="780" dirty="0">
                <a:solidFill>
                  <a:srgbClr val="708087"/>
                </a:solidFill>
                <a:latin typeface="Malgun Gothic" pitchFamily="34" charset="0"/>
                <a:ea typeface="Malgun Gothic" pitchFamily="34" charset="-122"/>
                <a:cs typeface="Malgun Gothic" pitchFamily="34" charset="-120"/>
              </a:rPr>
              <a:t>쇼핑 검색 경로</a:t>
            </a:r>
            <a:endParaRPr lang="en-US" sz="780" dirty="0"/>
          </a:p>
        </p:txBody>
      </p:sp>
      <p:sp>
        <p:nvSpPr>
          <p:cNvPr id="19" name="Text 15"/>
          <p:cNvSpPr/>
          <p:nvPr/>
        </p:nvSpPr>
        <p:spPr>
          <a:xfrm>
            <a:off x="8522208" y="4681728"/>
            <a:ext cx="1143000" cy="347472"/>
          </a:xfrm>
          <a:prstGeom prst="rect">
            <a:avLst/>
          </a:prstGeom>
          <a:noFill/>
          <a:ln/>
        </p:spPr>
        <p:txBody>
          <a:bodyPr wrap="square" lIns="0" tIns="0" rIns="0" bIns="0" rtlCol="0" anchor="ctr"/>
          <a:lstStyle/>
          <a:p>
            <a:pPr algn="ctr" indent="0" marL="0">
              <a:buNone/>
            </a:pPr>
            <a:r>
              <a:rPr lang="en-US" sz="1700" b="1" dirty="0">
                <a:solidFill>
                  <a:srgbClr val="168CA3"/>
                </a:solidFill>
                <a:latin typeface="Malgun Gothic" pitchFamily="34" charset="0"/>
                <a:ea typeface="Malgun Gothic" pitchFamily="34" charset="-122"/>
                <a:cs typeface="Malgun Gothic" pitchFamily="34" charset="-120"/>
              </a:rPr>
              <a:t>16개</a:t>
            </a:r>
            <a:endParaRPr lang="en-US" sz="1700" dirty="0"/>
          </a:p>
        </p:txBody>
      </p:sp>
      <p:sp>
        <p:nvSpPr>
          <p:cNvPr id="20" name="Text 16"/>
          <p:cNvSpPr/>
          <p:nvPr/>
        </p:nvSpPr>
        <p:spPr>
          <a:xfrm>
            <a:off x="8522208" y="5138928"/>
            <a:ext cx="1143000" cy="411480"/>
          </a:xfrm>
          <a:prstGeom prst="rect">
            <a:avLst/>
          </a:prstGeom>
          <a:noFill/>
          <a:ln/>
        </p:spPr>
        <p:txBody>
          <a:bodyPr wrap="square" lIns="0" tIns="0" rIns="0" bIns="0" rtlCol="0" anchor="ctr">
            <a:normAutofit/>
          </a:bodyPr>
          <a:lstStyle/>
          <a:p>
            <a:pPr algn="ctr" indent="0" marL="0">
              <a:buNone/>
            </a:pPr>
            <a:r>
              <a:rPr lang="en-US" sz="780" dirty="0">
                <a:solidFill>
                  <a:srgbClr val="708087"/>
                </a:solidFill>
                <a:latin typeface="Malgun Gothic" pitchFamily="34" charset="0"/>
                <a:ea typeface="Malgun Gothic" pitchFamily="34" charset="-122"/>
                <a:cs typeface="Malgun Gothic" pitchFamily="34" charset="-120"/>
              </a:rPr>
              <a:t>서버 자동 테스트</a:t>
            </a:r>
            <a:endParaRPr lang="en-US" sz="780" dirty="0"/>
          </a:p>
        </p:txBody>
      </p:sp>
      <p:sp>
        <p:nvSpPr>
          <p:cNvPr id="21" name="Text 17"/>
          <p:cNvSpPr/>
          <p:nvPr/>
        </p:nvSpPr>
        <p:spPr>
          <a:xfrm>
            <a:off x="9875520" y="4681728"/>
            <a:ext cx="1143000" cy="347472"/>
          </a:xfrm>
          <a:prstGeom prst="rect">
            <a:avLst/>
          </a:prstGeom>
          <a:noFill/>
          <a:ln/>
        </p:spPr>
        <p:txBody>
          <a:bodyPr wrap="square" lIns="0" tIns="0" rIns="0" bIns="0" rtlCol="0" anchor="ctr"/>
          <a:lstStyle/>
          <a:p>
            <a:pPr algn="ctr" indent="0" marL="0">
              <a:buNone/>
            </a:pPr>
            <a:r>
              <a:rPr lang="en-US" sz="1700" b="1" dirty="0">
                <a:solidFill>
                  <a:srgbClr val="18866E"/>
                </a:solidFill>
                <a:latin typeface="Malgun Gothic" pitchFamily="34" charset="0"/>
                <a:ea typeface="Malgun Gothic" pitchFamily="34" charset="-122"/>
                <a:cs typeface="Malgun Gothic" pitchFamily="34" charset="-120"/>
              </a:rPr>
              <a:t>0개</a:t>
            </a:r>
            <a:endParaRPr lang="en-US" sz="1700" dirty="0"/>
          </a:p>
        </p:txBody>
      </p:sp>
      <p:sp>
        <p:nvSpPr>
          <p:cNvPr id="22" name="Text 18"/>
          <p:cNvSpPr/>
          <p:nvPr/>
        </p:nvSpPr>
        <p:spPr>
          <a:xfrm>
            <a:off x="9875520" y="5138928"/>
            <a:ext cx="1143000" cy="411480"/>
          </a:xfrm>
          <a:prstGeom prst="rect">
            <a:avLst/>
          </a:prstGeom>
          <a:noFill/>
          <a:ln/>
        </p:spPr>
        <p:txBody>
          <a:bodyPr wrap="square" lIns="0" tIns="0" rIns="0" bIns="0" rtlCol="0" anchor="ctr">
            <a:normAutofit/>
          </a:bodyPr>
          <a:lstStyle/>
          <a:p>
            <a:pPr algn="ctr" indent="0" marL="0">
              <a:buNone/>
            </a:pPr>
            <a:r>
              <a:rPr lang="en-US" sz="780" dirty="0">
                <a:solidFill>
                  <a:srgbClr val="708087"/>
                </a:solidFill>
                <a:latin typeface="Malgun Gothic" pitchFamily="34" charset="0"/>
                <a:ea typeface="Malgun Gothic" pitchFamily="34" charset="-122"/>
                <a:cs typeface="Malgun Gothic" pitchFamily="34" charset="-120"/>
              </a:rPr>
              <a:t>Android 린트 오류</a:t>
            </a:r>
            <a:endParaRPr lang="en-US" sz="780" dirty="0"/>
          </a:p>
        </p:txBody>
      </p:sp>
      <p:sp>
        <p:nvSpPr>
          <p:cNvPr id="23" name="Text 19"/>
          <p:cNvSpPr/>
          <p:nvPr/>
        </p:nvSpPr>
        <p:spPr>
          <a:xfrm>
            <a:off x="411480" y="6528816"/>
            <a:ext cx="1463040" cy="182880"/>
          </a:xfrm>
          <a:prstGeom prst="rect">
            <a:avLst/>
          </a:prstGeom>
          <a:noFill/>
          <a:ln/>
        </p:spPr>
        <p:txBody>
          <a:bodyPr wrap="square" lIns="0" tIns="0" rIns="0" bIns="0" rtlCol="0" anchor="ctr"/>
          <a:lstStyle/>
          <a:p>
            <a:pPr indent="0" marL="0">
              <a:buNone/>
            </a:pPr>
            <a:r>
              <a:rPr lang="en-US" sz="750" b="1" dirty="0">
                <a:solidFill>
                  <a:srgbClr val="A4B0B4"/>
                </a:solidFill>
                <a:latin typeface="Malgun Gothic" pitchFamily="34" charset="0"/>
                <a:ea typeface="Malgun Gothic" pitchFamily="34" charset="-122"/>
                <a:cs typeface="Malgun Gothic" pitchFamily="34" charset="-120"/>
              </a:rPr>
              <a:t>CleanTouch</a:t>
            </a:r>
            <a:endParaRPr lang="en-US" sz="750" dirty="0"/>
          </a:p>
        </p:txBody>
      </p:sp>
      <p:sp>
        <p:nvSpPr>
          <p:cNvPr id="24" name="Text 20"/>
          <p:cNvSpPr/>
          <p:nvPr/>
        </p:nvSpPr>
        <p:spPr>
          <a:xfrm>
            <a:off x="11292840" y="6510528"/>
            <a:ext cx="457200" cy="182880"/>
          </a:xfrm>
          <a:prstGeom prst="rect">
            <a:avLst/>
          </a:prstGeom>
          <a:noFill/>
          <a:ln/>
        </p:spPr>
        <p:txBody>
          <a:bodyPr wrap="square" lIns="0" tIns="0" rIns="0" bIns="0" rtlCol="0" anchor="ctr"/>
          <a:lstStyle/>
          <a:p>
            <a:pPr algn="r" indent="0" marL="0">
              <a:buNone/>
            </a:pPr>
            <a:r>
              <a:rPr lang="en-US" sz="750" dirty="0">
                <a:solidFill>
                  <a:srgbClr val="A4B0B4"/>
                </a:solidFill>
                <a:latin typeface="Malgun Gothic" pitchFamily="34" charset="0"/>
                <a:ea typeface="Malgun Gothic" pitchFamily="34" charset="-122"/>
                <a:cs typeface="Malgun Gothic" pitchFamily="34" charset="-120"/>
              </a:rPr>
              <a:t>06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7F8"/>
        </a:solidFill>
      </p:bgPr>
    </p:bg>
    <p:spTree>
      <p:nvGrpSpPr>
        <p:cNvPr id="1" name=""/>
        <p:cNvGrpSpPr/>
        <p:nvPr/>
      </p:nvGrpSpPr>
      <p:grpSpPr>
        <a:xfrm>
          <a:off x="0" y="0"/>
          <a:ext cx="0" cy="0"/>
          <a:chOff x="0" y="0"/>
          <a:chExt cx="0" cy="0"/>
        </a:xfrm>
      </p:grpSpPr>
      <p:sp>
        <p:nvSpPr>
          <p:cNvPr id="2" name="Text 0"/>
          <p:cNvSpPr/>
          <p:nvPr/>
        </p:nvSpPr>
        <p:spPr>
          <a:xfrm>
            <a:off x="548640" y="347472"/>
            <a:ext cx="4114800" cy="228600"/>
          </a:xfrm>
          <a:prstGeom prst="rect">
            <a:avLst/>
          </a:prstGeom>
          <a:noFill/>
          <a:ln/>
        </p:spPr>
        <p:txBody>
          <a:bodyPr wrap="square" lIns="0" tIns="0" rIns="0" bIns="0" rtlCol="0" anchor="ctr"/>
          <a:lstStyle/>
          <a:p>
            <a:pPr indent="0" marL="0">
              <a:buNone/>
            </a:pPr>
            <a:r>
              <a:rPr lang="en-US" sz="850" b="1" spc="140" kern="0" dirty="0">
                <a:solidFill>
                  <a:srgbClr val="168CA3"/>
                </a:solidFill>
                <a:latin typeface="Malgun Gothic" pitchFamily="34" charset="0"/>
                <a:ea typeface="Malgun Gothic" pitchFamily="34" charset="-122"/>
                <a:cs typeface="Malgun Gothic" pitchFamily="34" charset="-120"/>
              </a:rPr>
              <a:t>06 · TRUST</a:t>
            </a:r>
            <a:endParaRPr lang="en-US" sz="850" dirty="0"/>
          </a:p>
        </p:txBody>
      </p:sp>
      <p:sp>
        <p:nvSpPr>
          <p:cNvPr id="3" name="Text 1"/>
          <p:cNvSpPr/>
          <p:nvPr/>
        </p:nvSpPr>
        <p:spPr>
          <a:xfrm>
            <a:off x="548640" y="685800"/>
            <a:ext cx="11064240" cy="566928"/>
          </a:xfrm>
          <a:prstGeom prst="rect">
            <a:avLst/>
          </a:prstGeom>
          <a:noFill/>
          <a:ln/>
        </p:spPr>
        <p:txBody>
          <a:bodyPr wrap="square" lIns="0" tIns="0" rIns="0" bIns="0" rtlCol="0" anchor="ctr">
            <a:normAutofit/>
          </a:bodyPr>
          <a:lstStyle/>
          <a:p>
            <a:pPr indent="0" marL="0">
              <a:buNone/>
            </a:pPr>
            <a:r>
              <a:rPr lang="en-US" sz="2500" b="1" dirty="0">
                <a:solidFill>
                  <a:srgbClr val="14272E"/>
                </a:solidFill>
                <a:latin typeface="Malgun Gothic" pitchFamily="34" charset="0"/>
                <a:ea typeface="Malgun Gothic" pitchFamily="34" charset="-122"/>
                <a:cs typeface="Malgun Gothic" pitchFamily="34" charset="-120"/>
              </a:rPr>
              <a:t>버튼을 누른 순간만 처리하고, 실패도 설명한다</a:t>
            </a:r>
            <a:endParaRPr lang="en-US" sz="2500" dirty="0"/>
          </a:p>
        </p:txBody>
      </p:sp>
      <p:sp>
        <p:nvSpPr>
          <p:cNvPr id="4" name="Text 2"/>
          <p:cNvSpPr/>
          <p:nvPr/>
        </p:nvSpPr>
        <p:spPr>
          <a:xfrm>
            <a:off x="566928" y="1353312"/>
            <a:ext cx="10698480" cy="384048"/>
          </a:xfrm>
          <a:prstGeom prst="rect">
            <a:avLst/>
          </a:prstGeom>
          <a:noFill/>
          <a:ln/>
        </p:spPr>
        <p:txBody>
          <a:bodyPr wrap="square" lIns="0" tIns="0" rIns="0" bIns="0" rtlCol="0" anchor="ctr">
            <a:normAutofit/>
          </a:bodyPr>
          <a:lstStyle/>
          <a:p>
            <a:pPr indent="0" marL="0">
              <a:buNone/>
            </a:pPr>
            <a:r>
              <a:rPr lang="en-US" sz="1050" dirty="0">
                <a:solidFill>
                  <a:srgbClr val="708087"/>
                </a:solidFill>
                <a:latin typeface="Malgun Gothic" pitchFamily="34" charset="0"/>
                <a:ea typeface="Malgun Gothic" pitchFamily="34" charset="-122"/>
                <a:cs typeface="Malgun Gothic" pitchFamily="34" charset="-120"/>
              </a:rPr>
              <a:t>화면 공유 서비스인 만큼 사용자 통제와 오류 안내를 제품 기능으로 다뤘습니다.</a:t>
            </a:r>
            <a:endParaRPr lang="en-US" sz="1050" dirty="0"/>
          </a:p>
        </p:txBody>
      </p:sp>
      <p:sp>
        <p:nvSpPr>
          <p:cNvPr id="5" name="Shape 3"/>
          <p:cNvSpPr/>
          <p:nvPr/>
        </p:nvSpPr>
        <p:spPr>
          <a:xfrm>
            <a:off x="658368" y="1901952"/>
            <a:ext cx="5230368" cy="987552"/>
          </a:xfrm>
          <a:prstGeom prst="roundRect">
            <a:avLst>
              <a:gd name="adj" fmla="val 8333"/>
            </a:avLst>
          </a:prstGeom>
          <a:solidFill>
            <a:srgbClr val="FFFFFF"/>
          </a:solidFill>
          <a:ln w="12700">
            <a:solidFill>
              <a:srgbClr val="D8E2E5"/>
            </a:solidFill>
            <a:prstDash val="solid"/>
          </a:ln>
        </p:spPr>
      </p:sp>
      <p:sp>
        <p:nvSpPr>
          <p:cNvPr id="6" name="Shape 4"/>
          <p:cNvSpPr/>
          <p:nvPr/>
        </p:nvSpPr>
        <p:spPr>
          <a:xfrm>
            <a:off x="859536" y="2121408"/>
            <a:ext cx="530352" cy="530352"/>
          </a:xfrm>
          <a:prstGeom prst="ellipse">
            <a:avLst/>
          </a:prstGeom>
          <a:solidFill>
            <a:srgbClr val="DFF8FC"/>
          </a:solidFill>
          <a:ln w="12700">
            <a:solidFill>
              <a:srgbClr val="DFF8FC"/>
            </a:solidFill>
            <a:prstDash val="solid"/>
          </a:ln>
        </p:spPr>
      </p:sp>
      <p:sp>
        <p:nvSpPr>
          <p:cNvPr id="7" name="Text 5"/>
          <p:cNvSpPr/>
          <p:nvPr/>
        </p:nvSpPr>
        <p:spPr>
          <a:xfrm>
            <a:off x="905256" y="2295144"/>
            <a:ext cx="438912" cy="128016"/>
          </a:xfrm>
          <a:prstGeom prst="rect">
            <a:avLst/>
          </a:prstGeom>
          <a:noFill/>
          <a:ln/>
        </p:spPr>
        <p:txBody>
          <a:bodyPr wrap="square" lIns="0" tIns="0" rIns="0" bIns="0" rtlCol="0" anchor="ctr"/>
          <a:lstStyle/>
          <a:p>
            <a:pPr algn="ctr" indent="0" marL="0">
              <a:buNone/>
            </a:pPr>
            <a:r>
              <a:rPr lang="en-US" sz="750" b="1" dirty="0">
                <a:solidFill>
                  <a:srgbClr val="168CA3"/>
                </a:solidFill>
                <a:latin typeface="Malgun Gothic" pitchFamily="34" charset="0"/>
                <a:ea typeface="Malgun Gothic" pitchFamily="34" charset="-122"/>
                <a:cs typeface="Malgun Gothic" pitchFamily="34" charset="-120"/>
              </a:rPr>
              <a:t>01</a:t>
            </a:r>
            <a:endParaRPr lang="en-US" sz="750" dirty="0"/>
          </a:p>
        </p:txBody>
      </p:sp>
      <p:sp>
        <p:nvSpPr>
          <p:cNvPr id="8" name="Text 6"/>
          <p:cNvSpPr/>
          <p:nvPr/>
        </p:nvSpPr>
        <p:spPr>
          <a:xfrm>
            <a:off x="1591056" y="2121408"/>
            <a:ext cx="1417320" cy="228600"/>
          </a:xfrm>
          <a:prstGeom prst="rect">
            <a:avLst/>
          </a:prstGeom>
          <a:noFill/>
          <a:ln/>
        </p:spPr>
        <p:txBody>
          <a:bodyPr wrap="square" lIns="0" tIns="0" rIns="0" bIns="0" rtlCol="0" anchor="ctr">
            <a:normAutofit/>
          </a:bodyPr>
          <a:lstStyle/>
          <a:p>
            <a:pPr indent="0" marL="0">
              <a:buNone/>
            </a:pPr>
            <a:r>
              <a:rPr lang="en-US" sz="1100" b="1" dirty="0">
                <a:solidFill>
                  <a:srgbClr val="14272E"/>
                </a:solidFill>
                <a:latin typeface="Malgun Gothic" pitchFamily="34" charset="0"/>
                <a:ea typeface="Malgun Gothic" pitchFamily="34" charset="-122"/>
                <a:cs typeface="Malgun Gothic" pitchFamily="34" charset="-120"/>
              </a:rPr>
              <a:t>사용자 승인</a:t>
            </a:r>
            <a:endParaRPr lang="en-US" sz="1100" dirty="0"/>
          </a:p>
        </p:txBody>
      </p:sp>
      <p:sp>
        <p:nvSpPr>
          <p:cNvPr id="9" name="Text 7"/>
          <p:cNvSpPr/>
          <p:nvPr/>
        </p:nvSpPr>
        <p:spPr>
          <a:xfrm>
            <a:off x="2990088" y="2112264"/>
            <a:ext cx="2596896" cy="411480"/>
          </a:xfrm>
          <a:prstGeom prst="rect">
            <a:avLst/>
          </a:prstGeom>
          <a:noFill/>
          <a:ln/>
        </p:spPr>
        <p:txBody>
          <a:bodyPr wrap="square" lIns="0" tIns="0" rIns="0" bIns="0" rtlCol="0" anchor="ctr">
            <a:normAutofit/>
          </a:bodyPr>
          <a:lstStyle/>
          <a:p>
            <a:pPr indent="0" marL="0">
              <a:buNone/>
            </a:pPr>
            <a:r>
              <a:rPr lang="en-US" sz="880" dirty="0">
                <a:solidFill>
                  <a:srgbClr val="708087"/>
                </a:solidFill>
                <a:latin typeface="Malgun Gothic" pitchFamily="34" charset="0"/>
                <a:ea typeface="Malgun Gothic" pitchFamily="34" charset="-122"/>
                <a:cs typeface="Malgun Gothic" pitchFamily="34" charset="-120"/>
              </a:rPr>
              <a:t>Android 시스템이 전체 화면 공유를 직접 확인</a:t>
            </a:r>
            <a:endParaRPr lang="en-US" sz="880" dirty="0"/>
          </a:p>
        </p:txBody>
      </p:sp>
      <p:sp>
        <p:nvSpPr>
          <p:cNvPr id="10" name="Shape 8"/>
          <p:cNvSpPr/>
          <p:nvPr/>
        </p:nvSpPr>
        <p:spPr>
          <a:xfrm>
            <a:off x="6263640" y="1901952"/>
            <a:ext cx="5230368" cy="987552"/>
          </a:xfrm>
          <a:prstGeom prst="roundRect">
            <a:avLst>
              <a:gd name="adj" fmla="val 8333"/>
            </a:avLst>
          </a:prstGeom>
          <a:solidFill>
            <a:srgbClr val="FFFFFF"/>
          </a:solidFill>
          <a:ln w="12700">
            <a:solidFill>
              <a:srgbClr val="D8E2E5"/>
            </a:solidFill>
            <a:prstDash val="solid"/>
          </a:ln>
        </p:spPr>
      </p:sp>
      <p:sp>
        <p:nvSpPr>
          <p:cNvPr id="11" name="Shape 9"/>
          <p:cNvSpPr/>
          <p:nvPr/>
        </p:nvSpPr>
        <p:spPr>
          <a:xfrm>
            <a:off x="6464808" y="2121408"/>
            <a:ext cx="530352" cy="530352"/>
          </a:xfrm>
          <a:prstGeom prst="ellipse">
            <a:avLst/>
          </a:prstGeom>
          <a:solidFill>
            <a:srgbClr val="DFF8FC"/>
          </a:solidFill>
          <a:ln w="12700">
            <a:solidFill>
              <a:srgbClr val="DFF8FC"/>
            </a:solidFill>
            <a:prstDash val="solid"/>
          </a:ln>
        </p:spPr>
      </p:sp>
      <p:sp>
        <p:nvSpPr>
          <p:cNvPr id="12" name="Text 10"/>
          <p:cNvSpPr/>
          <p:nvPr/>
        </p:nvSpPr>
        <p:spPr>
          <a:xfrm>
            <a:off x="6510528" y="2295144"/>
            <a:ext cx="438912" cy="128016"/>
          </a:xfrm>
          <a:prstGeom prst="rect">
            <a:avLst/>
          </a:prstGeom>
          <a:noFill/>
          <a:ln/>
        </p:spPr>
        <p:txBody>
          <a:bodyPr wrap="square" lIns="0" tIns="0" rIns="0" bIns="0" rtlCol="0" anchor="ctr"/>
          <a:lstStyle/>
          <a:p>
            <a:pPr algn="ctr" indent="0" marL="0">
              <a:buNone/>
            </a:pPr>
            <a:r>
              <a:rPr lang="en-US" sz="750" b="1" dirty="0">
                <a:solidFill>
                  <a:srgbClr val="168CA3"/>
                </a:solidFill>
                <a:latin typeface="Malgun Gothic" pitchFamily="34" charset="0"/>
                <a:ea typeface="Malgun Gothic" pitchFamily="34" charset="-122"/>
                <a:cs typeface="Malgun Gothic" pitchFamily="34" charset="-120"/>
              </a:rPr>
              <a:t>02</a:t>
            </a:r>
            <a:endParaRPr lang="en-US" sz="750" dirty="0"/>
          </a:p>
        </p:txBody>
      </p:sp>
      <p:sp>
        <p:nvSpPr>
          <p:cNvPr id="13" name="Text 11"/>
          <p:cNvSpPr/>
          <p:nvPr/>
        </p:nvSpPr>
        <p:spPr>
          <a:xfrm>
            <a:off x="7196328" y="2121408"/>
            <a:ext cx="1417320" cy="228600"/>
          </a:xfrm>
          <a:prstGeom prst="rect">
            <a:avLst/>
          </a:prstGeom>
          <a:noFill/>
          <a:ln/>
        </p:spPr>
        <p:txBody>
          <a:bodyPr wrap="square" lIns="0" tIns="0" rIns="0" bIns="0" rtlCol="0" anchor="ctr">
            <a:normAutofit/>
          </a:bodyPr>
          <a:lstStyle/>
          <a:p>
            <a:pPr indent="0" marL="0">
              <a:buNone/>
            </a:pPr>
            <a:r>
              <a:rPr lang="en-US" sz="1100" b="1" dirty="0">
                <a:solidFill>
                  <a:srgbClr val="14272E"/>
                </a:solidFill>
                <a:latin typeface="Malgun Gothic" pitchFamily="34" charset="0"/>
                <a:ea typeface="Malgun Gothic" pitchFamily="34" charset="-122"/>
                <a:cs typeface="Malgun Gothic" pitchFamily="34" charset="-120"/>
              </a:rPr>
              <a:t>한 프레임 처리</a:t>
            </a:r>
            <a:endParaRPr lang="en-US" sz="1100" dirty="0"/>
          </a:p>
        </p:txBody>
      </p:sp>
      <p:sp>
        <p:nvSpPr>
          <p:cNvPr id="14" name="Text 12"/>
          <p:cNvSpPr/>
          <p:nvPr/>
        </p:nvSpPr>
        <p:spPr>
          <a:xfrm>
            <a:off x="8595360" y="2112264"/>
            <a:ext cx="2596896" cy="411480"/>
          </a:xfrm>
          <a:prstGeom prst="rect">
            <a:avLst/>
          </a:prstGeom>
          <a:noFill/>
          <a:ln/>
        </p:spPr>
        <p:txBody>
          <a:bodyPr wrap="square" lIns="0" tIns="0" rIns="0" bIns="0" rtlCol="0" anchor="ctr">
            <a:normAutofit/>
          </a:bodyPr>
          <a:lstStyle/>
          <a:p>
            <a:pPr indent="0" marL="0">
              <a:buNone/>
            </a:pPr>
            <a:r>
              <a:rPr lang="en-US" sz="880" dirty="0">
                <a:solidFill>
                  <a:srgbClr val="708087"/>
                </a:solidFill>
                <a:latin typeface="Malgun Gothic" pitchFamily="34" charset="0"/>
                <a:ea typeface="Malgun Gothic" pitchFamily="34" charset="-122"/>
                <a:cs typeface="Malgun Gothic" pitchFamily="34" charset="-120"/>
              </a:rPr>
              <a:t>버튼을 누른 순간만 이미지 파일을 생성</a:t>
            </a:r>
            <a:endParaRPr lang="en-US" sz="880" dirty="0"/>
          </a:p>
        </p:txBody>
      </p:sp>
      <p:sp>
        <p:nvSpPr>
          <p:cNvPr id="15" name="Shape 13"/>
          <p:cNvSpPr/>
          <p:nvPr/>
        </p:nvSpPr>
        <p:spPr>
          <a:xfrm>
            <a:off x="658368" y="3182112"/>
            <a:ext cx="5230368" cy="987552"/>
          </a:xfrm>
          <a:prstGeom prst="roundRect">
            <a:avLst>
              <a:gd name="adj" fmla="val 8333"/>
            </a:avLst>
          </a:prstGeom>
          <a:solidFill>
            <a:srgbClr val="FFFFFF"/>
          </a:solidFill>
          <a:ln w="12700">
            <a:solidFill>
              <a:srgbClr val="D8E2E5"/>
            </a:solidFill>
            <a:prstDash val="solid"/>
          </a:ln>
        </p:spPr>
      </p:sp>
      <p:sp>
        <p:nvSpPr>
          <p:cNvPr id="16" name="Shape 14"/>
          <p:cNvSpPr/>
          <p:nvPr/>
        </p:nvSpPr>
        <p:spPr>
          <a:xfrm>
            <a:off x="859536" y="3401568"/>
            <a:ext cx="530352" cy="530352"/>
          </a:xfrm>
          <a:prstGeom prst="ellipse">
            <a:avLst/>
          </a:prstGeom>
          <a:solidFill>
            <a:srgbClr val="DFF8FC"/>
          </a:solidFill>
          <a:ln w="12700">
            <a:solidFill>
              <a:srgbClr val="DFF8FC"/>
            </a:solidFill>
            <a:prstDash val="solid"/>
          </a:ln>
        </p:spPr>
      </p:sp>
      <p:sp>
        <p:nvSpPr>
          <p:cNvPr id="17" name="Text 15"/>
          <p:cNvSpPr/>
          <p:nvPr/>
        </p:nvSpPr>
        <p:spPr>
          <a:xfrm>
            <a:off x="905256" y="3575304"/>
            <a:ext cx="438912" cy="128016"/>
          </a:xfrm>
          <a:prstGeom prst="rect">
            <a:avLst/>
          </a:prstGeom>
          <a:noFill/>
          <a:ln/>
        </p:spPr>
        <p:txBody>
          <a:bodyPr wrap="square" lIns="0" tIns="0" rIns="0" bIns="0" rtlCol="0" anchor="ctr"/>
          <a:lstStyle/>
          <a:p>
            <a:pPr algn="ctr" indent="0" marL="0">
              <a:buNone/>
            </a:pPr>
            <a:r>
              <a:rPr lang="en-US" sz="750" b="1" dirty="0">
                <a:solidFill>
                  <a:srgbClr val="168CA3"/>
                </a:solidFill>
                <a:latin typeface="Malgun Gothic" pitchFamily="34" charset="0"/>
                <a:ea typeface="Malgun Gothic" pitchFamily="34" charset="-122"/>
                <a:cs typeface="Malgun Gothic" pitchFamily="34" charset="-120"/>
              </a:rPr>
              <a:t>03</a:t>
            </a:r>
            <a:endParaRPr lang="en-US" sz="750" dirty="0"/>
          </a:p>
        </p:txBody>
      </p:sp>
      <p:sp>
        <p:nvSpPr>
          <p:cNvPr id="18" name="Text 16"/>
          <p:cNvSpPr/>
          <p:nvPr/>
        </p:nvSpPr>
        <p:spPr>
          <a:xfrm>
            <a:off x="1591056" y="3401568"/>
            <a:ext cx="1417320" cy="228600"/>
          </a:xfrm>
          <a:prstGeom prst="rect">
            <a:avLst/>
          </a:prstGeom>
          <a:noFill/>
          <a:ln/>
        </p:spPr>
        <p:txBody>
          <a:bodyPr wrap="square" lIns="0" tIns="0" rIns="0" bIns="0" rtlCol="0" anchor="ctr">
            <a:normAutofit/>
          </a:bodyPr>
          <a:lstStyle/>
          <a:p>
            <a:pPr indent="0" marL="0">
              <a:buNone/>
            </a:pPr>
            <a:r>
              <a:rPr lang="en-US" sz="1100" b="1" dirty="0">
                <a:solidFill>
                  <a:srgbClr val="14272E"/>
                </a:solidFill>
                <a:latin typeface="Malgun Gothic" pitchFamily="34" charset="0"/>
                <a:ea typeface="Malgun Gothic" pitchFamily="34" charset="-122"/>
                <a:cs typeface="Malgun Gothic" pitchFamily="34" charset="-120"/>
              </a:rPr>
              <a:t>저장 최소화</a:t>
            </a:r>
            <a:endParaRPr lang="en-US" sz="1100" dirty="0"/>
          </a:p>
        </p:txBody>
      </p:sp>
      <p:sp>
        <p:nvSpPr>
          <p:cNvPr id="19" name="Text 17"/>
          <p:cNvSpPr/>
          <p:nvPr/>
        </p:nvSpPr>
        <p:spPr>
          <a:xfrm>
            <a:off x="2990088" y="3392424"/>
            <a:ext cx="2596896" cy="411480"/>
          </a:xfrm>
          <a:prstGeom prst="rect">
            <a:avLst/>
          </a:prstGeom>
          <a:noFill/>
          <a:ln/>
        </p:spPr>
        <p:txBody>
          <a:bodyPr wrap="square" lIns="0" tIns="0" rIns="0" bIns="0" rtlCol="0" anchor="ctr">
            <a:normAutofit/>
          </a:bodyPr>
          <a:lstStyle/>
          <a:p>
            <a:pPr indent="0" marL="0">
              <a:buNone/>
            </a:pPr>
            <a:r>
              <a:rPr lang="en-US" sz="880" dirty="0">
                <a:solidFill>
                  <a:srgbClr val="708087"/>
                </a:solidFill>
                <a:latin typeface="Malgun Gothic" pitchFamily="34" charset="0"/>
                <a:ea typeface="Malgun Gothic" pitchFamily="34" charset="-122"/>
                <a:cs typeface="Malgun Gothic" pitchFamily="34" charset="-120"/>
              </a:rPr>
              <a:t>앱 임시 파일 삭제·서버 디스크 미저장</a:t>
            </a:r>
            <a:endParaRPr lang="en-US" sz="880" dirty="0"/>
          </a:p>
        </p:txBody>
      </p:sp>
      <p:sp>
        <p:nvSpPr>
          <p:cNvPr id="20" name="Shape 18"/>
          <p:cNvSpPr/>
          <p:nvPr/>
        </p:nvSpPr>
        <p:spPr>
          <a:xfrm>
            <a:off x="6263640" y="3182112"/>
            <a:ext cx="5230368" cy="987552"/>
          </a:xfrm>
          <a:prstGeom prst="roundRect">
            <a:avLst>
              <a:gd name="adj" fmla="val 8333"/>
            </a:avLst>
          </a:prstGeom>
          <a:solidFill>
            <a:srgbClr val="FFFFFF"/>
          </a:solidFill>
          <a:ln w="12700">
            <a:solidFill>
              <a:srgbClr val="D8E2E5"/>
            </a:solidFill>
            <a:prstDash val="solid"/>
          </a:ln>
        </p:spPr>
      </p:sp>
      <p:sp>
        <p:nvSpPr>
          <p:cNvPr id="21" name="Shape 19"/>
          <p:cNvSpPr/>
          <p:nvPr/>
        </p:nvSpPr>
        <p:spPr>
          <a:xfrm>
            <a:off x="6464808" y="3401568"/>
            <a:ext cx="530352" cy="530352"/>
          </a:xfrm>
          <a:prstGeom prst="ellipse">
            <a:avLst/>
          </a:prstGeom>
          <a:solidFill>
            <a:srgbClr val="DFF8FC"/>
          </a:solidFill>
          <a:ln w="12700">
            <a:solidFill>
              <a:srgbClr val="DFF8FC"/>
            </a:solidFill>
            <a:prstDash val="solid"/>
          </a:ln>
        </p:spPr>
      </p:sp>
      <p:sp>
        <p:nvSpPr>
          <p:cNvPr id="22" name="Text 20"/>
          <p:cNvSpPr/>
          <p:nvPr/>
        </p:nvSpPr>
        <p:spPr>
          <a:xfrm>
            <a:off x="6510528" y="3575304"/>
            <a:ext cx="438912" cy="128016"/>
          </a:xfrm>
          <a:prstGeom prst="rect">
            <a:avLst/>
          </a:prstGeom>
          <a:noFill/>
          <a:ln/>
        </p:spPr>
        <p:txBody>
          <a:bodyPr wrap="square" lIns="0" tIns="0" rIns="0" bIns="0" rtlCol="0" anchor="ctr"/>
          <a:lstStyle/>
          <a:p>
            <a:pPr algn="ctr" indent="0" marL="0">
              <a:buNone/>
            </a:pPr>
            <a:r>
              <a:rPr lang="en-US" sz="750" b="1" dirty="0">
                <a:solidFill>
                  <a:srgbClr val="168CA3"/>
                </a:solidFill>
                <a:latin typeface="Malgun Gothic" pitchFamily="34" charset="0"/>
                <a:ea typeface="Malgun Gothic" pitchFamily="34" charset="-122"/>
                <a:cs typeface="Malgun Gothic" pitchFamily="34" charset="-120"/>
              </a:rPr>
              <a:t>04</a:t>
            </a:r>
            <a:endParaRPr lang="en-US" sz="750" dirty="0"/>
          </a:p>
        </p:txBody>
      </p:sp>
      <p:sp>
        <p:nvSpPr>
          <p:cNvPr id="23" name="Text 21"/>
          <p:cNvSpPr/>
          <p:nvPr/>
        </p:nvSpPr>
        <p:spPr>
          <a:xfrm>
            <a:off x="7196328" y="3401568"/>
            <a:ext cx="1417320" cy="228600"/>
          </a:xfrm>
          <a:prstGeom prst="rect">
            <a:avLst/>
          </a:prstGeom>
          <a:noFill/>
          <a:ln/>
        </p:spPr>
        <p:txBody>
          <a:bodyPr wrap="square" lIns="0" tIns="0" rIns="0" bIns="0" rtlCol="0" anchor="ctr">
            <a:normAutofit/>
          </a:bodyPr>
          <a:lstStyle/>
          <a:p>
            <a:pPr indent="0" marL="0">
              <a:buNone/>
            </a:pPr>
            <a:r>
              <a:rPr lang="en-US" sz="1100" b="1" dirty="0">
                <a:solidFill>
                  <a:srgbClr val="14272E"/>
                </a:solidFill>
                <a:latin typeface="Malgun Gothic" pitchFamily="34" charset="0"/>
                <a:ea typeface="Malgun Gothic" pitchFamily="34" charset="-122"/>
                <a:cs typeface="Malgun Gothic" pitchFamily="34" charset="-120"/>
              </a:rPr>
              <a:t>안전한 응답</a:t>
            </a:r>
            <a:endParaRPr lang="en-US" sz="1100" dirty="0"/>
          </a:p>
        </p:txBody>
      </p:sp>
      <p:sp>
        <p:nvSpPr>
          <p:cNvPr id="24" name="Text 22"/>
          <p:cNvSpPr/>
          <p:nvPr/>
        </p:nvSpPr>
        <p:spPr>
          <a:xfrm>
            <a:off x="8595360" y="3392424"/>
            <a:ext cx="2596896" cy="411480"/>
          </a:xfrm>
          <a:prstGeom prst="rect">
            <a:avLst/>
          </a:prstGeom>
          <a:noFill/>
          <a:ln/>
        </p:spPr>
        <p:txBody>
          <a:bodyPr wrap="square" lIns="0" tIns="0" rIns="0" bIns="0" rtlCol="0" anchor="ctr">
            <a:normAutofit/>
          </a:bodyPr>
          <a:lstStyle/>
          <a:p>
            <a:pPr indent="0" marL="0">
              <a:buNone/>
            </a:pPr>
            <a:r>
              <a:rPr lang="en-US" sz="880" dirty="0">
                <a:solidFill>
                  <a:srgbClr val="708087"/>
                </a:solidFill>
                <a:latin typeface="Malgun Gothic" pitchFamily="34" charset="0"/>
                <a:ea typeface="Malgun Gothic" pitchFamily="34" charset="-122"/>
                <a:cs typeface="Malgun Gothic" pitchFamily="34" charset="-120"/>
              </a:rPr>
              <a:t>손상 이미지·잘못된 URL·비정상 AI 응답 차단</a:t>
            </a:r>
            <a:endParaRPr lang="en-US" sz="880" dirty="0"/>
          </a:p>
        </p:txBody>
      </p:sp>
      <p:sp>
        <p:nvSpPr>
          <p:cNvPr id="25" name="Shape 23"/>
          <p:cNvSpPr/>
          <p:nvPr/>
        </p:nvSpPr>
        <p:spPr>
          <a:xfrm>
            <a:off x="658368" y="4462272"/>
            <a:ext cx="5230368" cy="987552"/>
          </a:xfrm>
          <a:prstGeom prst="roundRect">
            <a:avLst>
              <a:gd name="adj" fmla="val 8333"/>
            </a:avLst>
          </a:prstGeom>
          <a:solidFill>
            <a:srgbClr val="FFFFFF"/>
          </a:solidFill>
          <a:ln w="12700">
            <a:solidFill>
              <a:srgbClr val="D8E2E5"/>
            </a:solidFill>
            <a:prstDash val="solid"/>
          </a:ln>
        </p:spPr>
      </p:sp>
      <p:sp>
        <p:nvSpPr>
          <p:cNvPr id="26" name="Shape 24"/>
          <p:cNvSpPr/>
          <p:nvPr/>
        </p:nvSpPr>
        <p:spPr>
          <a:xfrm>
            <a:off x="859536" y="4681728"/>
            <a:ext cx="530352" cy="530352"/>
          </a:xfrm>
          <a:prstGeom prst="ellipse">
            <a:avLst/>
          </a:prstGeom>
          <a:solidFill>
            <a:srgbClr val="EEEAFB"/>
          </a:solidFill>
          <a:ln w="12700">
            <a:solidFill>
              <a:srgbClr val="EEEAFB"/>
            </a:solidFill>
            <a:prstDash val="solid"/>
          </a:ln>
        </p:spPr>
      </p:sp>
      <p:sp>
        <p:nvSpPr>
          <p:cNvPr id="27" name="Text 25"/>
          <p:cNvSpPr/>
          <p:nvPr/>
        </p:nvSpPr>
        <p:spPr>
          <a:xfrm>
            <a:off x="905256" y="4855464"/>
            <a:ext cx="438912" cy="128016"/>
          </a:xfrm>
          <a:prstGeom prst="rect">
            <a:avLst/>
          </a:prstGeom>
          <a:noFill/>
          <a:ln/>
        </p:spPr>
        <p:txBody>
          <a:bodyPr wrap="square" lIns="0" tIns="0" rIns="0" bIns="0" rtlCol="0" anchor="ctr"/>
          <a:lstStyle/>
          <a:p>
            <a:pPr algn="ctr" indent="0" marL="0">
              <a:buNone/>
            </a:pPr>
            <a:r>
              <a:rPr lang="en-US" sz="750" b="1" dirty="0">
                <a:solidFill>
                  <a:srgbClr val="6550B6"/>
                </a:solidFill>
                <a:latin typeface="Malgun Gothic" pitchFamily="34" charset="0"/>
                <a:ea typeface="Malgun Gothic" pitchFamily="34" charset="-122"/>
                <a:cs typeface="Malgun Gothic" pitchFamily="34" charset="-120"/>
              </a:rPr>
              <a:t>05</a:t>
            </a:r>
            <a:endParaRPr lang="en-US" sz="750" dirty="0"/>
          </a:p>
        </p:txBody>
      </p:sp>
      <p:sp>
        <p:nvSpPr>
          <p:cNvPr id="28" name="Text 26"/>
          <p:cNvSpPr/>
          <p:nvPr/>
        </p:nvSpPr>
        <p:spPr>
          <a:xfrm>
            <a:off x="1591056" y="4681728"/>
            <a:ext cx="1417320" cy="228600"/>
          </a:xfrm>
          <a:prstGeom prst="rect">
            <a:avLst/>
          </a:prstGeom>
          <a:noFill/>
          <a:ln/>
        </p:spPr>
        <p:txBody>
          <a:bodyPr wrap="square" lIns="0" tIns="0" rIns="0" bIns="0" rtlCol="0" anchor="ctr">
            <a:normAutofit/>
          </a:bodyPr>
          <a:lstStyle/>
          <a:p>
            <a:pPr indent="0" marL="0">
              <a:buNone/>
            </a:pPr>
            <a:r>
              <a:rPr lang="en-US" sz="1100" b="1" dirty="0">
                <a:solidFill>
                  <a:srgbClr val="14272E"/>
                </a:solidFill>
                <a:latin typeface="Malgun Gothic" pitchFamily="34" charset="0"/>
                <a:ea typeface="Malgun Gothic" pitchFamily="34" charset="-122"/>
                <a:cs typeface="Malgun Gothic" pitchFamily="34" charset="-120"/>
              </a:rPr>
              <a:t>명확한 한도 안내</a:t>
            </a:r>
            <a:endParaRPr lang="en-US" sz="1100" dirty="0"/>
          </a:p>
        </p:txBody>
      </p:sp>
      <p:sp>
        <p:nvSpPr>
          <p:cNvPr id="29" name="Text 27"/>
          <p:cNvSpPr/>
          <p:nvPr/>
        </p:nvSpPr>
        <p:spPr>
          <a:xfrm>
            <a:off x="2990088" y="4672584"/>
            <a:ext cx="2596896" cy="411480"/>
          </a:xfrm>
          <a:prstGeom prst="rect">
            <a:avLst/>
          </a:prstGeom>
          <a:noFill/>
          <a:ln/>
        </p:spPr>
        <p:txBody>
          <a:bodyPr wrap="square" lIns="0" tIns="0" rIns="0" bIns="0" rtlCol="0" anchor="ctr">
            <a:normAutofit/>
          </a:bodyPr>
          <a:lstStyle/>
          <a:p>
            <a:pPr indent="0" marL="0">
              <a:buNone/>
            </a:pPr>
            <a:r>
              <a:rPr lang="en-US" sz="880" dirty="0">
                <a:solidFill>
                  <a:srgbClr val="708087"/>
                </a:solidFill>
                <a:latin typeface="Malgun Gothic" pitchFamily="34" charset="0"/>
                <a:ea typeface="Malgun Gothic" pitchFamily="34" charset="-122"/>
                <a:cs typeface="Malgun Gothic" pitchFamily="34" charset="-120"/>
              </a:rPr>
              <a:t>무료 AI 한도 초과를 서버 장애와 구분</a:t>
            </a:r>
            <a:endParaRPr lang="en-US" sz="880" dirty="0"/>
          </a:p>
        </p:txBody>
      </p:sp>
      <p:sp>
        <p:nvSpPr>
          <p:cNvPr id="30" name="Shape 28"/>
          <p:cNvSpPr/>
          <p:nvPr/>
        </p:nvSpPr>
        <p:spPr>
          <a:xfrm>
            <a:off x="6263640" y="4462272"/>
            <a:ext cx="5230368" cy="987552"/>
          </a:xfrm>
          <a:prstGeom prst="roundRect">
            <a:avLst>
              <a:gd name="adj" fmla="val 8333"/>
            </a:avLst>
          </a:prstGeom>
          <a:solidFill>
            <a:srgbClr val="FFFFFF"/>
          </a:solidFill>
          <a:ln w="12700">
            <a:solidFill>
              <a:srgbClr val="D8E2E5"/>
            </a:solidFill>
            <a:prstDash val="solid"/>
          </a:ln>
        </p:spPr>
      </p:sp>
      <p:sp>
        <p:nvSpPr>
          <p:cNvPr id="31" name="Shape 29"/>
          <p:cNvSpPr/>
          <p:nvPr/>
        </p:nvSpPr>
        <p:spPr>
          <a:xfrm>
            <a:off x="6464808" y="4681728"/>
            <a:ext cx="530352" cy="530352"/>
          </a:xfrm>
          <a:prstGeom prst="ellipse">
            <a:avLst/>
          </a:prstGeom>
          <a:solidFill>
            <a:srgbClr val="EEEAFB"/>
          </a:solidFill>
          <a:ln w="12700">
            <a:solidFill>
              <a:srgbClr val="EEEAFB"/>
            </a:solidFill>
            <a:prstDash val="solid"/>
          </a:ln>
        </p:spPr>
      </p:sp>
      <p:sp>
        <p:nvSpPr>
          <p:cNvPr id="32" name="Text 30"/>
          <p:cNvSpPr/>
          <p:nvPr/>
        </p:nvSpPr>
        <p:spPr>
          <a:xfrm>
            <a:off x="6510528" y="4855464"/>
            <a:ext cx="438912" cy="128016"/>
          </a:xfrm>
          <a:prstGeom prst="rect">
            <a:avLst/>
          </a:prstGeom>
          <a:noFill/>
          <a:ln/>
        </p:spPr>
        <p:txBody>
          <a:bodyPr wrap="square" lIns="0" tIns="0" rIns="0" bIns="0" rtlCol="0" anchor="ctr"/>
          <a:lstStyle/>
          <a:p>
            <a:pPr algn="ctr" indent="0" marL="0">
              <a:buNone/>
            </a:pPr>
            <a:r>
              <a:rPr lang="en-US" sz="750" b="1" dirty="0">
                <a:solidFill>
                  <a:srgbClr val="6550B6"/>
                </a:solidFill>
                <a:latin typeface="Malgun Gothic" pitchFamily="34" charset="0"/>
                <a:ea typeface="Malgun Gothic" pitchFamily="34" charset="-122"/>
                <a:cs typeface="Malgun Gothic" pitchFamily="34" charset="-120"/>
              </a:rPr>
              <a:t>06</a:t>
            </a:r>
            <a:endParaRPr lang="en-US" sz="750" dirty="0"/>
          </a:p>
        </p:txBody>
      </p:sp>
      <p:sp>
        <p:nvSpPr>
          <p:cNvPr id="33" name="Text 31"/>
          <p:cNvSpPr/>
          <p:nvPr/>
        </p:nvSpPr>
        <p:spPr>
          <a:xfrm>
            <a:off x="7196328" y="4681728"/>
            <a:ext cx="1417320" cy="228600"/>
          </a:xfrm>
          <a:prstGeom prst="rect">
            <a:avLst/>
          </a:prstGeom>
          <a:noFill/>
          <a:ln/>
        </p:spPr>
        <p:txBody>
          <a:bodyPr wrap="square" lIns="0" tIns="0" rIns="0" bIns="0" rtlCol="0" anchor="ctr">
            <a:normAutofit/>
          </a:bodyPr>
          <a:lstStyle/>
          <a:p>
            <a:pPr indent="0" marL="0">
              <a:buNone/>
            </a:pPr>
            <a:r>
              <a:rPr lang="en-US" sz="1100" b="1" dirty="0">
                <a:solidFill>
                  <a:srgbClr val="14272E"/>
                </a:solidFill>
                <a:latin typeface="Malgun Gothic" pitchFamily="34" charset="0"/>
                <a:ea typeface="Malgun Gothic" pitchFamily="34" charset="-122"/>
                <a:cs typeface="Malgun Gothic" pitchFamily="34" charset="-120"/>
              </a:rPr>
              <a:t>언제든 종료</a:t>
            </a:r>
            <a:endParaRPr lang="en-US" sz="1100" dirty="0"/>
          </a:p>
        </p:txBody>
      </p:sp>
      <p:sp>
        <p:nvSpPr>
          <p:cNvPr id="34" name="Text 32"/>
          <p:cNvSpPr/>
          <p:nvPr/>
        </p:nvSpPr>
        <p:spPr>
          <a:xfrm>
            <a:off x="8595360" y="4672584"/>
            <a:ext cx="2596896" cy="411480"/>
          </a:xfrm>
          <a:prstGeom prst="rect">
            <a:avLst/>
          </a:prstGeom>
          <a:noFill/>
          <a:ln/>
        </p:spPr>
        <p:txBody>
          <a:bodyPr wrap="square" lIns="0" tIns="0" rIns="0" bIns="0" rtlCol="0" anchor="ctr">
            <a:normAutofit/>
          </a:bodyPr>
          <a:lstStyle/>
          <a:p>
            <a:pPr indent="0" marL="0">
              <a:buNone/>
            </a:pPr>
            <a:r>
              <a:rPr lang="en-US" sz="880" dirty="0">
                <a:solidFill>
                  <a:srgbClr val="708087"/>
                </a:solidFill>
                <a:latin typeface="Malgun Gothic" pitchFamily="34" charset="0"/>
                <a:ea typeface="Malgun Gothic" pitchFamily="34" charset="-122"/>
                <a:cs typeface="Malgun Gothic" pitchFamily="34" charset="-120"/>
              </a:rPr>
              <a:t>지속 알림에서 스캔 모드를 즉시 중단</a:t>
            </a:r>
            <a:endParaRPr lang="en-US" sz="880" dirty="0"/>
          </a:p>
        </p:txBody>
      </p:sp>
      <p:sp>
        <p:nvSpPr>
          <p:cNvPr id="35" name="Text 33"/>
          <p:cNvSpPr/>
          <p:nvPr/>
        </p:nvSpPr>
        <p:spPr>
          <a:xfrm>
            <a:off x="1508760" y="5806440"/>
            <a:ext cx="9189720" cy="274320"/>
          </a:xfrm>
          <a:prstGeom prst="rect">
            <a:avLst/>
          </a:prstGeom>
          <a:noFill/>
          <a:ln/>
        </p:spPr>
        <p:txBody>
          <a:bodyPr wrap="square" lIns="0" tIns="0" rIns="0" bIns="0" rtlCol="0" anchor="ctr">
            <a:normAutofit/>
          </a:bodyPr>
          <a:lstStyle/>
          <a:p>
            <a:pPr algn="ctr" indent="0" marL="0">
              <a:buNone/>
            </a:pPr>
            <a:r>
              <a:rPr lang="en-US" sz="900" b="1" dirty="0">
                <a:solidFill>
                  <a:srgbClr val="8A5A00"/>
                </a:solidFill>
                <a:latin typeface="Malgun Gothic" pitchFamily="34" charset="0"/>
                <a:ea typeface="Malgun Gothic" pitchFamily="34" charset="-122"/>
                <a:cs typeface="Malgun Gothic" pitchFamily="34" charset="-120"/>
              </a:rPr>
              <a:t>주의  |  화면 공유 세션은 스캔 모드 동안 유지되지만, 업로드용 파일은 버튼을 누른 순간에만 생성됩니다.</a:t>
            </a:r>
            <a:endParaRPr lang="en-US" sz="900" dirty="0"/>
          </a:p>
        </p:txBody>
      </p:sp>
      <p:sp>
        <p:nvSpPr>
          <p:cNvPr id="36" name="Text 34"/>
          <p:cNvSpPr/>
          <p:nvPr/>
        </p:nvSpPr>
        <p:spPr>
          <a:xfrm>
            <a:off x="411480" y="6528816"/>
            <a:ext cx="1463040" cy="182880"/>
          </a:xfrm>
          <a:prstGeom prst="rect">
            <a:avLst/>
          </a:prstGeom>
          <a:noFill/>
          <a:ln/>
        </p:spPr>
        <p:txBody>
          <a:bodyPr wrap="square" lIns="0" tIns="0" rIns="0" bIns="0" rtlCol="0" anchor="ctr"/>
          <a:lstStyle/>
          <a:p>
            <a:pPr indent="0" marL="0">
              <a:buNone/>
            </a:pPr>
            <a:r>
              <a:rPr lang="en-US" sz="750" b="1" dirty="0">
                <a:solidFill>
                  <a:srgbClr val="A4B0B4"/>
                </a:solidFill>
                <a:latin typeface="Malgun Gothic" pitchFamily="34" charset="0"/>
                <a:ea typeface="Malgun Gothic" pitchFamily="34" charset="-122"/>
                <a:cs typeface="Malgun Gothic" pitchFamily="34" charset="-120"/>
              </a:rPr>
              <a:t>CleanTouch</a:t>
            </a:r>
            <a:endParaRPr lang="en-US" sz="750" dirty="0"/>
          </a:p>
        </p:txBody>
      </p:sp>
      <p:sp>
        <p:nvSpPr>
          <p:cNvPr id="37" name="Text 35"/>
          <p:cNvSpPr/>
          <p:nvPr/>
        </p:nvSpPr>
        <p:spPr>
          <a:xfrm>
            <a:off x="11292840" y="6510528"/>
            <a:ext cx="457200" cy="182880"/>
          </a:xfrm>
          <a:prstGeom prst="rect">
            <a:avLst/>
          </a:prstGeom>
          <a:noFill/>
          <a:ln/>
        </p:spPr>
        <p:txBody>
          <a:bodyPr wrap="square" lIns="0" tIns="0" rIns="0" bIns="0" rtlCol="0" anchor="ctr"/>
          <a:lstStyle/>
          <a:p>
            <a:pPr algn="r" indent="0" marL="0">
              <a:buNone/>
            </a:pPr>
            <a:r>
              <a:rPr lang="en-US" sz="750" dirty="0">
                <a:solidFill>
                  <a:srgbClr val="A4B0B4"/>
                </a:solidFill>
                <a:latin typeface="Malgun Gothic" pitchFamily="34" charset="0"/>
                <a:ea typeface="Malgun Gothic" pitchFamily="34" charset="-122"/>
                <a:cs typeface="Malgun Gothic" pitchFamily="34" charset="-120"/>
              </a:rPr>
              <a:t>07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7F8"/>
        </a:solidFill>
      </p:bgPr>
    </p:bg>
    <p:spTree>
      <p:nvGrpSpPr>
        <p:cNvPr id="1" name=""/>
        <p:cNvGrpSpPr/>
        <p:nvPr/>
      </p:nvGrpSpPr>
      <p:grpSpPr>
        <a:xfrm>
          <a:off x="0" y="0"/>
          <a:ext cx="0" cy="0"/>
          <a:chOff x="0" y="0"/>
          <a:chExt cx="0" cy="0"/>
        </a:xfrm>
      </p:grpSpPr>
      <p:sp>
        <p:nvSpPr>
          <p:cNvPr id="2" name="Text 0"/>
          <p:cNvSpPr/>
          <p:nvPr/>
        </p:nvSpPr>
        <p:spPr>
          <a:xfrm>
            <a:off x="548640" y="347472"/>
            <a:ext cx="4114800" cy="228600"/>
          </a:xfrm>
          <a:prstGeom prst="rect">
            <a:avLst/>
          </a:prstGeom>
          <a:noFill/>
          <a:ln/>
        </p:spPr>
        <p:txBody>
          <a:bodyPr wrap="square" lIns="0" tIns="0" rIns="0" bIns="0" rtlCol="0" anchor="ctr"/>
          <a:lstStyle/>
          <a:p>
            <a:pPr indent="0" marL="0">
              <a:buNone/>
            </a:pPr>
            <a:r>
              <a:rPr lang="en-US" sz="850" b="1" spc="140" kern="0" dirty="0">
                <a:solidFill>
                  <a:srgbClr val="168CA3"/>
                </a:solidFill>
                <a:latin typeface="Malgun Gothic" pitchFamily="34" charset="0"/>
                <a:ea typeface="Malgun Gothic" pitchFamily="34" charset="-122"/>
                <a:cs typeface="Malgun Gothic" pitchFamily="34" charset="-120"/>
              </a:rPr>
              <a:t>07 · DIFFERENCE</a:t>
            </a:r>
            <a:endParaRPr lang="en-US" sz="850" dirty="0"/>
          </a:p>
        </p:txBody>
      </p:sp>
      <p:sp>
        <p:nvSpPr>
          <p:cNvPr id="3" name="Text 1"/>
          <p:cNvSpPr/>
          <p:nvPr/>
        </p:nvSpPr>
        <p:spPr>
          <a:xfrm>
            <a:off x="548640" y="685800"/>
            <a:ext cx="11064240" cy="566928"/>
          </a:xfrm>
          <a:prstGeom prst="rect">
            <a:avLst/>
          </a:prstGeom>
          <a:noFill/>
          <a:ln/>
        </p:spPr>
        <p:txBody>
          <a:bodyPr wrap="square" lIns="0" tIns="0" rIns="0" bIns="0" rtlCol="0" anchor="ctr">
            <a:normAutofit/>
          </a:bodyPr>
          <a:lstStyle/>
          <a:p>
            <a:pPr indent="0" marL="0">
              <a:buNone/>
            </a:pPr>
            <a:r>
              <a:rPr lang="en-US" sz="2500" b="1" dirty="0">
                <a:solidFill>
                  <a:srgbClr val="14272E"/>
                </a:solidFill>
                <a:latin typeface="Malgun Gothic" pitchFamily="34" charset="0"/>
                <a:ea typeface="Malgun Gothic" pitchFamily="34" charset="-122"/>
                <a:cs typeface="Malgun Gothic" pitchFamily="34" charset="-120"/>
              </a:rPr>
              <a:t>기술보다 중요한 차이는 “영상 안에서의 흐름”</a:t>
            </a:r>
            <a:endParaRPr lang="en-US" sz="2500" dirty="0"/>
          </a:p>
        </p:txBody>
      </p:sp>
      <p:sp>
        <p:nvSpPr>
          <p:cNvPr id="4" name="Text 2"/>
          <p:cNvSpPr/>
          <p:nvPr/>
        </p:nvSpPr>
        <p:spPr>
          <a:xfrm>
            <a:off x="566928" y="1353312"/>
            <a:ext cx="10698480" cy="384048"/>
          </a:xfrm>
          <a:prstGeom prst="rect">
            <a:avLst/>
          </a:prstGeom>
          <a:noFill/>
          <a:ln/>
        </p:spPr>
        <p:txBody>
          <a:bodyPr wrap="square" lIns="0" tIns="0" rIns="0" bIns="0" rtlCol="0" anchor="ctr">
            <a:normAutofit/>
          </a:bodyPr>
          <a:lstStyle/>
          <a:p>
            <a:pPr indent="0" marL="0">
              <a:buNone/>
            </a:pPr>
            <a:r>
              <a:rPr lang="en-US" sz="1050" dirty="0">
                <a:solidFill>
                  <a:srgbClr val="708087"/>
                </a:solidFill>
                <a:latin typeface="Malgun Gothic" pitchFamily="34" charset="0"/>
                <a:ea typeface="Malgun Gothic" pitchFamily="34" charset="-122"/>
                <a:cs typeface="Malgun Gothic" pitchFamily="34" charset="-120"/>
              </a:rPr>
              <a:t>검색 정확도뿐 아니라 사용자가 영상을 떠나지 않는 경험을 설계합니다.</a:t>
            </a:r>
            <a:endParaRPr lang="en-US" sz="1050" dirty="0"/>
          </a:p>
        </p:txBody>
      </p:sp>
      <p:sp>
        <p:nvSpPr>
          <p:cNvPr id="5" name="Shape 3"/>
          <p:cNvSpPr/>
          <p:nvPr/>
        </p:nvSpPr>
        <p:spPr>
          <a:xfrm>
            <a:off x="594360" y="1874520"/>
            <a:ext cx="2148840" cy="566928"/>
          </a:xfrm>
          <a:prstGeom prst="roundRect">
            <a:avLst>
              <a:gd name="adj" fmla="val 9677"/>
            </a:avLst>
          </a:prstGeom>
          <a:solidFill>
            <a:srgbClr val="E8EFF1"/>
          </a:solidFill>
          <a:ln w="12700">
            <a:solidFill>
              <a:srgbClr val="E8EFF1"/>
            </a:solidFill>
            <a:prstDash val="solid"/>
          </a:ln>
        </p:spPr>
      </p:sp>
      <p:sp>
        <p:nvSpPr>
          <p:cNvPr id="6" name="Text 4"/>
          <p:cNvSpPr/>
          <p:nvPr/>
        </p:nvSpPr>
        <p:spPr>
          <a:xfrm>
            <a:off x="667512" y="2066544"/>
            <a:ext cx="2002536" cy="182880"/>
          </a:xfrm>
          <a:prstGeom prst="rect">
            <a:avLst/>
          </a:prstGeom>
          <a:noFill/>
          <a:ln/>
        </p:spPr>
        <p:txBody>
          <a:bodyPr wrap="square" lIns="0" tIns="0" rIns="0" bIns="0" rtlCol="0" anchor="ctr">
            <a:normAutofit/>
          </a:bodyPr>
          <a:lstStyle/>
          <a:p>
            <a:pPr algn="ctr" indent="0" marL="0">
              <a:buNone/>
            </a:pPr>
            <a:r>
              <a:rPr lang="en-US" sz="950" b="1" dirty="0">
                <a:solidFill>
                  <a:srgbClr val="14272E"/>
                </a:solidFill>
                <a:latin typeface="Malgun Gothic" pitchFamily="34" charset="0"/>
                <a:ea typeface="Malgun Gothic" pitchFamily="34" charset="-122"/>
                <a:cs typeface="Malgun Gothic" pitchFamily="34" charset="-120"/>
              </a:rPr>
              <a:t>비교 항목</a:t>
            </a:r>
            <a:endParaRPr lang="en-US" sz="950" dirty="0"/>
          </a:p>
        </p:txBody>
      </p:sp>
      <p:sp>
        <p:nvSpPr>
          <p:cNvPr id="7" name="Shape 5"/>
          <p:cNvSpPr/>
          <p:nvPr/>
        </p:nvSpPr>
        <p:spPr>
          <a:xfrm>
            <a:off x="2788920" y="1874520"/>
            <a:ext cx="2834640" cy="566928"/>
          </a:xfrm>
          <a:prstGeom prst="roundRect">
            <a:avLst>
              <a:gd name="adj" fmla="val 9677"/>
            </a:avLst>
          </a:prstGeom>
          <a:solidFill>
            <a:srgbClr val="E8EFF1"/>
          </a:solidFill>
          <a:ln w="12700">
            <a:solidFill>
              <a:srgbClr val="E8EFF1"/>
            </a:solidFill>
            <a:prstDash val="solid"/>
          </a:ln>
        </p:spPr>
      </p:sp>
      <p:sp>
        <p:nvSpPr>
          <p:cNvPr id="8" name="Text 6"/>
          <p:cNvSpPr/>
          <p:nvPr/>
        </p:nvSpPr>
        <p:spPr>
          <a:xfrm>
            <a:off x="2862072" y="2066544"/>
            <a:ext cx="2688336" cy="182880"/>
          </a:xfrm>
          <a:prstGeom prst="rect">
            <a:avLst/>
          </a:prstGeom>
          <a:noFill/>
          <a:ln/>
        </p:spPr>
        <p:txBody>
          <a:bodyPr wrap="square" lIns="0" tIns="0" rIns="0" bIns="0" rtlCol="0" anchor="ctr">
            <a:normAutofit/>
          </a:bodyPr>
          <a:lstStyle/>
          <a:p>
            <a:pPr algn="ctr" indent="0" marL="0">
              <a:buNone/>
            </a:pPr>
            <a:r>
              <a:rPr lang="en-US" sz="950" b="1" dirty="0">
                <a:solidFill>
                  <a:srgbClr val="14272E"/>
                </a:solidFill>
                <a:latin typeface="Malgun Gothic" pitchFamily="34" charset="0"/>
                <a:ea typeface="Malgun Gothic" pitchFamily="34" charset="-122"/>
                <a:cs typeface="Malgun Gothic" pitchFamily="34" charset="-120"/>
              </a:rPr>
              <a:t>고정 상품 스티커</a:t>
            </a:r>
            <a:endParaRPr lang="en-US" sz="950" dirty="0"/>
          </a:p>
        </p:txBody>
      </p:sp>
      <p:sp>
        <p:nvSpPr>
          <p:cNvPr id="9" name="Shape 7"/>
          <p:cNvSpPr/>
          <p:nvPr/>
        </p:nvSpPr>
        <p:spPr>
          <a:xfrm>
            <a:off x="5687568" y="1874520"/>
            <a:ext cx="2788920" cy="566928"/>
          </a:xfrm>
          <a:prstGeom prst="roundRect">
            <a:avLst>
              <a:gd name="adj" fmla="val 9677"/>
            </a:avLst>
          </a:prstGeom>
          <a:solidFill>
            <a:srgbClr val="E8EFF1"/>
          </a:solidFill>
          <a:ln w="12700">
            <a:solidFill>
              <a:srgbClr val="E8EFF1"/>
            </a:solidFill>
            <a:prstDash val="solid"/>
          </a:ln>
        </p:spPr>
      </p:sp>
      <p:sp>
        <p:nvSpPr>
          <p:cNvPr id="10" name="Text 8"/>
          <p:cNvSpPr/>
          <p:nvPr/>
        </p:nvSpPr>
        <p:spPr>
          <a:xfrm>
            <a:off x="5760720" y="2066544"/>
            <a:ext cx="2642616" cy="182880"/>
          </a:xfrm>
          <a:prstGeom prst="rect">
            <a:avLst/>
          </a:prstGeom>
          <a:noFill/>
          <a:ln/>
        </p:spPr>
        <p:txBody>
          <a:bodyPr wrap="square" lIns="0" tIns="0" rIns="0" bIns="0" rtlCol="0" anchor="ctr">
            <a:normAutofit/>
          </a:bodyPr>
          <a:lstStyle/>
          <a:p>
            <a:pPr algn="ctr" indent="0" marL="0">
              <a:buNone/>
            </a:pPr>
            <a:r>
              <a:rPr lang="en-US" sz="950" b="1" dirty="0">
                <a:solidFill>
                  <a:srgbClr val="14272E"/>
                </a:solidFill>
                <a:latin typeface="Malgun Gothic" pitchFamily="34" charset="0"/>
                <a:ea typeface="Malgun Gothic" pitchFamily="34" charset="-122"/>
                <a:cs typeface="Malgun Gothic" pitchFamily="34" charset="-120"/>
              </a:rPr>
              <a:t>일반 이미지 검색</a:t>
            </a:r>
            <a:endParaRPr lang="en-US" sz="950" dirty="0"/>
          </a:p>
        </p:txBody>
      </p:sp>
      <p:sp>
        <p:nvSpPr>
          <p:cNvPr id="11" name="Shape 9"/>
          <p:cNvSpPr/>
          <p:nvPr/>
        </p:nvSpPr>
        <p:spPr>
          <a:xfrm>
            <a:off x="8549640" y="1874520"/>
            <a:ext cx="2999232" cy="566928"/>
          </a:xfrm>
          <a:prstGeom prst="roundRect">
            <a:avLst>
              <a:gd name="adj" fmla="val 9677"/>
            </a:avLst>
          </a:prstGeom>
          <a:solidFill>
            <a:srgbClr val="14272E"/>
          </a:solidFill>
          <a:ln w="12700">
            <a:solidFill>
              <a:srgbClr val="14272E"/>
            </a:solidFill>
            <a:prstDash val="solid"/>
          </a:ln>
        </p:spPr>
      </p:sp>
      <p:sp>
        <p:nvSpPr>
          <p:cNvPr id="12" name="Text 10"/>
          <p:cNvSpPr/>
          <p:nvPr/>
        </p:nvSpPr>
        <p:spPr>
          <a:xfrm>
            <a:off x="8622792" y="2066544"/>
            <a:ext cx="2852928" cy="18288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CleanTouch</a:t>
            </a:r>
            <a:endParaRPr lang="en-US" sz="950" dirty="0"/>
          </a:p>
        </p:txBody>
      </p:sp>
      <p:sp>
        <p:nvSpPr>
          <p:cNvPr id="13" name="Shape 11"/>
          <p:cNvSpPr/>
          <p:nvPr/>
        </p:nvSpPr>
        <p:spPr>
          <a:xfrm>
            <a:off x="594360" y="2587752"/>
            <a:ext cx="2148840" cy="530352"/>
          </a:xfrm>
          <a:prstGeom prst="rect">
            <a:avLst/>
          </a:prstGeom>
          <a:solidFill>
            <a:srgbClr val="FFFFFF"/>
          </a:solidFill>
          <a:ln w="7620">
            <a:solidFill>
              <a:srgbClr val="D8E2E5"/>
            </a:solidFill>
            <a:prstDash val="solid"/>
          </a:ln>
        </p:spPr>
      </p:sp>
      <p:sp>
        <p:nvSpPr>
          <p:cNvPr id="14" name="Text 12"/>
          <p:cNvSpPr/>
          <p:nvPr/>
        </p:nvSpPr>
        <p:spPr>
          <a:xfrm>
            <a:off x="685800" y="2752344"/>
            <a:ext cx="1965960" cy="182880"/>
          </a:xfrm>
          <a:prstGeom prst="rect">
            <a:avLst/>
          </a:prstGeom>
          <a:noFill/>
          <a:ln/>
        </p:spPr>
        <p:txBody>
          <a:bodyPr wrap="square" lIns="0" tIns="0" rIns="0" bIns="0" rtlCol="0" anchor="ctr">
            <a:normAutofit/>
          </a:bodyPr>
          <a:lstStyle/>
          <a:p>
            <a:pPr algn="l" indent="0" marL="0">
              <a:buNone/>
            </a:pPr>
            <a:r>
              <a:rPr lang="en-US" sz="900" b="1" dirty="0">
                <a:solidFill>
                  <a:srgbClr val="708087"/>
                </a:solidFill>
                <a:latin typeface="Malgun Gothic" pitchFamily="34" charset="0"/>
                <a:ea typeface="Malgun Gothic" pitchFamily="34" charset="-122"/>
                <a:cs typeface="Malgun Gothic" pitchFamily="34" charset="-120"/>
              </a:rPr>
              <a:t>영상 가림</a:t>
            </a:r>
            <a:endParaRPr lang="en-US" sz="900" dirty="0"/>
          </a:p>
        </p:txBody>
      </p:sp>
      <p:sp>
        <p:nvSpPr>
          <p:cNvPr id="15" name="Shape 13"/>
          <p:cNvSpPr/>
          <p:nvPr/>
        </p:nvSpPr>
        <p:spPr>
          <a:xfrm>
            <a:off x="2788920" y="2587752"/>
            <a:ext cx="2834640" cy="530352"/>
          </a:xfrm>
          <a:prstGeom prst="rect">
            <a:avLst/>
          </a:prstGeom>
          <a:solidFill>
            <a:srgbClr val="FFFFFF"/>
          </a:solidFill>
          <a:ln w="7620">
            <a:solidFill>
              <a:srgbClr val="D8E2E5"/>
            </a:solidFill>
            <a:prstDash val="solid"/>
          </a:ln>
        </p:spPr>
      </p:sp>
      <p:sp>
        <p:nvSpPr>
          <p:cNvPr id="16" name="Text 14"/>
          <p:cNvSpPr/>
          <p:nvPr/>
        </p:nvSpPr>
        <p:spPr>
          <a:xfrm>
            <a:off x="2880360" y="2752344"/>
            <a:ext cx="2651760" cy="182880"/>
          </a:xfrm>
          <a:prstGeom prst="rect">
            <a:avLst/>
          </a:prstGeom>
          <a:noFill/>
          <a:ln/>
        </p:spPr>
        <p:txBody>
          <a:bodyPr wrap="square" lIns="0" tIns="0" rIns="0" bIns="0" rtlCol="0" anchor="ctr">
            <a:normAutofit/>
          </a:bodyPr>
          <a:lstStyle/>
          <a:p>
            <a:pPr algn="ctr" indent="0" marL="0">
              <a:buNone/>
            </a:pPr>
            <a:r>
              <a:rPr lang="en-US" sz="880" dirty="0">
                <a:solidFill>
                  <a:srgbClr val="708087"/>
                </a:solidFill>
                <a:latin typeface="Malgun Gothic" pitchFamily="34" charset="0"/>
                <a:ea typeface="Malgun Gothic" pitchFamily="34" charset="-122"/>
                <a:cs typeface="Malgun Gothic" pitchFamily="34" charset="-120"/>
              </a:rPr>
              <a:t>계속 가릴 수 있음</a:t>
            </a:r>
            <a:endParaRPr lang="en-US" sz="880" dirty="0"/>
          </a:p>
        </p:txBody>
      </p:sp>
      <p:sp>
        <p:nvSpPr>
          <p:cNvPr id="17" name="Shape 15"/>
          <p:cNvSpPr/>
          <p:nvPr/>
        </p:nvSpPr>
        <p:spPr>
          <a:xfrm>
            <a:off x="5687568" y="2587752"/>
            <a:ext cx="2788920" cy="530352"/>
          </a:xfrm>
          <a:prstGeom prst="rect">
            <a:avLst/>
          </a:prstGeom>
          <a:solidFill>
            <a:srgbClr val="FFFFFF"/>
          </a:solidFill>
          <a:ln w="7620">
            <a:solidFill>
              <a:srgbClr val="D8E2E5"/>
            </a:solidFill>
            <a:prstDash val="solid"/>
          </a:ln>
        </p:spPr>
      </p:sp>
      <p:sp>
        <p:nvSpPr>
          <p:cNvPr id="18" name="Text 16"/>
          <p:cNvSpPr/>
          <p:nvPr/>
        </p:nvSpPr>
        <p:spPr>
          <a:xfrm>
            <a:off x="5779008" y="2752344"/>
            <a:ext cx="2606040" cy="182880"/>
          </a:xfrm>
          <a:prstGeom prst="rect">
            <a:avLst/>
          </a:prstGeom>
          <a:noFill/>
          <a:ln/>
        </p:spPr>
        <p:txBody>
          <a:bodyPr wrap="square" lIns="0" tIns="0" rIns="0" bIns="0" rtlCol="0" anchor="ctr">
            <a:normAutofit/>
          </a:bodyPr>
          <a:lstStyle/>
          <a:p>
            <a:pPr algn="ctr" indent="0" marL="0">
              <a:buNone/>
            </a:pPr>
            <a:r>
              <a:rPr lang="en-US" sz="880" dirty="0">
                <a:solidFill>
                  <a:srgbClr val="708087"/>
                </a:solidFill>
                <a:latin typeface="Malgun Gothic" pitchFamily="34" charset="0"/>
                <a:ea typeface="Malgun Gothic" pitchFamily="34" charset="-122"/>
                <a:cs typeface="Malgun Gothic" pitchFamily="34" charset="-120"/>
              </a:rPr>
              <a:t>가리지 않음</a:t>
            </a:r>
            <a:endParaRPr lang="en-US" sz="880" dirty="0"/>
          </a:p>
        </p:txBody>
      </p:sp>
      <p:sp>
        <p:nvSpPr>
          <p:cNvPr id="19" name="Shape 17"/>
          <p:cNvSpPr/>
          <p:nvPr/>
        </p:nvSpPr>
        <p:spPr>
          <a:xfrm>
            <a:off x="8549640" y="2587752"/>
            <a:ext cx="2999232" cy="530352"/>
          </a:xfrm>
          <a:prstGeom prst="rect">
            <a:avLst/>
          </a:prstGeom>
          <a:solidFill>
            <a:srgbClr val="FFFFFF"/>
          </a:solidFill>
          <a:ln w="7620">
            <a:solidFill>
              <a:srgbClr val="D8E2E5"/>
            </a:solidFill>
            <a:prstDash val="solid"/>
          </a:ln>
        </p:spPr>
      </p:sp>
      <p:sp>
        <p:nvSpPr>
          <p:cNvPr id="20" name="Text 18"/>
          <p:cNvSpPr/>
          <p:nvPr/>
        </p:nvSpPr>
        <p:spPr>
          <a:xfrm>
            <a:off x="8641080" y="2752344"/>
            <a:ext cx="2816352" cy="182880"/>
          </a:xfrm>
          <a:prstGeom prst="rect">
            <a:avLst/>
          </a:prstGeom>
          <a:noFill/>
          <a:ln/>
        </p:spPr>
        <p:txBody>
          <a:bodyPr wrap="square" lIns="0" tIns="0" rIns="0" bIns="0" rtlCol="0" anchor="ctr">
            <a:normAutofit/>
          </a:bodyPr>
          <a:lstStyle/>
          <a:p>
            <a:pPr algn="ctr" indent="0" marL="0">
              <a:buNone/>
            </a:pPr>
            <a:r>
              <a:rPr lang="en-US" sz="880" b="1" dirty="0">
                <a:solidFill>
                  <a:srgbClr val="168CA3"/>
                </a:solidFill>
                <a:latin typeface="Malgun Gothic" pitchFamily="34" charset="0"/>
                <a:ea typeface="Malgun Gothic" pitchFamily="34" charset="-122"/>
                <a:cs typeface="Malgun Gothic" pitchFamily="34" charset="-120"/>
              </a:rPr>
              <a:t>가리지 않음</a:t>
            </a:r>
            <a:endParaRPr lang="en-US" sz="880" dirty="0"/>
          </a:p>
        </p:txBody>
      </p:sp>
      <p:sp>
        <p:nvSpPr>
          <p:cNvPr id="21" name="Shape 19"/>
          <p:cNvSpPr/>
          <p:nvPr/>
        </p:nvSpPr>
        <p:spPr>
          <a:xfrm>
            <a:off x="594360" y="3218688"/>
            <a:ext cx="2148840" cy="530352"/>
          </a:xfrm>
          <a:prstGeom prst="rect">
            <a:avLst/>
          </a:prstGeom>
          <a:solidFill>
            <a:srgbClr val="F6F8F9"/>
          </a:solidFill>
          <a:ln w="7620">
            <a:solidFill>
              <a:srgbClr val="D8E2E5"/>
            </a:solidFill>
            <a:prstDash val="solid"/>
          </a:ln>
        </p:spPr>
      </p:sp>
      <p:sp>
        <p:nvSpPr>
          <p:cNvPr id="22" name="Text 20"/>
          <p:cNvSpPr/>
          <p:nvPr/>
        </p:nvSpPr>
        <p:spPr>
          <a:xfrm>
            <a:off x="685800" y="3383280"/>
            <a:ext cx="1965960" cy="182880"/>
          </a:xfrm>
          <a:prstGeom prst="rect">
            <a:avLst/>
          </a:prstGeom>
          <a:noFill/>
          <a:ln/>
        </p:spPr>
        <p:txBody>
          <a:bodyPr wrap="square" lIns="0" tIns="0" rIns="0" bIns="0" rtlCol="0" anchor="ctr">
            <a:normAutofit/>
          </a:bodyPr>
          <a:lstStyle/>
          <a:p>
            <a:pPr algn="l" indent="0" marL="0">
              <a:buNone/>
            </a:pPr>
            <a:r>
              <a:rPr lang="en-US" sz="900" b="1" dirty="0">
                <a:solidFill>
                  <a:srgbClr val="708087"/>
                </a:solidFill>
                <a:latin typeface="Malgun Gothic" pitchFamily="34" charset="0"/>
                <a:ea typeface="Malgun Gothic" pitchFamily="34" charset="-122"/>
                <a:cs typeface="Malgun Gothic" pitchFamily="34" charset="-120"/>
              </a:rPr>
              <a:t>검색 시작</a:t>
            </a:r>
            <a:endParaRPr lang="en-US" sz="900" dirty="0"/>
          </a:p>
        </p:txBody>
      </p:sp>
      <p:sp>
        <p:nvSpPr>
          <p:cNvPr id="23" name="Shape 21"/>
          <p:cNvSpPr/>
          <p:nvPr/>
        </p:nvSpPr>
        <p:spPr>
          <a:xfrm>
            <a:off x="2788920" y="3218688"/>
            <a:ext cx="2834640" cy="530352"/>
          </a:xfrm>
          <a:prstGeom prst="rect">
            <a:avLst/>
          </a:prstGeom>
          <a:solidFill>
            <a:srgbClr val="F6F8F9"/>
          </a:solidFill>
          <a:ln w="7620">
            <a:solidFill>
              <a:srgbClr val="D8E2E5"/>
            </a:solidFill>
            <a:prstDash val="solid"/>
          </a:ln>
        </p:spPr>
      </p:sp>
      <p:sp>
        <p:nvSpPr>
          <p:cNvPr id="24" name="Text 22"/>
          <p:cNvSpPr/>
          <p:nvPr/>
        </p:nvSpPr>
        <p:spPr>
          <a:xfrm>
            <a:off x="2880360" y="3383280"/>
            <a:ext cx="2651760" cy="182880"/>
          </a:xfrm>
          <a:prstGeom prst="rect">
            <a:avLst/>
          </a:prstGeom>
          <a:noFill/>
          <a:ln/>
        </p:spPr>
        <p:txBody>
          <a:bodyPr wrap="square" lIns="0" tIns="0" rIns="0" bIns="0" rtlCol="0" anchor="ctr">
            <a:normAutofit/>
          </a:bodyPr>
          <a:lstStyle/>
          <a:p>
            <a:pPr algn="ctr" indent="0" marL="0">
              <a:buNone/>
            </a:pPr>
            <a:r>
              <a:rPr lang="en-US" sz="880" dirty="0">
                <a:solidFill>
                  <a:srgbClr val="708087"/>
                </a:solidFill>
                <a:latin typeface="Malgun Gothic" pitchFamily="34" charset="0"/>
                <a:ea typeface="Malgun Gothic" pitchFamily="34" charset="-122"/>
                <a:cs typeface="Malgun Gothic" pitchFamily="34" charset="-120"/>
              </a:rPr>
              <a:t>자동 노출</a:t>
            </a:r>
            <a:endParaRPr lang="en-US" sz="880" dirty="0"/>
          </a:p>
        </p:txBody>
      </p:sp>
      <p:sp>
        <p:nvSpPr>
          <p:cNvPr id="25" name="Shape 23"/>
          <p:cNvSpPr/>
          <p:nvPr/>
        </p:nvSpPr>
        <p:spPr>
          <a:xfrm>
            <a:off x="5687568" y="3218688"/>
            <a:ext cx="2788920" cy="530352"/>
          </a:xfrm>
          <a:prstGeom prst="rect">
            <a:avLst/>
          </a:prstGeom>
          <a:solidFill>
            <a:srgbClr val="F6F8F9"/>
          </a:solidFill>
          <a:ln w="7620">
            <a:solidFill>
              <a:srgbClr val="D8E2E5"/>
            </a:solidFill>
            <a:prstDash val="solid"/>
          </a:ln>
        </p:spPr>
      </p:sp>
      <p:sp>
        <p:nvSpPr>
          <p:cNvPr id="26" name="Text 24"/>
          <p:cNvSpPr/>
          <p:nvPr/>
        </p:nvSpPr>
        <p:spPr>
          <a:xfrm>
            <a:off x="5779008" y="3383280"/>
            <a:ext cx="2606040" cy="182880"/>
          </a:xfrm>
          <a:prstGeom prst="rect">
            <a:avLst/>
          </a:prstGeom>
          <a:noFill/>
          <a:ln/>
        </p:spPr>
        <p:txBody>
          <a:bodyPr wrap="square" lIns="0" tIns="0" rIns="0" bIns="0" rtlCol="0" anchor="ctr">
            <a:normAutofit/>
          </a:bodyPr>
          <a:lstStyle/>
          <a:p>
            <a:pPr algn="ctr" indent="0" marL="0">
              <a:buNone/>
            </a:pPr>
            <a:r>
              <a:rPr lang="en-US" sz="880" dirty="0">
                <a:solidFill>
                  <a:srgbClr val="708087"/>
                </a:solidFill>
                <a:latin typeface="Malgun Gothic" pitchFamily="34" charset="0"/>
                <a:ea typeface="Malgun Gothic" pitchFamily="34" charset="-122"/>
                <a:cs typeface="Malgun Gothic" pitchFamily="34" charset="-120"/>
              </a:rPr>
              <a:t>스크린샷·앱 이동</a:t>
            </a:r>
            <a:endParaRPr lang="en-US" sz="880" dirty="0"/>
          </a:p>
        </p:txBody>
      </p:sp>
      <p:sp>
        <p:nvSpPr>
          <p:cNvPr id="27" name="Shape 25"/>
          <p:cNvSpPr/>
          <p:nvPr/>
        </p:nvSpPr>
        <p:spPr>
          <a:xfrm>
            <a:off x="8549640" y="3218688"/>
            <a:ext cx="2999232" cy="530352"/>
          </a:xfrm>
          <a:prstGeom prst="rect">
            <a:avLst/>
          </a:prstGeom>
          <a:solidFill>
            <a:srgbClr val="EDF9FB"/>
          </a:solidFill>
          <a:ln w="7620">
            <a:solidFill>
              <a:srgbClr val="D8E2E5"/>
            </a:solidFill>
            <a:prstDash val="solid"/>
          </a:ln>
        </p:spPr>
      </p:sp>
      <p:sp>
        <p:nvSpPr>
          <p:cNvPr id="28" name="Text 26"/>
          <p:cNvSpPr/>
          <p:nvPr/>
        </p:nvSpPr>
        <p:spPr>
          <a:xfrm>
            <a:off x="8641080" y="3383280"/>
            <a:ext cx="2816352" cy="182880"/>
          </a:xfrm>
          <a:prstGeom prst="rect">
            <a:avLst/>
          </a:prstGeom>
          <a:noFill/>
          <a:ln/>
        </p:spPr>
        <p:txBody>
          <a:bodyPr wrap="square" lIns="0" tIns="0" rIns="0" bIns="0" rtlCol="0" anchor="ctr">
            <a:normAutofit/>
          </a:bodyPr>
          <a:lstStyle/>
          <a:p>
            <a:pPr algn="ctr" indent="0" marL="0">
              <a:buNone/>
            </a:pPr>
            <a:r>
              <a:rPr lang="en-US" sz="880" b="1" dirty="0">
                <a:solidFill>
                  <a:srgbClr val="168CA3"/>
                </a:solidFill>
                <a:latin typeface="Malgun Gothic" pitchFamily="34" charset="0"/>
                <a:ea typeface="Malgun Gothic" pitchFamily="34" charset="-122"/>
                <a:cs typeface="Malgun Gothic" pitchFamily="34" charset="-120"/>
              </a:rPr>
              <a:t>플로팅 버튼 한 번</a:t>
            </a:r>
            <a:endParaRPr lang="en-US" sz="880" dirty="0"/>
          </a:p>
        </p:txBody>
      </p:sp>
      <p:sp>
        <p:nvSpPr>
          <p:cNvPr id="29" name="Shape 27"/>
          <p:cNvSpPr/>
          <p:nvPr/>
        </p:nvSpPr>
        <p:spPr>
          <a:xfrm>
            <a:off x="594360" y="3849624"/>
            <a:ext cx="2148840" cy="530352"/>
          </a:xfrm>
          <a:prstGeom prst="rect">
            <a:avLst/>
          </a:prstGeom>
          <a:solidFill>
            <a:srgbClr val="FFFFFF"/>
          </a:solidFill>
          <a:ln w="7620">
            <a:solidFill>
              <a:srgbClr val="D8E2E5"/>
            </a:solidFill>
            <a:prstDash val="solid"/>
          </a:ln>
        </p:spPr>
      </p:sp>
      <p:sp>
        <p:nvSpPr>
          <p:cNvPr id="30" name="Text 28"/>
          <p:cNvSpPr/>
          <p:nvPr/>
        </p:nvSpPr>
        <p:spPr>
          <a:xfrm>
            <a:off x="685800" y="4014216"/>
            <a:ext cx="1965960" cy="182880"/>
          </a:xfrm>
          <a:prstGeom prst="rect">
            <a:avLst/>
          </a:prstGeom>
          <a:noFill/>
          <a:ln/>
        </p:spPr>
        <p:txBody>
          <a:bodyPr wrap="square" lIns="0" tIns="0" rIns="0" bIns="0" rtlCol="0" anchor="ctr">
            <a:normAutofit/>
          </a:bodyPr>
          <a:lstStyle/>
          <a:p>
            <a:pPr algn="l" indent="0" marL="0">
              <a:buNone/>
            </a:pPr>
            <a:r>
              <a:rPr lang="en-US" sz="900" b="1" dirty="0">
                <a:solidFill>
                  <a:srgbClr val="708087"/>
                </a:solidFill>
                <a:latin typeface="Malgun Gothic" pitchFamily="34" charset="0"/>
                <a:ea typeface="Malgun Gothic" pitchFamily="34" charset="-122"/>
                <a:cs typeface="Malgun Gothic" pitchFamily="34" charset="-120"/>
              </a:rPr>
              <a:t>사전 상품 등록</a:t>
            </a:r>
            <a:endParaRPr lang="en-US" sz="900" dirty="0"/>
          </a:p>
        </p:txBody>
      </p:sp>
      <p:sp>
        <p:nvSpPr>
          <p:cNvPr id="31" name="Shape 29"/>
          <p:cNvSpPr/>
          <p:nvPr/>
        </p:nvSpPr>
        <p:spPr>
          <a:xfrm>
            <a:off x="2788920" y="3849624"/>
            <a:ext cx="2834640" cy="530352"/>
          </a:xfrm>
          <a:prstGeom prst="rect">
            <a:avLst/>
          </a:prstGeom>
          <a:solidFill>
            <a:srgbClr val="FFFFFF"/>
          </a:solidFill>
          <a:ln w="7620">
            <a:solidFill>
              <a:srgbClr val="D8E2E5"/>
            </a:solidFill>
            <a:prstDash val="solid"/>
          </a:ln>
        </p:spPr>
      </p:sp>
      <p:sp>
        <p:nvSpPr>
          <p:cNvPr id="32" name="Text 30"/>
          <p:cNvSpPr/>
          <p:nvPr/>
        </p:nvSpPr>
        <p:spPr>
          <a:xfrm>
            <a:off x="2880360" y="4014216"/>
            <a:ext cx="2651760" cy="182880"/>
          </a:xfrm>
          <a:prstGeom prst="rect">
            <a:avLst/>
          </a:prstGeom>
          <a:noFill/>
          <a:ln/>
        </p:spPr>
        <p:txBody>
          <a:bodyPr wrap="square" lIns="0" tIns="0" rIns="0" bIns="0" rtlCol="0" anchor="ctr">
            <a:normAutofit/>
          </a:bodyPr>
          <a:lstStyle/>
          <a:p>
            <a:pPr algn="ctr" indent="0" marL="0">
              <a:buNone/>
            </a:pPr>
            <a:r>
              <a:rPr lang="en-US" sz="880" dirty="0">
                <a:solidFill>
                  <a:srgbClr val="708087"/>
                </a:solidFill>
                <a:latin typeface="Malgun Gothic" pitchFamily="34" charset="0"/>
                <a:ea typeface="Malgun Gothic" pitchFamily="34" charset="-122"/>
                <a:cs typeface="Malgun Gothic" pitchFamily="34" charset="-120"/>
              </a:rPr>
              <a:t>필요</a:t>
            </a:r>
            <a:endParaRPr lang="en-US" sz="880" dirty="0"/>
          </a:p>
        </p:txBody>
      </p:sp>
      <p:sp>
        <p:nvSpPr>
          <p:cNvPr id="33" name="Shape 31"/>
          <p:cNvSpPr/>
          <p:nvPr/>
        </p:nvSpPr>
        <p:spPr>
          <a:xfrm>
            <a:off x="5687568" y="3849624"/>
            <a:ext cx="2788920" cy="530352"/>
          </a:xfrm>
          <a:prstGeom prst="rect">
            <a:avLst/>
          </a:prstGeom>
          <a:solidFill>
            <a:srgbClr val="FFFFFF"/>
          </a:solidFill>
          <a:ln w="7620">
            <a:solidFill>
              <a:srgbClr val="D8E2E5"/>
            </a:solidFill>
            <a:prstDash val="solid"/>
          </a:ln>
        </p:spPr>
      </p:sp>
      <p:sp>
        <p:nvSpPr>
          <p:cNvPr id="34" name="Text 32"/>
          <p:cNvSpPr/>
          <p:nvPr/>
        </p:nvSpPr>
        <p:spPr>
          <a:xfrm>
            <a:off x="5779008" y="4014216"/>
            <a:ext cx="2606040" cy="182880"/>
          </a:xfrm>
          <a:prstGeom prst="rect">
            <a:avLst/>
          </a:prstGeom>
          <a:noFill/>
          <a:ln/>
        </p:spPr>
        <p:txBody>
          <a:bodyPr wrap="square" lIns="0" tIns="0" rIns="0" bIns="0" rtlCol="0" anchor="ctr">
            <a:normAutofit/>
          </a:bodyPr>
          <a:lstStyle/>
          <a:p>
            <a:pPr algn="ctr" indent="0" marL="0">
              <a:buNone/>
            </a:pPr>
            <a:r>
              <a:rPr lang="en-US" sz="880" dirty="0">
                <a:solidFill>
                  <a:srgbClr val="708087"/>
                </a:solidFill>
                <a:latin typeface="Malgun Gothic" pitchFamily="34" charset="0"/>
                <a:ea typeface="Malgun Gothic" pitchFamily="34" charset="-122"/>
                <a:cs typeface="Malgun Gothic" pitchFamily="34" charset="-120"/>
              </a:rPr>
              <a:t>불필요</a:t>
            </a:r>
            <a:endParaRPr lang="en-US" sz="880" dirty="0"/>
          </a:p>
        </p:txBody>
      </p:sp>
      <p:sp>
        <p:nvSpPr>
          <p:cNvPr id="35" name="Shape 33"/>
          <p:cNvSpPr/>
          <p:nvPr/>
        </p:nvSpPr>
        <p:spPr>
          <a:xfrm>
            <a:off x="8549640" y="3849624"/>
            <a:ext cx="2999232" cy="530352"/>
          </a:xfrm>
          <a:prstGeom prst="rect">
            <a:avLst/>
          </a:prstGeom>
          <a:solidFill>
            <a:srgbClr val="FFFFFF"/>
          </a:solidFill>
          <a:ln w="7620">
            <a:solidFill>
              <a:srgbClr val="D8E2E5"/>
            </a:solidFill>
            <a:prstDash val="solid"/>
          </a:ln>
        </p:spPr>
      </p:sp>
      <p:sp>
        <p:nvSpPr>
          <p:cNvPr id="36" name="Text 34"/>
          <p:cNvSpPr/>
          <p:nvPr/>
        </p:nvSpPr>
        <p:spPr>
          <a:xfrm>
            <a:off x="8641080" y="4014216"/>
            <a:ext cx="2816352" cy="182880"/>
          </a:xfrm>
          <a:prstGeom prst="rect">
            <a:avLst/>
          </a:prstGeom>
          <a:noFill/>
          <a:ln/>
        </p:spPr>
        <p:txBody>
          <a:bodyPr wrap="square" lIns="0" tIns="0" rIns="0" bIns="0" rtlCol="0" anchor="ctr">
            <a:normAutofit/>
          </a:bodyPr>
          <a:lstStyle/>
          <a:p>
            <a:pPr algn="ctr" indent="0" marL="0">
              <a:buNone/>
            </a:pPr>
            <a:r>
              <a:rPr lang="en-US" sz="880" b="1" dirty="0">
                <a:solidFill>
                  <a:srgbClr val="168CA3"/>
                </a:solidFill>
                <a:latin typeface="Malgun Gothic" pitchFamily="34" charset="0"/>
                <a:ea typeface="Malgun Gothic" pitchFamily="34" charset="-122"/>
                <a:cs typeface="Malgun Gothic" pitchFamily="34" charset="-120"/>
              </a:rPr>
              <a:t>불필요</a:t>
            </a:r>
            <a:endParaRPr lang="en-US" sz="880" dirty="0"/>
          </a:p>
        </p:txBody>
      </p:sp>
      <p:sp>
        <p:nvSpPr>
          <p:cNvPr id="37" name="Shape 35"/>
          <p:cNvSpPr/>
          <p:nvPr/>
        </p:nvSpPr>
        <p:spPr>
          <a:xfrm>
            <a:off x="594360" y="4480560"/>
            <a:ext cx="2148840" cy="530352"/>
          </a:xfrm>
          <a:prstGeom prst="rect">
            <a:avLst/>
          </a:prstGeom>
          <a:solidFill>
            <a:srgbClr val="F6F8F9"/>
          </a:solidFill>
          <a:ln w="7620">
            <a:solidFill>
              <a:srgbClr val="D8E2E5"/>
            </a:solidFill>
            <a:prstDash val="solid"/>
          </a:ln>
        </p:spPr>
      </p:sp>
      <p:sp>
        <p:nvSpPr>
          <p:cNvPr id="38" name="Text 36"/>
          <p:cNvSpPr/>
          <p:nvPr/>
        </p:nvSpPr>
        <p:spPr>
          <a:xfrm>
            <a:off x="685800" y="4645152"/>
            <a:ext cx="1965960" cy="182880"/>
          </a:xfrm>
          <a:prstGeom prst="rect">
            <a:avLst/>
          </a:prstGeom>
          <a:noFill/>
          <a:ln/>
        </p:spPr>
        <p:txBody>
          <a:bodyPr wrap="square" lIns="0" tIns="0" rIns="0" bIns="0" rtlCol="0" anchor="ctr">
            <a:normAutofit/>
          </a:bodyPr>
          <a:lstStyle/>
          <a:p>
            <a:pPr algn="l" indent="0" marL="0">
              <a:buNone/>
            </a:pPr>
            <a:r>
              <a:rPr lang="en-US" sz="900" b="1" dirty="0">
                <a:solidFill>
                  <a:srgbClr val="708087"/>
                </a:solidFill>
                <a:latin typeface="Malgun Gothic" pitchFamily="34" charset="0"/>
                <a:ea typeface="Malgun Gothic" pitchFamily="34" charset="-122"/>
                <a:cs typeface="Malgun Gothic" pitchFamily="34" charset="-120"/>
              </a:rPr>
              <a:t>작은 상품 보정</a:t>
            </a:r>
            <a:endParaRPr lang="en-US" sz="900" dirty="0"/>
          </a:p>
        </p:txBody>
      </p:sp>
      <p:sp>
        <p:nvSpPr>
          <p:cNvPr id="39" name="Shape 37"/>
          <p:cNvSpPr/>
          <p:nvPr/>
        </p:nvSpPr>
        <p:spPr>
          <a:xfrm>
            <a:off x="2788920" y="4480560"/>
            <a:ext cx="2834640" cy="530352"/>
          </a:xfrm>
          <a:prstGeom prst="rect">
            <a:avLst/>
          </a:prstGeom>
          <a:solidFill>
            <a:srgbClr val="F6F8F9"/>
          </a:solidFill>
          <a:ln w="7620">
            <a:solidFill>
              <a:srgbClr val="D8E2E5"/>
            </a:solidFill>
            <a:prstDash val="solid"/>
          </a:ln>
        </p:spPr>
      </p:sp>
      <p:sp>
        <p:nvSpPr>
          <p:cNvPr id="40" name="Text 38"/>
          <p:cNvSpPr/>
          <p:nvPr/>
        </p:nvSpPr>
        <p:spPr>
          <a:xfrm>
            <a:off x="2880360" y="4645152"/>
            <a:ext cx="2651760" cy="182880"/>
          </a:xfrm>
          <a:prstGeom prst="rect">
            <a:avLst/>
          </a:prstGeom>
          <a:noFill/>
          <a:ln/>
        </p:spPr>
        <p:txBody>
          <a:bodyPr wrap="square" lIns="0" tIns="0" rIns="0" bIns="0" rtlCol="0" anchor="ctr">
            <a:normAutofit/>
          </a:bodyPr>
          <a:lstStyle/>
          <a:p>
            <a:pPr algn="ctr" indent="0" marL="0">
              <a:buNone/>
            </a:pPr>
            <a:r>
              <a:rPr lang="en-US" sz="880" dirty="0">
                <a:solidFill>
                  <a:srgbClr val="708087"/>
                </a:solidFill>
                <a:latin typeface="Malgun Gothic" pitchFamily="34" charset="0"/>
                <a:ea typeface="Malgun Gothic" pitchFamily="34" charset="-122"/>
                <a:cs typeface="Malgun Gothic" pitchFamily="34" charset="-120"/>
              </a:rPr>
              <a:t>등록 위치 의존</a:t>
            </a:r>
            <a:endParaRPr lang="en-US" sz="880" dirty="0"/>
          </a:p>
        </p:txBody>
      </p:sp>
      <p:sp>
        <p:nvSpPr>
          <p:cNvPr id="41" name="Shape 39"/>
          <p:cNvSpPr/>
          <p:nvPr/>
        </p:nvSpPr>
        <p:spPr>
          <a:xfrm>
            <a:off x="5687568" y="4480560"/>
            <a:ext cx="2788920" cy="530352"/>
          </a:xfrm>
          <a:prstGeom prst="rect">
            <a:avLst/>
          </a:prstGeom>
          <a:solidFill>
            <a:srgbClr val="F6F8F9"/>
          </a:solidFill>
          <a:ln w="7620">
            <a:solidFill>
              <a:srgbClr val="D8E2E5"/>
            </a:solidFill>
            <a:prstDash val="solid"/>
          </a:ln>
        </p:spPr>
      </p:sp>
      <p:sp>
        <p:nvSpPr>
          <p:cNvPr id="42" name="Text 40"/>
          <p:cNvSpPr/>
          <p:nvPr/>
        </p:nvSpPr>
        <p:spPr>
          <a:xfrm>
            <a:off x="5779008" y="4645152"/>
            <a:ext cx="2606040" cy="182880"/>
          </a:xfrm>
          <a:prstGeom prst="rect">
            <a:avLst/>
          </a:prstGeom>
          <a:noFill/>
          <a:ln/>
        </p:spPr>
        <p:txBody>
          <a:bodyPr wrap="square" lIns="0" tIns="0" rIns="0" bIns="0" rtlCol="0" anchor="ctr">
            <a:normAutofit/>
          </a:bodyPr>
          <a:lstStyle/>
          <a:p>
            <a:pPr algn="ctr" indent="0" marL="0">
              <a:buNone/>
            </a:pPr>
            <a:r>
              <a:rPr lang="en-US" sz="880" dirty="0">
                <a:solidFill>
                  <a:srgbClr val="708087"/>
                </a:solidFill>
                <a:latin typeface="Malgun Gothic" pitchFamily="34" charset="0"/>
                <a:ea typeface="Malgun Gothic" pitchFamily="34" charset="-122"/>
                <a:cs typeface="Malgun Gothic" pitchFamily="34" charset="-120"/>
              </a:rPr>
              <a:t>이미지 확대 필요</a:t>
            </a:r>
            <a:endParaRPr lang="en-US" sz="880" dirty="0"/>
          </a:p>
        </p:txBody>
      </p:sp>
      <p:sp>
        <p:nvSpPr>
          <p:cNvPr id="43" name="Shape 41"/>
          <p:cNvSpPr/>
          <p:nvPr/>
        </p:nvSpPr>
        <p:spPr>
          <a:xfrm>
            <a:off x="8549640" y="4480560"/>
            <a:ext cx="2999232" cy="530352"/>
          </a:xfrm>
          <a:prstGeom prst="rect">
            <a:avLst/>
          </a:prstGeom>
          <a:solidFill>
            <a:srgbClr val="EDF9FB"/>
          </a:solidFill>
          <a:ln w="7620">
            <a:solidFill>
              <a:srgbClr val="D8E2E5"/>
            </a:solidFill>
            <a:prstDash val="solid"/>
          </a:ln>
        </p:spPr>
      </p:sp>
      <p:sp>
        <p:nvSpPr>
          <p:cNvPr id="44" name="Text 42"/>
          <p:cNvSpPr/>
          <p:nvPr/>
        </p:nvSpPr>
        <p:spPr>
          <a:xfrm>
            <a:off x="8641080" y="4645152"/>
            <a:ext cx="2816352" cy="182880"/>
          </a:xfrm>
          <a:prstGeom prst="rect">
            <a:avLst/>
          </a:prstGeom>
          <a:noFill/>
          <a:ln/>
        </p:spPr>
        <p:txBody>
          <a:bodyPr wrap="square" lIns="0" tIns="0" rIns="0" bIns="0" rtlCol="0" anchor="ctr">
            <a:normAutofit/>
          </a:bodyPr>
          <a:lstStyle/>
          <a:p>
            <a:pPr algn="ctr" indent="0" marL="0">
              <a:buNone/>
            </a:pPr>
            <a:r>
              <a:rPr lang="en-US" sz="880" b="1" dirty="0">
                <a:solidFill>
                  <a:srgbClr val="168CA3"/>
                </a:solidFill>
                <a:latin typeface="Malgun Gothic" pitchFamily="34" charset="0"/>
                <a:ea typeface="Malgun Gothic" pitchFamily="34" charset="-122"/>
                <a:cs typeface="Malgun Gothic" pitchFamily="34" charset="-120"/>
              </a:rPr>
              <a:t>앱 안에서 위치 지정</a:t>
            </a:r>
            <a:endParaRPr lang="en-US" sz="880" dirty="0"/>
          </a:p>
        </p:txBody>
      </p:sp>
      <p:sp>
        <p:nvSpPr>
          <p:cNvPr id="45" name="Shape 43"/>
          <p:cNvSpPr/>
          <p:nvPr/>
        </p:nvSpPr>
        <p:spPr>
          <a:xfrm>
            <a:off x="594360" y="5111496"/>
            <a:ext cx="2148840" cy="530352"/>
          </a:xfrm>
          <a:prstGeom prst="rect">
            <a:avLst/>
          </a:prstGeom>
          <a:solidFill>
            <a:srgbClr val="FFFFFF"/>
          </a:solidFill>
          <a:ln w="7620">
            <a:solidFill>
              <a:srgbClr val="D8E2E5"/>
            </a:solidFill>
            <a:prstDash val="solid"/>
          </a:ln>
        </p:spPr>
      </p:sp>
      <p:sp>
        <p:nvSpPr>
          <p:cNvPr id="46" name="Text 44"/>
          <p:cNvSpPr/>
          <p:nvPr/>
        </p:nvSpPr>
        <p:spPr>
          <a:xfrm>
            <a:off x="685800" y="5276088"/>
            <a:ext cx="1965960" cy="182880"/>
          </a:xfrm>
          <a:prstGeom prst="rect">
            <a:avLst/>
          </a:prstGeom>
          <a:noFill/>
          <a:ln/>
        </p:spPr>
        <p:txBody>
          <a:bodyPr wrap="square" lIns="0" tIns="0" rIns="0" bIns="0" rtlCol="0" anchor="ctr">
            <a:normAutofit/>
          </a:bodyPr>
          <a:lstStyle/>
          <a:p>
            <a:pPr algn="l" indent="0" marL="0">
              <a:buNone/>
            </a:pPr>
            <a:r>
              <a:rPr lang="en-US" sz="900" b="1" dirty="0">
                <a:solidFill>
                  <a:srgbClr val="708087"/>
                </a:solidFill>
                <a:latin typeface="Malgun Gothic" pitchFamily="34" charset="0"/>
                <a:ea typeface="Malgun Gothic" pitchFamily="34" charset="-122"/>
                <a:cs typeface="Malgun Gothic" pitchFamily="34" charset="-120"/>
              </a:rPr>
              <a:t>구매 연결</a:t>
            </a:r>
            <a:endParaRPr lang="en-US" sz="900" dirty="0"/>
          </a:p>
        </p:txBody>
      </p:sp>
      <p:sp>
        <p:nvSpPr>
          <p:cNvPr id="47" name="Shape 45"/>
          <p:cNvSpPr/>
          <p:nvPr/>
        </p:nvSpPr>
        <p:spPr>
          <a:xfrm>
            <a:off x="2788920" y="5111496"/>
            <a:ext cx="2834640" cy="530352"/>
          </a:xfrm>
          <a:prstGeom prst="rect">
            <a:avLst/>
          </a:prstGeom>
          <a:solidFill>
            <a:srgbClr val="FFFFFF"/>
          </a:solidFill>
          <a:ln w="7620">
            <a:solidFill>
              <a:srgbClr val="D8E2E5"/>
            </a:solidFill>
            <a:prstDash val="solid"/>
          </a:ln>
        </p:spPr>
      </p:sp>
      <p:sp>
        <p:nvSpPr>
          <p:cNvPr id="48" name="Text 46"/>
          <p:cNvSpPr/>
          <p:nvPr/>
        </p:nvSpPr>
        <p:spPr>
          <a:xfrm>
            <a:off x="2880360" y="5276088"/>
            <a:ext cx="2651760" cy="182880"/>
          </a:xfrm>
          <a:prstGeom prst="rect">
            <a:avLst/>
          </a:prstGeom>
          <a:noFill/>
          <a:ln/>
        </p:spPr>
        <p:txBody>
          <a:bodyPr wrap="square" lIns="0" tIns="0" rIns="0" bIns="0" rtlCol="0" anchor="ctr">
            <a:normAutofit/>
          </a:bodyPr>
          <a:lstStyle/>
          <a:p>
            <a:pPr algn="ctr" indent="0" marL="0">
              <a:buNone/>
            </a:pPr>
            <a:r>
              <a:rPr lang="en-US" sz="880" dirty="0">
                <a:solidFill>
                  <a:srgbClr val="708087"/>
                </a:solidFill>
                <a:latin typeface="Malgun Gothic" pitchFamily="34" charset="0"/>
                <a:ea typeface="Malgun Gothic" pitchFamily="34" charset="-122"/>
                <a:cs typeface="Malgun Gothic" pitchFamily="34" charset="-120"/>
              </a:rPr>
              <a:t>미리 연결한 상품</a:t>
            </a:r>
            <a:endParaRPr lang="en-US" sz="880" dirty="0"/>
          </a:p>
        </p:txBody>
      </p:sp>
      <p:sp>
        <p:nvSpPr>
          <p:cNvPr id="49" name="Shape 47"/>
          <p:cNvSpPr/>
          <p:nvPr/>
        </p:nvSpPr>
        <p:spPr>
          <a:xfrm>
            <a:off x="5687568" y="5111496"/>
            <a:ext cx="2788920" cy="530352"/>
          </a:xfrm>
          <a:prstGeom prst="rect">
            <a:avLst/>
          </a:prstGeom>
          <a:solidFill>
            <a:srgbClr val="FFFFFF"/>
          </a:solidFill>
          <a:ln w="7620">
            <a:solidFill>
              <a:srgbClr val="D8E2E5"/>
            </a:solidFill>
            <a:prstDash val="solid"/>
          </a:ln>
        </p:spPr>
      </p:sp>
      <p:sp>
        <p:nvSpPr>
          <p:cNvPr id="50" name="Text 48"/>
          <p:cNvSpPr/>
          <p:nvPr/>
        </p:nvSpPr>
        <p:spPr>
          <a:xfrm>
            <a:off x="5779008" y="5276088"/>
            <a:ext cx="2606040" cy="182880"/>
          </a:xfrm>
          <a:prstGeom prst="rect">
            <a:avLst/>
          </a:prstGeom>
          <a:noFill/>
          <a:ln/>
        </p:spPr>
        <p:txBody>
          <a:bodyPr wrap="square" lIns="0" tIns="0" rIns="0" bIns="0" rtlCol="0" anchor="ctr">
            <a:normAutofit/>
          </a:bodyPr>
          <a:lstStyle/>
          <a:p>
            <a:pPr algn="ctr" indent="0" marL="0">
              <a:buNone/>
            </a:pPr>
            <a:r>
              <a:rPr lang="en-US" sz="880" dirty="0">
                <a:solidFill>
                  <a:srgbClr val="708087"/>
                </a:solidFill>
                <a:latin typeface="Malgun Gothic" pitchFamily="34" charset="0"/>
                <a:ea typeface="Malgun Gothic" pitchFamily="34" charset="-122"/>
                <a:cs typeface="Malgun Gothic" pitchFamily="34" charset="-120"/>
              </a:rPr>
              <a:t>일반 검색 결과</a:t>
            </a:r>
            <a:endParaRPr lang="en-US" sz="880" dirty="0"/>
          </a:p>
        </p:txBody>
      </p:sp>
      <p:sp>
        <p:nvSpPr>
          <p:cNvPr id="51" name="Shape 49"/>
          <p:cNvSpPr/>
          <p:nvPr/>
        </p:nvSpPr>
        <p:spPr>
          <a:xfrm>
            <a:off x="8549640" y="5111496"/>
            <a:ext cx="2999232" cy="530352"/>
          </a:xfrm>
          <a:prstGeom prst="rect">
            <a:avLst/>
          </a:prstGeom>
          <a:solidFill>
            <a:srgbClr val="FFFFFF"/>
          </a:solidFill>
          <a:ln w="7620">
            <a:solidFill>
              <a:srgbClr val="D8E2E5"/>
            </a:solidFill>
            <a:prstDash val="solid"/>
          </a:ln>
        </p:spPr>
      </p:sp>
      <p:sp>
        <p:nvSpPr>
          <p:cNvPr id="52" name="Text 50"/>
          <p:cNvSpPr/>
          <p:nvPr/>
        </p:nvSpPr>
        <p:spPr>
          <a:xfrm>
            <a:off x="8641080" y="5276088"/>
            <a:ext cx="2816352" cy="182880"/>
          </a:xfrm>
          <a:prstGeom prst="rect">
            <a:avLst/>
          </a:prstGeom>
          <a:noFill/>
          <a:ln/>
        </p:spPr>
        <p:txBody>
          <a:bodyPr wrap="square" lIns="0" tIns="0" rIns="0" bIns="0" rtlCol="0" anchor="ctr">
            <a:normAutofit/>
          </a:bodyPr>
          <a:lstStyle/>
          <a:p>
            <a:pPr algn="ctr" indent="0" marL="0">
              <a:buNone/>
            </a:pPr>
            <a:r>
              <a:rPr lang="en-US" sz="880" b="1" dirty="0">
                <a:solidFill>
                  <a:srgbClr val="168CA3"/>
                </a:solidFill>
                <a:latin typeface="Malgun Gothic" pitchFamily="34" charset="0"/>
                <a:ea typeface="Malgun Gothic" pitchFamily="34" charset="-122"/>
                <a:cs typeface="Malgun Gothic" pitchFamily="34" charset="-120"/>
              </a:rPr>
              <a:t>영상 순간의 검색 결과</a:t>
            </a:r>
            <a:endParaRPr lang="en-US" sz="880" dirty="0"/>
          </a:p>
        </p:txBody>
      </p:sp>
      <p:sp>
        <p:nvSpPr>
          <p:cNvPr id="53" name="Shape 51"/>
          <p:cNvSpPr/>
          <p:nvPr/>
        </p:nvSpPr>
        <p:spPr>
          <a:xfrm>
            <a:off x="2057400" y="5897880"/>
            <a:ext cx="8046720" cy="411480"/>
          </a:xfrm>
          <a:prstGeom prst="roundRect">
            <a:avLst>
              <a:gd name="adj" fmla="val 15556"/>
            </a:avLst>
          </a:prstGeom>
          <a:solidFill>
            <a:srgbClr val="DFF8FC"/>
          </a:solidFill>
          <a:ln w="12700">
            <a:solidFill>
              <a:srgbClr val="DFF8FC"/>
            </a:solidFill>
            <a:prstDash val="solid"/>
          </a:ln>
        </p:spPr>
      </p:sp>
      <p:sp>
        <p:nvSpPr>
          <p:cNvPr id="54" name="Text 52"/>
          <p:cNvSpPr/>
          <p:nvPr/>
        </p:nvSpPr>
        <p:spPr>
          <a:xfrm>
            <a:off x="2267712" y="6016752"/>
            <a:ext cx="7626096" cy="164592"/>
          </a:xfrm>
          <a:prstGeom prst="rect">
            <a:avLst/>
          </a:prstGeom>
          <a:noFill/>
          <a:ln/>
        </p:spPr>
        <p:txBody>
          <a:bodyPr wrap="square" lIns="0" tIns="0" rIns="0" bIns="0" rtlCol="0" anchor="ctr">
            <a:normAutofit/>
          </a:bodyPr>
          <a:lstStyle/>
          <a:p>
            <a:pPr algn="ctr" indent="0" marL="0">
              <a:buNone/>
            </a:pPr>
            <a:r>
              <a:rPr lang="en-US" sz="950" b="1" dirty="0">
                <a:solidFill>
                  <a:srgbClr val="168CA3"/>
                </a:solidFill>
                <a:latin typeface="Malgun Gothic" pitchFamily="34" charset="0"/>
                <a:ea typeface="Malgun Gothic" pitchFamily="34" charset="-122"/>
                <a:cs typeface="Malgun Gothic" pitchFamily="34" charset="-120"/>
              </a:rPr>
              <a:t>CleanTouch의 차별점: 이미지 검색 기술 자체보다 영상 시청 중 바로 사용하는 연결 방식</a:t>
            </a:r>
            <a:endParaRPr lang="en-US" sz="950" dirty="0"/>
          </a:p>
        </p:txBody>
      </p:sp>
      <p:sp>
        <p:nvSpPr>
          <p:cNvPr id="55" name="Text 53"/>
          <p:cNvSpPr/>
          <p:nvPr/>
        </p:nvSpPr>
        <p:spPr>
          <a:xfrm>
            <a:off x="411480" y="6528816"/>
            <a:ext cx="1463040" cy="182880"/>
          </a:xfrm>
          <a:prstGeom prst="rect">
            <a:avLst/>
          </a:prstGeom>
          <a:noFill/>
          <a:ln/>
        </p:spPr>
        <p:txBody>
          <a:bodyPr wrap="square" lIns="0" tIns="0" rIns="0" bIns="0" rtlCol="0" anchor="ctr"/>
          <a:lstStyle/>
          <a:p>
            <a:pPr indent="0" marL="0">
              <a:buNone/>
            </a:pPr>
            <a:r>
              <a:rPr lang="en-US" sz="750" b="1" dirty="0">
                <a:solidFill>
                  <a:srgbClr val="A4B0B4"/>
                </a:solidFill>
                <a:latin typeface="Malgun Gothic" pitchFamily="34" charset="0"/>
                <a:ea typeface="Malgun Gothic" pitchFamily="34" charset="-122"/>
                <a:cs typeface="Malgun Gothic" pitchFamily="34" charset="-120"/>
              </a:rPr>
              <a:t>CleanTouch</a:t>
            </a:r>
            <a:endParaRPr lang="en-US" sz="750" dirty="0"/>
          </a:p>
        </p:txBody>
      </p:sp>
      <p:sp>
        <p:nvSpPr>
          <p:cNvPr id="56" name="Text 54"/>
          <p:cNvSpPr/>
          <p:nvPr/>
        </p:nvSpPr>
        <p:spPr>
          <a:xfrm>
            <a:off x="11292840" y="6510528"/>
            <a:ext cx="457200" cy="182880"/>
          </a:xfrm>
          <a:prstGeom prst="rect">
            <a:avLst/>
          </a:prstGeom>
          <a:noFill/>
          <a:ln/>
        </p:spPr>
        <p:txBody>
          <a:bodyPr wrap="square" lIns="0" tIns="0" rIns="0" bIns="0" rtlCol="0" anchor="ctr"/>
          <a:lstStyle/>
          <a:p>
            <a:pPr algn="r" indent="0" marL="0">
              <a:buNone/>
            </a:pPr>
            <a:r>
              <a:rPr lang="en-US" sz="750" dirty="0">
                <a:solidFill>
                  <a:srgbClr val="A4B0B4"/>
                </a:solidFill>
                <a:latin typeface="Malgun Gothic" pitchFamily="34" charset="0"/>
                <a:ea typeface="Malgun Gothic" pitchFamily="34" charset="-122"/>
                <a:cs typeface="Malgun Gothic" pitchFamily="34" charset="-120"/>
              </a:rPr>
              <a:t>08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7F8"/>
        </a:solidFill>
      </p:bgPr>
    </p:bg>
    <p:spTree>
      <p:nvGrpSpPr>
        <p:cNvPr id="1" name=""/>
        <p:cNvGrpSpPr/>
        <p:nvPr/>
      </p:nvGrpSpPr>
      <p:grpSpPr>
        <a:xfrm>
          <a:off x="0" y="0"/>
          <a:ext cx="0" cy="0"/>
          <a:chOff x="0" y="0"/>
          <a:chExt cx="0" cy="0"/>
        </a:xfrm>
      </p:grpSpPr>
      <p:sp>
        <p:nvSpPr>
          <p:cNvPr id="2" name="Text 0"/>
          <p:cNvSpPr/>
          <p:nvPr/>
        </p:nvSpPr>
        <p:spPr>
          <a:xfrm>
            <a:off x="548640" y="347472"/>
            <a:ext cx="4114800" cy="228600"/>
          </a:xfrm>
          <a:prstGeom prst="rect">
            <a:avLst/>
          </a:prstGeom>
          <a:noFill/>
          <a:ln/>
        </p:spPr>
        <p:txBody>
          <a:bodyPr wrap="square" lIns="0" tIns="0" rIns="0" bIns="0" rtlCol="0" anchor="ctr"/>
          <a:lstStyle/>
          <a:p>
            <a:pPr indent="0" marL="0">
              <a:buNone/>
            </a:pPr>
            <a:r>
              <a:rPr lang="en-US" sz="850" b="1" spc="140" kern="0" dirty="0">
                <a:solidFill>
                  <a:srgbClr val="168CA3"/>
                </a:solidFill>
                <a:latin typeface="Malgun Gothic" pitchFamily="34" charset="0"/>
                <a:ea typeface="Malgun Gothic" pitchFamily="34" charset="-122"/>
                <a:cs typeface="Malgun Gothic" pitchFamily="34" charset="-120"/>
              </a:rPr>
              <a:t>08 · BUSINESS</a:t>
            </a:r>
            <a:endParaRPr lang="en-US" sz="850" dirty="0"/>
          </a:p>
        </p:txBody>
      </p:sp>
      <p:sp>
        <p:nvSpPr>
          <p:cNvPr id="3" name="Text 1"/>
          <p:cNvSpPr/>
          <p:nvPr/>
        </p:nvSpPr>
        <p:spPr>
          <a:xfrm>
            <a:off x="548640" y="685800"/>
            <a:ext cx="11064240" cy="566928"/>
          </a:xfrm>
          <a:prstGeom prst="rect">
            <a:avLst/>
          </a:prstGeom>
          <a:noFill/>
          <a:ln/>
        </p:spPr>
        <p:txBody>
          <a:bodyPr wrap="square" lIns="0" tIns="0" rIns="0" bIns="0" rtlCol="0" anchor="ctr">
            <a:normAutofit/>
          </a:bodyPr>
          <a:lstStyle/>
          <a:p>
            <a:pPr indent="0" marL="0">
              <a:buNone/>
            </a:pPr>
            <a:r>
              <a:rPr lang="en-US" sz="2500" b="1" dirty="0">
                <a:solidFill>
                  <a:srgbClr val="14272E"/>
                </a:solidFill>
                <a:latin typeface="Malgun Gothic" pitchFamily="34" charset="0"/>
                <a:ea typeface="Malgun Gothic" pitchFamily="34" charset="-122"/>
                <a:cs typeface="Malgun Gothic" pitchFamily="34" charset="-120"/>
              </a:rPr>
              <a:t>사용자는 무료, 커머스 사업자가 비용을 낸다</a:t>
            </a:r>
            <a:endParaRPr lang="en-US" sz="2500" dirty="0"/>
          </a:p>
        </p:txBody>
      </p:sp>
      <p:sp>
        <p:nvSpPr>
          <p:cNvPr id="4" name="Text 2"/>
          <p:cNvSpPr/>
          <p:nvPr/>
        </p:nvSpPr>
        <p:spPr>
          <a:xfrm>
            <a:off x="566928" y="1353312"/>
            <a:ext cx="10698480" cy="384048"/>
          </a:xfrm>
          <a:prstGeom prst="rect">
            <a:avLst/>
          </a:prstGeom>
          <a:noFill/>
          <a:ln/>
        </p:spPr>
        <p:txBody>
          <a:bodyPr wrap="square" lIns="0" tIns="0" rIns="0" bIns="0" rtlCol="0" anchor="ctr">
            <a:normAutofit/>
          </a:bodyPr>
          <a:lstStyle/>
          <a:p>
            <a:pPr indent="0" marL="0">
              <a:buNone/>
            </a:pPr>
            <a:r>
              <a:rPr lang="en-US" sz="1050" dirty="0">
                <a:solidFill>
                  <a:srgbClr val="708087"/>
                </a:solidFill>
                <a:latin typeface="Malgun Gothic" pitchFamily="34" charset="0"/>
                <a:ea typeface="Malgun Gothic" pitchFamily="34" charset="-122"/>
                <a:cs typeface="Malgun Gothic" pitchFamily="34" charset="-120"/>
              </a:rPr>
              <a:t>초기 가격은 검증 전 가정이며 고객 인터뷰와 실증으로 수정해야 합니다.</a:t>
            </a:r>
            <a:endParaRPr lang="en-US" sz="1050" dirty="0"/>
          </a:p>
        </p:txBody>
      </p:sp>
      <p:sp>
        <p:nvSpPr>
          <p:cNvPr id="5" name="Shape 3"/>
          <p:cNvSpPr/>
          <p:nvPr/>
        </p:nvSpPr>
        <p:spPr>
          <a:xfrm>
            <a:off x="621792" y="1938528"/>
            <a:ext cx="3429000" cy="3337560"/>
          </a:xfrm>
          <a:prstGeom prst="roundRect">
            <a:avLst>
              <a:gd name="adj" fmla="val 3288"/>
            </a:avLst>
          </a:prstGeom>
          <a:solidFill>
            <a:srgbClr val="FFFFFF"/>
          </a:solidFill>
          <a:ln w="12700">
            <a:solidFill>
              <a:srgbClr val="D8E2E5"/>
            </a:solidFill>
            <a:prstDash val="solid"/>
          </a:ln>
          <a:effectLst>
            <a:outerShdw sx="100000" sy="100000" kx="0" ky="0" algn="bl" rotWithShape="0" blurRad="19050" dist="50800" dir="2700000">
              <a:srgbClr val="AEBFC4">
                <a:alpha val="16000"/>
              </a:srgbClr>
            </a:outerShdw>
          </a:effectLst>
        </p:spPr>
      </p:sp>
      <p:sp>
        <p:nvSpPr>
          <p:cNvPr id="6" name="Shape 4"/>
          <p:cNvSpPr/>
          <p:nvPr/>
        </p:nvSpPr>
        <p:spPr>
          <a:xfrm>
            <a:off x="877824" y="2212848"/>
            <a:ext cx="109728" cy="512064"/>
          </a:xfrm>
          <a:prstGeom prst="roundRect">
            <a:avLst>
              <a:gd name="adj" fmla="val 33333"/>
            </a:avLst>
          </a:prstGeom>
          <a:solidFill>
            <a:srgbClr val="38C9DF"/>
          </a:solidFill>
          <a:ln w="12700">
            <a:solidFill>
              <a:srgbClr val="38C9DF"/>
            </a:solidFill>
            <a:prstDash val="solid"/>
          </a:ln>
        </p:spPr>
      </p:sp>
      <p:sp>
        <p:nvSpPr>
          <p:cNvPr id="7" name="Text 5"/>
          <p:cNvSpPr/>
          <p:nvPr/>
        </p:nvSpPr>
        <p:spPr>
          <a:xfrm>
            <a:off x="1124712" y="2194560"/>
            <a:ext cx="2679192" cy="329184"/>
          </a:xfrm>
          <a:prstGeom prst="rect">
            <a:avLst/>
          </a:prstGeom>
          <a:noFill/>
          <a:ln/>
        </p:spPr>
        <p:txBody>
          <a:bodyPr wrap="square" lIns="0" tIns="0" rIns="0" bIns="0" rtlCol="0" anchor="ctr">
            <a:normAutofit/>
          </a:bodyPr>
          <a:lstStyle/>
          <a:p>
            <a:pPr indent="0" marL="0">
              <a:buNone/>
            </a:pPr>
            <a:r>
              <a:rPr lang="en-US" sz="1400" b="1" dirty="0">
                <a:solidFill>
                  <a:srgbClr val="14272E"/>
                </a:solidFill>
                <a:latin typeface="Malgun Gothic" pitchFamily="34" charset="0"/>
                <a:ea typeface="Malgun Gothic" pitchFamily="34" charset="-122"/>
                <a:cs typeface="Malgun Gothic" pitchFamily="34" charset="-120"/>
              </a:rPr>
              <a:t>돈을 내는 고객</a:t>
            </a:r>
            <a:endParaRPr lang="en-US" sz="1400" dirty="0"/>
          </a:p>
        </p:txBody>
      </p:sp>
      <p:sp>
        <p:nvSpPr>
          <p:cNvPr id="8" name="Text 6"/>
          <p:cNvSpPr/>
          <p:nvPr/>
        </p:nvSpPr>
        <p:spPr>
          <a:xfrm>
            <a:off x="1124712" y="2743200"/>
            <a:ext cx="2679192" cy="2286000"/>
          </a:xfrm>
          <a:prstGeom prst="rect">
            <a:avLst/>
          </a:prstGeom>
          <a:noFill/>
          <a:ln/>
        </p:spPr>
        <p:txBody>
          <a:bodyPr wrap="square" lIns="0" tIns="0" rIns="0" bIns="0" rtlCol="0" anchor="t">
            <a:normAutofit/>
          </a:bodyPr>
          <a:lstStyle/>
          <a:p>
            <a:r>
              <a:rPr lang="en-US" sz="1020" dirty="0">
                <a:solidFill>
                  <a:srgbClr val="708087"/>
                </a:solidFill>
                <a:latin typeface="Malgun Gothic" pitchFamily="34" charset="0"/>
                <a:ea typeface="Malgun Gothic" pitchFamily="34" charset="-122"/>
                <a:cs typeface="Malgun Gothic" pitchFamily="34" charset="-120"/>
              </a:rPr>
              <a:t>자체 숏폼 피드를 운영하는 쇼핑몰·홈쇼핑</a:t>
            </a:r>
            <a:endParaRPr lang="en-US" sz="1020" dirty="0"/>
          </a:p>
          <a:p>
            <a:r>
              <a:rPr lang="en-US" sz="1020" dirty="0">
                <a:solidFill>
                  <a:srgbClr val="708087"/>
                </a:solidFill>
                <a:latin typeface="Malgun Gothic" pitchFamily="34" charset="0"/>
                <a:ea typeface="Malgun Gothic" pitchFamily="34" charset="-122"/>
                <a:cs typeface="Malgun Gothic" pitchFamily="34" charset="-120"/>
              </a:rPr>
              <a:t>숏폼 플레이어를 공급하는 영상 솔루션 회사</a:t>
            </a:r>
            <a:endParaRPr lang="en-US" sz="1020" dirty="0"/>
          </a:p>
          <a:p>
            <a:r>
              <a:rPr lang="en-US" sz="1020" dirty="0">
                <a:solidFill>
                  <a:srgbClr val="708087"/>
                </a:solidFill>
                <a:latin typeface="Malgun Gothic" pitchFamily="34" charset="0"/>
                <a:ea typeface="Malgun Gothic" pitchFamily="34" charset="-122"/>
                <a:cs typeface="Malgun Gothic" pitchFamily="34" charset="-120"/>
              </a:rPr>
              <a:t>패션 브랜드와 상품 데이터를 가진 사업자</a:t>
            </a:r>
            <a:endParaRPr lang="en-US" sz="1020" dirty="0"/>
          </a:p>
        </p:txBody>
      </p:sp>
      <p:sp>
        <p:nvSpPr>
          <p:cNvPr id="9" name="Shape 7"/>
          <p:cNvSpPr/>
          <p:nvPr/>
        </p:nvSpPr>
        <p:spPr>
          <a:xfrm>
            <a:off x="4389120" y="1938528"/>
            <a:ext cx="3429000" cy="3337560"/>
          </a:xfrm>
          <a:prstGeom prst="roundRect">
            <a:avLst>
              <a:gd name="adj" fmla="val 3288"/>
            </a:avLst>
          </a:prstGeom>
          <a:solidFill>
            <a:srgbClr val="FFFFFF"/>
          </a:solidFill>
          <a:ln w="12700">
            <a:solidFill>
              <a:srgbClr val="D8E2E5"/>
            </a:solidFill>
            <a:prstDash val="solid"/>
          </a:ln>
          <a:effectLst>
            <a:outerShdw sx="100000" sy="100000" kx="0" ky="0" algn="bl" rotWithShape="0" blurRad="19050" dist="50800" dir="2700000">
              <a:srgbClr val="AEBFC4">
                <a:alpha val="16000"/>
              </a:srgbClr>
            </a:outerShdw>
          </a:effectLst>
        </p:spPr>
      </p:sp>
      <p:sp>
        <p:nvSpPr>
          <p:cNvPr id="10" name="Shape 8"/>
          <p:cNvSpPr/>
          <p:nvPr/>
        </p:nvSpPr>
        <p:spPr>
          <a:xfrm>
            <a:off x="4645152" y="2212848"/>
            <a:ext cx="109728" cy="512064"/>
          </a:xfrm>
          <a:prstGeom prst="roundRect">
            <a:avLst>
              <a:gd name="adj" fmla="val 33333"/>
            </a:avLst>
          </a:prstGeom>
          <a:solidFill>
            <a:srgbClr val="6550B6"/>
          </a:solidFill>
          <a:ln w="12700">
            <a:solidFill>
              <a:srgbClr val="6550B6"/>
            </a:solidFill>
            <a:prstDash val="solid"/>
          </a:ln>
        </p:spPr>
      </p:sp>
      <p:sp>
        <p:nvSpPr>
          <p:cNvPr id="11" name="Text 9"/>
          <p:cNvSpPr/>
          <p:nvPr/>
        </p:nvSpPr>
        <p:spPr>
          <a:xfrm>
            <a:off x="4892040" y="2194560"/>
            <a:ext cx="2679192" cy="329184"/>
          </a:xfrm>
          <a:prstGeom prst="rect">
            <a:avLst/>
          </a:prstGeom>
          <a:noFill/>
          <a:ln/>
        </p:spPr>
        <p:txBody>
          <a:bodyPr wrap="square" lIns="0" tIns="0" rIns="0" bIns="0" rtlCol="0" anchor="ctr">
            <a:normAutofit/>
          </a:bodyPr>
          <a:lstStyle/>
          <a:p>
            <a:pPr indent="0" marL="0">
              <a:buNone/>
            </a:pPr>
            <a:r>
              <a:rPr lang="en-US" sz="1400" b="1" dirty="0">
                <a:solidFill>
                  <a:srgbClr val="14272E"/>
                </a:solidFill>
                <a:latin typeface="Malgun Gothic" pitchFamily="34" charset="0"/>
                <a:ea typeface="Malgun Gothic" pitchFamily="34" charset="-122"/>
                <a:cs typeface="Malgun Gothic" pitchFamily="34" charset="-120"/>
              </a:rPr>
              <a:t>제공하는 가치</a:t>
            </a:r>
            <a:endParaRPr lang="en-US" sz="1400" dirty="0"/>
          </a:p>
        </p:txBody>
      </p:sp>
      <p:sp>
        <p:nvSpPr>
          <p:cNvPr id="12" name="Text 10"/>
          <p:cNvSpPr/>
          <p:nvPr/>
        </p:nvSpPr>
        <p:spPr>
          <a:xfrm>
            <a:off x="4892040" y="2743200"/>
            <a:ext cx="2679192" cy="2286000"/>
          </a:xfrm>
          <a:prstGeom prst="rect">
            <a:avLst/>
          </a:prstGeom>
          <a:noFill/>
          <a:ln/>
        </p:spPr>
        <p:txBody>
          <a:bodyPr wrap="square" lIns="0" tIns="0" rIns="0" bIns="0" rtlCol="0" anchor="t">
            <a:normAutofit/>
          </a:bodyPr>
          <a:lstStyle/>
          <a:p>
            <a:r>
              <a:rPr lang="en-US" sz="1020" dirty="0">
                <a:solidFill>
                  <a:srgbClr val="708087"/>
                </a:solidFill>
                <a:latin typeface="Malgun Gothic" pitchFamily="34" charset="0"/>
                <a:ea typeface="Malgun Gothic" pitchFamily="34" charset="-122"/>
                <a:cs typeface="Malgun Gothic" pitchFamily="34" charset="-120"/>
              </a:rPr>
              <a:t>영상 몰입도를 해치지 않는 상품 연결</a:t>
            </a:r>
            <a:endParaRPr lang="en-US" sz="1020" dirty="0"/>
          </a:p>
          <a:p>
            <a:r>
              <a:rPr lang="en-US" sz="1020" dirty="0">
                <a:solidFill>
                  <a:srgbClr val="708087"/>
                </a:solidFill>
                <a:latin typeface="Malgun Gothic" pitchFamily="34" charset="0"/>
                <a:ea typeface="Malgun Gothic" pitchFamily="34" charset="-122"/>
                <a:cs typeface="Malgun Gothic" pitchFamily="34" charset="-120"/>
              </a:rPr>
              <a:t>상품 클릭·구매 도달 분석</a:t>
            </a:r>
            <a:endParaRPr lang="en-US" sz="1020" dirty="0"/>
          </a:p>
          <a:p>
            <a:r>
              <a:rPr lang="en-US" sz="1020" dirty="0">
                <a:solidFill>
                  <a:srgbClr val="708087"/>
                </a:solidFill>
                <a:latin typeface="Malgun Gothic" pitchFamily="34" charset="0"/>
                <a:ea typeface="Malgun Gothic" pitchFamily="34" charset="-122"/>
                <a:cs typeface="Malgun Gothic" pitchFamily="34" charset="-120"/>
              </a:rPr>
              <a:t>상품 DB와 영상 검색 데이터 연동</a:t>
            </a:r>
            <a:endParaRPr lang="en-US" sz="1020" dirty="0"/>
          </a:p>
        </p:txBody>
      </p:sp>
      <p:sp>
        <p:nvSpPr>
          <p:cNvPr id="13" name="Shape 11"/>
          <p:cNvSpPr/>
          <p:nvPr/>
        </p:nvSpPr>
        <p:spPr>
          <a:xfrm>
            <a:off x="8156448" y="1938528"/>
            <a:ext cx="3429000" cy="3337560"/>
          </a:xfrm>
          <a:prstGeom prst="roundRect">
            <a:avLst>
              <a:gd name="adj" fmla="val 3288"/>
            </a:avLst>
          </a:prstGeom>
          <a:solidFill>
            <a:srgbClr val="FFFFFF"/>
          </a:solidFill>
          <a:ln w="12700">
            <a:solidFill>
              <a:srgbClr val="D8E2E5"/>
            </a:solidFill>
            <a:prstDash val="solid"/>
          </a:ln>
          <a:effectLst>
            <a:outerShdw sx="100000" sy="100000" kx="0" ky="0" algn="bl" rotWithShape="0" blurRad="19050" dist="50800" dir="2700000">
              <a:srgbClr val="AEBFC4">
                <a:alpha val="16000"/>
              </a:srgbClr>
            </a:outerShdw>
          </a:effectLst>
        </p:spPr>
      </p:sp>
      <p:sp>
        <p:nvSpPr>
          <p:cNvPr id="14" name="Shape 12"/>
          <p:cNvSpPr/>
          <p:nvPr/>
        </p:nvSpPr>
        <p:spPr>
          <a:xfrm>
            <a:off x="8412480" y="2212848"/>
            <a:ext cx="109728" cy="512064"/>
          </a:xfrm>
          <a:prstGeom prst="roundRect">
            <a:avLst>
              <a:gd name="adj" fmla="val 33333"/>
            </a:avLst>
          </a:prstGeom>
          <a:solidFill>
            <a:srgbClr val="18866E"/>
          </a:solidFill>
          <a:ln w="12700">
            <a:solidFill>
              <a:srgbClr val="18866E"/>
            </a:solidFill>
            <a:prstDash val="solid"/>
          </a:ln>
        </p:spPr>
      </p:sp>
      <p:sp>
        <p:nvSpPr>
          <p:cNvPr id="15" name="Text 13"/>
          <p:cNvSpPr/>
          <p:nvPr/>
        </p:nvSpPr>
        <p:spPr>
          <a:xfrm>
            <a:off x="8659368" y="2194560"/>
            <a:ext cx="2679192" cy="329184"/>
          </a:xfrm>
          <a:prstGeom prst="rect">
            <a:avLst/>
          </a:prstGeom>
          <a:noFill/>
          <a:ln/>
        </p:spPr>
        <p:txBody>
          <a:bodyPr wrap="square" lIns="0" tIns="0" rIns="0" bIns="0" rtlCol="0" anchor="ctr">
            <a:normAutofit/>
          </a:bodyPr>
          <a:lstStyle/>
          <a:p>
            <a:pPr indent="0" marL="0">
              <a:buNone/>
            </a:pPr>
            <a:r>
              <a:rPr lang="en-US" sz="1400" b="1" dirty="0">
                <a:solidFill>
                  <a:srgbClr val="14272E"/>
                </a:solidFill>
                <a:latin typeface="Malgun Gothic" pitchFamily="34" charset="0"/>
                <a:ea typeface="Malgun Gothic" pitchFamily="34" charset="-122"/>
                <a:cs typeface="Malgun Gothic" pitchFamily="34" charset="-120"/>
              </a:rPr>
              <a:t>수익 모델</a:t>
            </a:r>
            <a:endParaRPr lang="en-US" sz="1400" dirty="0"/>
          </a:p>
        </p:txBody>
      </p:sp>
      <p:sp>
        <p:nvSpPr>
          <p:cNvPr id="16" name="Text 14"/>
          <p:cNvSpPr/>
          <p:nvPr/>
        </p:nvSpPr>
        <p:spPr>
          <a:xfrm>
            <a:off x="8659368" y="2743200"/>
            <a:ext cx="2679192" cy="2286000"/>
          </a:xfrm>
          <a:prstGeom prst="rect">
            <a:avLst/>
          </a:prstGeom>
          <a:noFill/>
          <a:ln/>
        </p:spPr>
        <p:txBody>
          <a:bodyPr wrap="square" lIns="0" tIns="0" rIns="0" bIns="0" rtlCol="0" anchor="t">
            <a:normAutofit/>
          </a:bodyPr>
          <a:lstStyle/>
          <a:p>
            <a:r>
              <a:rPr lang="en-US" sz="1020" dirty="0">
                <a:solidFill>
                  <a:srgbClr val="708087"/>
                </a:solidFill>
                <a:latin typeface="Malgun Gothic" pitchFamily="34" charset="0"/>
                <a:ea typeface="Malgun Gothic" pitchFamily="34" charset="-122"/>
                <a:cs typeface="Malgun Gothic" pitchFamily="34" charset="-120"/>
              </a:rPr>
              <a:t>기업용 SDK·관리 화면 라이선스</a:t>
            </a:r>
            <a:endParaRPr lang="en-US" sz="1020" dirty="0"/>
          </a:p>
          <a:p>
            <a:r>
              <a:rPr lang="en-US" sz="1020" dirty="0">
                <a:solidFill>
                  <a:srgbClr val="708087"/>
                </a:solidFill>
                <a:latin typeface="Malgun Gothic" pitchFamily="34" charset="0"/>
                <a:ea typeface="Malgun Gothic" pitchFamily="34" charset="-122"/>
                <a:cs typeface="Malgun Gothic" pitchFamily="34" charset="-120"/>
              </a:rPr>
              <a:t>상품 DB 연동 및 분석 기능 이용료</a:t>
            </a:r>
            <a:endParaRPr lang="en-US" sz="1020" dirty="0"/>
          </a:p>
          <a:p>
            <a:r>
              <a:rPr lang="en-US" sz="1020" dirty="0">
                <a:solidFill>
                  <a:srgbClr val="708087"/>
                </a:solidFill>
                <a:latin typeface="Malgun Gothic" pitchFamily="34" charset="0"/>
                <a:ea typeface="Malgun Gothic" pitchFamily="34" charset="-122"/>
                <a:cs typeface="Malgun Gothic" pitchFamily="34" charset="-120"/>
              </a:rPr>
              <a:t>검색 노출·제휴 구매 수수료</a:t>
            </a:r>
            <a:endParaRPr lang="en-US" sz="1020" dirty="0"/>
          </a:p>
        </p:txBody>
      </p:sp>
      <p:sp>
        <p:nvSpPr>
          <p:cNvPr id="17" name="Shape 15"/>
          <p:cNvSpPr/>
          <p:nvPr/>
        </p:nvSpPr>
        <p:spPr>
          <a:xfrm>
            <a:off x="1371600" y="5596128"/>
            <a:ext cx="9464040" cy="548640"/>
          </a:xfrm>
          <a:prstGeom prst="roundRect">
            <a:avLst>
              <a:gd name="adj" fmla="val 13333"/>
            </a:avLst>
          </a:prstGeom>
          <a:solidFill>
            <a:srgbClr val="14272E"/>
          </a:solidFill>
          <a:ln w="12700">
            <a:solidFill>
              <a:srgbClr val="14272E"/>
            </a:solidFill>
            <a:prstDash val="solid"/>
          </a:ln>
        </p:spPr>
      </p:sp>
      <p:sp>
        <p:nvSpPr>
          <p:cNvPr id="18" name="Text 16"/>
          <p:cNvSpPr/>
          <p:nvPr/>
        </p:nvSpPr>
        <p:spPr>
          <a:xfrm>
            <a:off x="1627632" y="5769864"/>
            <a:ext cx="8942832" cy="20116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초기 가정  |  고객사당 연 2,400만 원 + 구매액 2%  →  첫 실증에서 지불 의사 검증</a:t>
            </a:r>
            <a:endParaRPr lang="en-US" sz="1050" dirty="0"/>
          </a:p>
        </p:txBody>
      </p:sp>
      <p:sp>
        <p:nvSpPr>
          <p:cNvPr id="19" name="Text 17"/>
          <p:cNvSpPr/>
          <p:nvPr/>
        </p:nvSpPr>
        <p:spPr>
          <a:xfrm>
            <a:off x="411480" y="6528816"/>
            <a:ext cx="1463040" cy="182880"/>
          </a:xfrm>
          <a:prstGeom prst="rect">
            <a:avLst/>
          </a:prstGeom>
          <a:noFill/>
          <a:ln/>
        </p:spPr>
        <p:txBody>
          <a:bodyPr wrap="square" lIns="0" tIns="0" rIns="0" bIns="0" rtlCol="0" anchor="ctr"/>
          <a:lstStyle/>
          <a:p>
            <a:pPr indent="0" marL="0">
              <a:buNone/>
            </a:pPr>
            <a:r>
              <a:rPr lang="en-US" sz="750" b="1" dirty="0">
                <a:solidFill>
                  <a:srgbClr val="A4B0B4"/>
                </a:solidFill>
                <a:latin typeface="Malgun Gothic" pitchFamily="34" charset="0"/>
                <a:ea typeface="Malgun Gothic" pitchFamily="34" charset="-122"/>
                <a:cs typeface="Malgun Gothic" pitchFamily="34" charset="-120"/>
              </a:rPr>
              <a:t>CleanTouch</a:t>
            </a:r>
            <a:endParaRPr lang="en-US" sz="750" dirty="0"/>
          </a:p>
        </p:txBody>
      </p:sp>
      <p:sp>
        <p:nvSpPr>
          <p:cNvPr id="20" name="Text 18"/>
          <p:cNvSpPr/>
          <p:nvPr/>
        </p:nvSpPr>
        <p:spPr>
          <a:xfrm>
            <a:off x="11292840" y="6510528"/>
            <a:ext cx="457200" cy="182880"/>
          </a:xfrm>
          <a:prstGeom prst="rect">
            <a:avLst/>
          </a:prstGeom>
          <a:noFill/>
          <a:ln/>
        </p:spPr>
        <p:txBody>
          <a:bodyPr wrap="square" lIns="0" tIns="0" rIns="0" bIns="0" rtlCol="0" anchor="ctr"/>
          <a:lstStyle/>
          <a:p>
            <a:pPr algn="r" indent="0" marL="0">
              <a:buNone/>
            </a:pPr>
            <a:r>
              <a:rPr lang="en-US" sz="750" dirty="0">
                <a:solidFill>
                  <a:srgbClr val="A4B0B4"/>
                </a:solidFill>
                <a:latin typeface="Malgun Gothic" pitchFamily="34" charset="0"/>
                <a:ea typeface="Malgun Gothic" pitchFamily="34" charset="-122"/>
                <a:cs typeface="Malgun Gothic" pitchFamily="34" charset="-120"/>
              </a:rPr>
              <a:t>09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7F8"/>
        </a:solidFill>
      </p:bgPr>
    </p:bg>
    <p:spTree>
      <p:nvGrpSpPr>
        <p:cNvPr id="1" name=""/>
        <p:cNvGrpSpPr/>
        <p:nvPr/>
      </p:nvGrpSpPr>
      <p:grpSpPr>
        <a:xfrm>
          <a:off x="0" y="0"/>
          <a:ext cx="0" cy="0"/>
          <a:chOff x="0" y="0"/>
          <a:chExt cx="0" cy="0"/>
        </a:xfrm>
      </p:grpSpPr>
      <p:sp>
        <p:nvSpPr>
          <p:cNvPr id="2" name="Text 0"/>
          <p:cNvSpPr/>
          <p:nvPr/>
        </p:nvSpPr>
        <p:spPr>
          <a:xfrm>
            <a:off x="548640" y="347472"/>
            <a:ext cx="4114800" cy="228600"/>
          </a:xfrm>
          <a:prstGeom prst="rect">
            <a:avLst/>
          </a:prstGeom>
          <a:noFill/>
          <a:ln/>
        </p:spPr>
        <p:txBody>
          <a:bodyPr wrap="square" lIns="0" tIns="0" rIns="0" bIns="0" rtlCol="0" anchor="ctr"/>
          <a:lstStyle/>
          <a:p>
            <a:pPr indent="0" marL="0">
              <a:buNone/>
            </a:pPr>
            <a:r>
              <a:rPr lang="en-US" sz="850" b="1" spc="140" kern="0" dirty="0">
                <a:solidFill>
                  <a:srgbClr val="168CA3"/>
                </a:solidFill>
                <a:latin typeface="Malgun Gothic" pitchFamily="34" charset="0"/>
                <a:ea typeface="Malgun Gothic" pitchFamily="34" charset="-122"/>
                <a:cs typeface="Malgun Gothic" pitchFamily="34" charset="-120"/>
              </a:rPr>
              <a:t>09 · REALITY CHECK</a:t>
            </a:r>
            <a:endParaRPr lang="en-US" sz="850" dirty="0"/>
          </a:p>
        </p:txBody>
      </p:sp>
      <p:sp>
        <p:nvSpPr>
          <p:cNvPr id="3" name="Text 1"/>
          <p:cNvSpPr/>
          <p:nvPr/>
        </p:nvSpPr>
        <p:spPr>
          <a:xfrm>
            <a:off x="548640" y="685800"/>
            <a:ext cx="11064240" cy="566928"/>
          </a:xfrm>
          <a:prstGeom prst="rect">
            <a:avLst/>
          </a:prstGeom>
          <a:noFill/>
          <a:ln/>
        </p:spPr>
        <p:txBody>
          <a:bodyPr wrap="square" lIns="0" tIns="0" rIns="0" bIns="0" rtlCol="0" anchor="ctr">
            <a:normAutofit/>
          </a:bodyPr>
          <a:lstStyle/>
          <a:p>
            <a:pPr indent="0" marL="0">
              <a:buNone/>
            </a:pPr>
            <a:r>
              <a:rPr lang="en-US" sz="2500" b="1" dirty="0">
                <a:solidFill>
                  <a:srgbClr val="14272E"/>
                </a:solidFill>
                <a:latin typeface="Malgun Gothic" pitchFamily="34" charset="0"/>
                <a:ea typeface="Malgun Gothic" pitchFamily="34" charset="-122"/>
                <a:cs typeface="Malgun Gothic" pitchFamily="34" charset="-120"/>
              </a:rPr>
              <a:t>현재 동작하는 것과 아직 필요한 것을 구분</a:t>
            </a:r>
            <a:endParaRPr lang="en-US" sz="2500" dirty="0"/>
          </a:p>
        </p:txBody>
      </p:sp>
      <p:sp>
        <p:nvSpPr>
          <p:cNvPr id="4" name="Text 2"/>
          <p:cNvSpPr/>
          <p:nvPr/>
        </p:nvSpPr>
        <p:spPr>
          <a:xfrm>
            <a:off x="566928" y="1353312"/>
            <a:ext cx="10698480" cy="384048"/>
          </a:xfrm>
          <a:prstGeom prst="rect">
            <a:avLst/>
          </a:prstGeom>
          <a:noFill/>
          <a:ln/>
        </p:spPr>
        <p:txBody>
          <a:bodyPr wrap="square" lIns="0" tIns="0" rIns="0" bIns="0" rtlCol="0" anchor="ctr">
            <a:normAutofit/>
          </a:bodyPr>
          <a:lstStyle/>
          <a:p>
            <a:pPr indent="0" marL="0">
              <a:buNone/>
            </a:pPr>
            <a:r>
              <a:rPr lang="en-US" sz="1050" dirty="0">
                <a:solidFill>
                  <a:srgbClr val="708087"/>
                </a:solidFill>
                <a:latin typeface="Malgun Gothic" pitchFamily="34" charset="0"/>
                <a:ea typeface="Malgun Gothic" pitchFamily="34" charset="-122"/>
                <a:cs typeface="Malgun Gothic" pitchFamily="34" charset="-120"/>
              </a:rPr>
              <a:t>기술 시제품은 완성됐지만 다수 사용자를 받는 운영 서비스는 다음 단계입니다.</a:t>
            </a:r>
            <a:endParaRPr lang="en-US" sz="1050" dirty="0"/>
          </a:p>
        </p:txBody>
      </p:sp>
      <p:sp>
        <p:nvSpPr>
          <p:cNvPr id="5" name="Shape 3"/>
          <p:cNvSpPr/>
          <p:nvPr/>
        </p:nvSpPr>
        <p:spPr>
          <a:xfrm>
            <a:off x="640080" y="1874520"/>
            <a:ext cx="5349240" cy="3886200"/>
          </a:xfrm>
          <a:prstGeom prst="roundRect">
            <a:avLst>
              <a:gd name="adj" fmla="val 2824"/>
            </a:avLst>
          </a:prstGeom>
          <a:solidFill>
            <a:srgbClr val="FFFFFF"/>
          </a:solidFill>
          <a:ln w="12700">
            <a:solidFill>
              <a:srgbClr val="D8E2E5"/>
            </a:solidFill>
            <a:prstDash val="solid"/>
          </a:ln>
        </p:spPr>
      </p:sp>
      <p:sp>
        <p:nvSpPr>
          <p:cNvPr id="6" name="Shape 4"/>
          <p:cNvSpPr/>
          <p:nvPr/>
        </p:nvSpPr>
        <p:spPr>
          <a:xfrm>
            <a:off x="960120" y="2212848"/>
            <a:ext cx="1508760" cy="329184"/>
          </a:xfrm>
          <a:prstGeom prst="roundRect">
            <a:avLst>
              <a:gd name="adj" fmla="val 22222"/>
            </a:avLst>
          </a:prstGeom>
          <a:solidFill>
            <a:srgbClr val="E5F8F2"/>
          </a:solidFill>
          <a:ln w="12700">
            <a:solidFill>
              <a:srgbClr val="E5F8F2"/>
            </a:solidFill>
            <a:prstDash val="solid"/>
          </a:ln>
        </p:spPr>
      </p:sp>
      <p:sp>
        <p:nvSpPr>
          <p:cNvPr id="7" name="Text 5"/>
          <p:cNvSpPr/>
          <p:nvPr/>
        </p:nvSpPr>
        <p:spPr>
          <a:xfrm>
            <a:off x="1014984" y="2281428"/>
            <a:ext cx="1399032" cy="146304"/>
          </a:xfrm>
          <a:prstGeom prst="rect">
            <a:avLst/>
          </a:prstGeom>
          <a:noFill/>
          <a:ln/>
        </p:spPr>
        <p:txBody>
          <a:bodyPr wrap="square" lIns="0" tIns="0" rIns="0" bIns="0" rtlCol="0" anchor="ctr">
            <a:normAutofit/>
          </a:bodyPr>
          <a:lstStyle/>
          <a:p>
            <a:pPr algn="ctr" indent="0" marL="0">
              <a:buNone/>
            </a:pPr>
            <a:r>
              <a:rPr lang="en-US" sz="750" b="1" dirty="0">
                <a:solidFill>
                  <a:srgbClr val="18866E"/>
                </a:solidFill>
                <a:latin typeface="Malgun Gothic" pitchFamily="34" charset="0"/>
                <a:ea typeface="Malgun Gothic" pitchFamily="34" charset="-122"/>
                <a:cs typeface="Malgun Gothic" pitchFamily="34" charset="-120"/>
              </a:rPr>
              <a:t>NOW · 구현 완료</a:t>
            </a:r>
            <a:endParaRPr lang="en-US" sz="750" dirty="0"/>
          </a:p>
        </p:txBody>
      </p:sp>
      <p:sp>
        <p:nvSpPr>
          <p:cNvPr id="8" name="Text 6"/>
          <p:cNvSpPr/>
          <p:nvPr/>
        </p:nvSpPr>
        <p:spPr>
          <a:xfrm>
            <a:off x="987552" y="2871216"/>
            <a:ext cx="4434840" cy="2194560"/>
          </a:xfrm>
          <a:prstGeom prst="rect">
            <a:avLst/>
          </a:prstGeom>
          <a:noFill/>
          <a:ln/>
        </p:spPr>
        <p:txBody>
          <a:bodyPr wrap="square" lIns="0" tIns="0" rIns="0" bIns="0" rtlCol="0" anchor="ctr">
            <a:normAutofit/>
          </a:bodyPr>
          <a:lstStyle/>
          <a:p>
            <a:pPr indent="0" marL="0">
              <a:buNone/>
            </a:pPr>
            <a:r>
              <a:rPr lang="en-US" sz="1200" dirty="0">
                <a:solidFill>
                  <a:srgbClr val="263A42"/>
                </a:solidFill>
                <a:latin typeface="Malgun Gothic" pitchFamily="34" charset="0"/>
                <a:ea typeface="Malgun Gothic" pitchFamily="34" charset="-122"/>
                <a:cs typeface="Malgun Gothic" pitchFamily="34" charset="-120"/>
              </a:rPr>
              <a:t>• Android 실제 화면 캡처와 플로팅 버튼</a:t>
            </a:r>
            <a:endParaRPr lang="en-US" sz="1200" dirty="0"/>
          </a:p>
          <a:p>
            <a:pPr indent="0" marL="0">
              <a:buNone/>
            </a:pPr>
            <a:r>
              <a:rPr lang="en-US" sz="1200" dirty="0">
                <a:solidFill>
                  <a:srgbClr val="263A42"/>
                </a:solidFill>
                <a:latin typeface="Malgun Gothic" pitchFamily="34" charset="0"/>
                <a:ea typeface="Malgun Gothic" pitchFamily="34" charset="-122"/>
                <a:cs typeface="Malgun Gothic" pitchFamily="34" charset="-120"/>
              </a:rPr>
              <a:t>• 작은 상품 위치 지정과 확대 검색</a:t>
            </a:r>
            <a:endParaRPr lang="en-US" sz="1200" dirty="0"/>
          </a:p>
          <a:p>
            <a:pPr indent="0" marL="0">
              <a:buNone/>
            </a:pPr>
            <a:r>
              <a:rPr lang="en-US" sz="1200" dirty="0">
                <a:solidFill>
                  <a:srgbClr val="263A42"/>
                </a:solidFill>
                <a:latin typeface="Malgun Gothic" pitchFamily="34" charset="0"/>
                <a:ea typeface="Malgun Gothic" pitchFamily="34" charset="-122"/>
                <a:cs typeface="Malgun Gothic" pitchFamily="34" charset="-120"/>
              </a:rPr>
              <a:t>• AI 상품 특징 분석과 쇼핑 검색 연결</a:t>
            </a:r>
            <a:endParaRPr lang="en-US" sz="1200" dirty="0"/>
          </a:p>
          <a:p>
            <a:pPr indent="0" marL="0">
              <a:buNone/>
            </a:pPr>
            <a:r>
              <a:rPr lang="en-US" sz="1200" dirty="0">
                <a:solidFill>
                  <a:srgbClr val="263A42"/>
                </a:solidFill>
                <a:latin typeface="Malgun Gothic" pitchFamily="34" charset="0"/>
                <a:ea typeface="Malgun Gothic" pitchFamily="34" charset="-122"/>
                <a:cs typeface="Malgun Gothic" pitchFamily="34" charset="-120"/>
              </a:rPr>
              <a:t>• 오류·회전·이미지 정리 대응</a:t>
            </a:r>
            <a:endParaRPr lang="en-US" sz="1200" dirty="0"/>
          </a:p>
          <a:p>
            <a:pPr indent="0" marL="0">
              <a:buNone/>
            </a:pPr>
            <a:r>
              <a:rPr lang="en-US" sz="1200" dirty="0">
                <a:solidFill>
                  <a:srgbClr val="263A42"/>
                </a:solidFill>
                <a:latin typeface="Malgun Gothic" pitchFamily="34" charset="0"/>
                <a:ea typeface="Malgun Gothic" pitchFamily="34" charset="-122"/>
                <a:cs typeface="Malgun Gothic" pitchFamily="34" charset="-120"/>
              </a:rPr>
              <a:t>• 빌드·린트·서버 자동 테스트 통과</a:t>
            </a:r>
            <a:endParaRPr lang="en-US" sz="1200" dirty="0"/>
          </a:p>
        </p:txBody>
      </p:sp>
      <p:sp>
        <p:nvSpPr>
          <p:cNvPr id="9" name="Shape 7"/>
          <p:cNvSpPr/>
          <p:nvPr/>
        </p:nvSpPr>
        <p:spPr>
          <a:xfrm>
            <a:off x="6217920" y="1874520"/>
            <a:ext cx="5349240" cy="3886200"/>
          </a:xfrm>
          <a:prstGeom prst="roundRect">
            <a:avLst>
              <a:gd name="adj" fmla="val 2824"/>
            </a:avLst>
          </a:prstGeom>
          <a:solidFill>
            <a:srgbClr val="14272E"/>
          </a:solidFill>
          <a:ln w="12700">
            <a:solidFill>
              <a:srgbClr val="14272E"/>
            </a:solidFill>
            <a:prstDash val="solid"/>
          </a:ln>
        </p:spPr>
      </p:sp>
      <p:sp>
        <p:nvSpPr>
          <p:cNvPr id="10" name="Shape 8"/>
          <p:cNvSpPr/>
          <p:nvPr/>
        </p:nvSpPr>
        <p:spPr>
          <a:xfrm>
            <a:off x="6537960" y="2212848"/>
            <a:ext cx="1600200" cy="329184"/>
          </a:xfrm>
          <a:prstGeom prst="roundRect">
            <a:avLst>
              <a:gd name="adj" fmla="val 22222"/>
            </a:avLst>
          </a:prstGeom>
          <a:solidFill>
            <a:srgbClr val="FFF2D9"/>
          </a:solidFill>
          <a:ln w="12700">
            <a:solidFill>
              <a:srgbClr val="FFF2D9"/>
            </a:solidFill>
            <a:prstDash val="solid"/>
          </a:ln>
        </p:spPr>
      </p:sp>
      <p:sp>
        <p:nvSpPr>
          <p:cNvPr id="11" name="Text 9"/>
          <p:cNvSpPr/>
          <p:nvPr/>
        </p:nvSpPr>
        <p:spPr>
          <a:xfrm>
            <a:off x="6592824" y="2281428"/>
            <a:ext cx="1490472" cy="146304"/>
          </a:xfrm>
          <a:prstGeom prst="rect">
            <a:avLst/>
          </a:prstGeom>
          <a:noFill/>
          <a:ln/>
        </p:spPr>
        <p:txBody>
          <a:bodyPr wrap="square" lIns="0" tIns="0" rIns="0" bIns="0" rtlCol="0" anchor="ctr">
            <a:normAutofit/>
          </a:bodyPr>
          <a:lstStyle/>
          <a:p>
            <a:pPr algn="ctr" indent="0" marL="0">
              <a:buNone/>
            </a:pPr>
            <a:r>
              <a:rPr lang="en-US" sz="750" b="1" dirty="0">
                <a:solidFill>
                  <a:srgbClr val="8A5A00"/>
                </a:solidFill>
                <a:latin typeface="Malgun Gothic" pitchFamily="34" charset="0"/>
                <a:ea typeface="Malgun Gothic" pitchFamily="34" charset="-122"/>
                <a:cs typeface="Malgun Gothic" pitchFamily="34" charset="-120"/>
              </a:rPr>
              <a:t>NEXT · 사업화 필요</a:t>
            </a:r>
            <a:endParaRPr lang="en-US" sz="750" dirty="0"/>
          </a:p>
        </p:txBody>
      </p:sp>
      <p:sp>
        <p:nvSpPr>
          <p:cNvPr id="12" name="Text 10"/>
          <p:cNvSpPr/>
          <p:nvPr/>
        </p:nvSpPr>
        <p:spPr>
          <a:xfrm>
            <a:off x="6565392" y="2871216"/>
            <a:ext cx="4434840" cy="2194560"/>
          </a:xfrm>
          <a:prstGeom prst="rect">
            <a:avLst/>
          </a:prstGeom>
          <a:noFill/>
          <a:ln/>
        </p:spPr>
        <p:txBody>
          <a:bodyPr wrap="square" lIns="0" tIns="0" rIns="0" bIns="0" rtlCol="0" anchor="ctr">
            <a:normAutofit/>
          </a:bodyPr>
          <a:lstStyle/>
          <a:p>
            <a:pPr indent="0" marL="0">
              <a:buNone/>
            </a:pPr>
            <a:r>
              <a:rPr lang="en-US" sz="1200" dirty="0">
                <a:solidFill>
                  <a:srgbClr val="DCE6E8"/>
                </a:solidFill>
                <a:latin typeface="Malgun Gothic" pitchFamily="34" charset="0"/>
                <a:ea typeface="Malgun Gothic" pitchFamily="34" charset="-122"/>
                <a:cs typeface="Malgun Gothic" pitchFamily="34" charset="-120"/>
              </a:rPr>
              <a:t>• HTTPS 클라우드 검색 서버와 사용자 인증</a:t>
            </a:r>
            <a:endParaRPr lang="en-US" sz="1200" dirty="0"/>
          </a:p>
          <a:p>
            <a:pPr indent="0" marL="0">
              <a:buNone/>
            </a:pPr>
            <a:r>
              <a:rPr lang="en-US" sz="1200" dirty="0">
                <a:solidFill>
                  <a:srgbClr val="DCE6E8"/>
                </a:solidFill>
                <a:latin typeface="Malgun Gothic" pitchFamily="34" charset="0"/>
                <a:ea typeface="Malgun Gothic" pitchFamily="34" charset="-122"/>
                <a:cs typeface="Malgun Gothic" pitchFamily="34" charset="-120"/>
              </a:rPr>
              <a:t>• 충분한 AI 사용량과 운영 모니터링</a:t>
            </a:r>
            <a:endParaRPr lang="en-US" sz="1200" dirty="0"/>
          </a:p>
          <a:p>
            <a:pPr indent="0" marL="0">
              <a:buNone/>
            </a:pPr>
            <a:r>
              <a:rPr lang="en-US" sz="1200" dirty="0">
                <a:solidFill>
                  <a:srgbClr val="DCE6E8"/>
                </a:solidFill>
                <a:latin typeface="Malgun Gothic" pitchFamily="34" charset="0"/>
                <a:ea typeface="Malgun Gothic" pitchFamily="34" charset="-122"/>
                <a:cs typeface="Malgun Gothic" pitchFamily="34" charset="-120"/>
              </a:rPr>
              <a:t>• 정확한 가격·재고를 위한 제휴 상품 DB</a:t>
            </a:r>
            <a:endParaRPr lang="en-US" sz="1200" dirty="0"/>
          </a:p>
          <a:p>
            <a:pPr indent="0" marL="0">
              <a:buNone/>
            </a:pPr>
            <a:r>
              <a:rPr lang="en-US" sz="1200" dirty="0">
                <a:solidFill>
                  <a:srgbClr val="DCE6E8"/>
                </a:solidFill>
                <a:latin typeface="Malgun Gothic" pitchFamily="34" charset="0"/>
                <a:ea typeface="Malgun Gothic" pitchFamily="34" charset="-122"/>
                <a:cs typeface="Malgun Gothic" pitchFamily="34" charset="-120"/>
              </a:rPr>
              <a:t>• iPhone용 스크린샷 공유 방식</a:t>
            </a:r>
            <a:endParaRPr lang="en-US" sz="1200" dirty="0"/>
          </a:p>
          <a:p>
            <a:pPr indent="0" marL="0">
              <a:buNone/>
            </a:pPr>
            <a:r>
              <a:rPr lang="en-US" sz="1200" dirty="0">
                <a:solidFill>
                  <a:srgbClr val="DCE6E8"/>
                </a:solidFill>
                <a:latin typeface="Malgun Gothic" pitchFamily="34" charset="0"/>
                <a:ea typeface="Malgun Gothic" pitchFamily="34" charset="-122"/>
                <a:cs typeface="Malgun Gothic" pitchFamily="34" charset="-120"/>
              </a:rPr>
              <a:t>• Google Play 화면 공유·오버레이 심사</a:t>
            </a:r>
            <a:endParaRPr lang="en-US" sz="1200" dirty="0"/>
          </a:p>
        </p:txBody>
      </p:sp>
      <p:sp>
        <p:nvSpPr>
          <p:cNvPr id="13" name="Text 11"/>
          <p:cNvSpPr/>
          <p:nvPr/>
        </p:nvSpPr>
        <p:spPr>
          <a:xfrm>
            <a:off x="411480" y="6528816"/>
            <a:ext cx="1463040" cy="182880"/>
          </a:xfrm>
          <a:prstGeom prst="rect">
            <a:avLst/>
          </a:prstGeom>
          <a:noFill/>
          <a:ln/>
        </p:spPr>
        <p:txBody>
          <a:bodyPr wrap="square" lIns="0" tIns="0" rIns="0" bIns="0" rtlCol="0" anchor="ctr"/>
          <a:lstStyle/>
          <a:p>
            <a:pPr indent="0" marL="0">
              <a:buNone/>
            </a:pPr>
            <a:r>
              <a:rPr lang="en-US" sz="750" b="1" dirty="0">
                <a:solidFill>
                  <a:srgbClr val="A4B0B4"/>
                </a:solidFill>
                <a:latin typeface="Malgun Gothic" pitchFamily="34" charset="0"/>
                <a:ea typeface="Malgun Gothic" pitchFamily="34" charset="-122"/>
                <a:cs typeface="Malgun Gothic" pitchFamily="34" charset="-120"/>
              </a:rPr>
              <a:t>CleanTouch</a:t>
            </a:r>
            <a:endParaRPr lang="en-US" sz="750" dirty="0"/>
          </a:p>
        </p:txBody>
      </p:sp>
      <p:sp>
        <p:nvSpPr>
          <p:cNvPr id="14" name="Text 12"/>
          <p:cNvSpPr/>
          <p:nvPr/>
        </p:nvSpPr>
        <p:spPr>
          <a:xfrm>
            <a:off x="11292840" y="6510528"/>
            <a:ext cx="457200" cy="182880"/>
          </a:xfrm>
          <a:prstGeom prst="rect">
            <a:avLst/>
          </a:prstGeom>
          <a:noFill/>
          <a:ln/>
        </p:spPr>
        <p:txBody>
          <a:bodyPr wrap="square" lIns="0" tIns="0" rIns="0" bIns="0" rtlCol="0" anchor="ctr"/>
          <a:lstStyle/>
          <a:p>
            <a:pPr algn="r" indent="0" marL="0">
              <a:buNone/>
            </a:pPr>
            <a:r>
              <a:rPr lang="en-US" sz="750" dirty="0">
                <a:solidFill>
                  <a:srgbClr val="A4B0B4"/>
                </a:solidFill>
                <a:latin typeface="Malgun Gothic" pitchFamily="34" charset="0"/>
                <a:ea typeface="Malgun Gothic" pitchFamily="34" charset="-122"/>
                <a:cs typeface="Malgun Gothic" pitchFamily="34" charset="-120"/>
              </a:rPr>
              <a:t>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181E"/>
        </a:solidFill>
      </p:bgPr>
    </p:bg>
    <p:spTree>
      <p:nvGrpSpPr>
        <p:cNvPr id="1" name=""/>
        <p:cNvGrpSpPr/>
        <p:nvPr/>
      </p:nvGrpSpPr>
      <p:grpSpPr>
        <a:xfrm>
          <a:off x="0" y="0"/>
          <a:ext cx="0" cy="0"/>
          <a:chOff x="0" y="0"/>
          <a:chExt cx="0" cy="0"/>
        </a:xfrm>
      </p:grpSpPr>
      <p:sp>
        <p:nvSpPr>
          <p:cNvPr id="2" name="Shape 0"/>
          <p:cNvSpPr/>
          <p:nvPr/>
        </p:nvSpPr>
        <p:spPr>
          <a:xfrm>
            <a:off x="8823960" y="-1463040"/>
            <a:ext cx="4937760" cy="4937760"/>
          </a:xfrm>
          <a:prstGeom prst="ellipse">
            <a:avLst/>
          </a:prstGeom>
          <a:solidFill>
            <a:srgbClr val="38C9DF">
              <a:alpha val="16000"/>
            </a:srgbClr>
          </a:solidFill>
          <a:ln w="12700">
            <a:solidFill>
              <a:srgbClr val="38C9DF">
                <a:alpha val="0"/>
              </a:srgbClr>
            </a:solidFill>
            <a:prstDash val="solid"/>
          </a:ln>
        </p:spPr>
      </p:sp>
      <p:sp>
        <p:nvSpPr>
          <p:cNvPr id="3" name="Shape 1"/>
          <p:cNvSpPr/>
          <p:nvPr/>
        </p:nvSpPr>
        <p:spPr>
          <a:xfrm>
            <a:off x="-1645920" y="4846320"/>
            <a:ext cx="3931920" cy="3931920"/>
          </a:xfrm>
          <a:prstGeom prst="ellipse">
            <a:avLst/>
          </a:prstGeom>
          <a:solidFill>
            <a:srgbClr val="6550B6">
              <a:alpha val="16000"/>
            </a:srgbClr>
          </a:solidFill>
          <a:ln w="12700">
            <a:solidFill>
              <a:srgbClr val="6550B6">
                <a:alpha val="0"/>
              </a:srgbClr>
            </a:solidFill>
            <a:prstDash val="solid"/>
          </a:ln>
        </p:spPr>
      </p:sp>
      <p:sp>
        <p:nvSpPr>
          <p:cNvPr id="4" name="Text 2"/>
          <p:cNvSpPr/>
          <p:nvPr/>
        </p:nvSpPr>
        <p:spPr>
          <a:xfrm>
            <a:off x="640080" y="502920"/>
            <a:ext cx="2011680" cy="228600"/>
          </a:xfrm>
          <a:prstGeom prst="rect">
            <a:avLst/>
          </a:prstGeom>
          <a:noFill/>
          <a:ln/>
        </p:spPr>
        <p:txBody>
          <a:bodyPr wrap="square" lIns="0" tIns="0" rIns="0" bIns="0" rtlCol="0" anchor="ctr"/>
          <a:lstStyle/>
          <a:p>
            <a:pPr indent="0" marL="0">
              <a:buNone/>
            </a:pPr>
            <a:r>
              <a:rPr lang="en-US" sz="850" b="1" spc="160" kern="0" dirty="0">
                <a:solidFill>
                  <a:srgbClr val="38C9DF"/>
                </a:solidFill>
                <a:latin typeface="Malgun Gothic" pitchFamily="34" charset="0"/>
                <a:ea typeface="Malgun Gothic" pitchFamily="34" charset="-122"/>
                <a:cs typeface="Malgun Gothic" pitchFamily="34" charset="-120"/>
              </a:rPr>
              <a:t>NEXT STEP</a:t>
            </a:r>
            <a:endParaRPr lang="en-US" sz="850" dirty="0"/>
          </a:p>
        </p:txBody>
      </p:sp>
      <p:sp>
        <p:nvSpPr>
          <p:cNvPr id="5" name="Text 3"/>
          <p:cNvSpPr/>
          <p:nvPr/>
        </p:nvSpPr>
        <p:spPr>
          <a:xfrm>
            <a:off x="621792" y="960120"/>
            <a:ext cx="7132320" cy="123444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정확도를 증명하고,</a:t>
            </a:r>
            <a:endParaRPr lang="en-US" sz="3000" dirty="0"/>
          </a:p>
          <a:p>
            <a:pPr indent="0" marL="0">
              <a:buNone/>
            </a:pPr>
            <a:r>
              <a:rPr lang="en-US" sz="3000" b="1" dirty="0">
                <a:solidFill>
                  <a:srgbClr val="FFFFFF"/>
                </a:solidFill>
                <a:latin typeface="Malgun Gothic" pitchFamily="34" charset="0"/>
                <a:ea typeface="Malgun Gothic" pitchFamily="34" charset="-122"/>
                <a:cs typeface="Malgun Gothic" pitchFamily="34" charset="-120"/>
              </a:rPr>
              <a:t>첫 상품 DB 파트너로 연결</a:t>
            </a:r>
            <a:endParaRPr lang="en-US" sz="3000" dirty="0"/>
          </a:p>
        </p:txBody>
      </p:sp>
      <p:sp>
        <p:nvSpPr>
          <p:cNvPr id="6" name="Shape 4"/>
          <p:cNvSpPr/>
          <p:nvPr/>
        </p:nvSpPr>
        <p:spPr>
          <a:xfrm>
            <a:off x="658368" y="2834640"/>
            <a:ext cx="2423160" cy="2057400"/>
          </a:xfrm>
          <a:prstGeom prst="roundRect">
            <a:avLst>
              <a:gd name="adj" fmla="val 5333"/>
            </a:avLst>
          </a:prstGeom>
          <a:solidFill>
            <a:srgbClr val="142B33">
              <a:alpha val="97000"/>
            </a:srgbClr>
          </a:solidFill>
          <a:ln w="12700">
            <a:solidFill>
              <a:srgbClr val="35515B"/>
            </a:solidFill>
            <a:prstDash val="solid"/>
          </a:ln>
        </p:spPr>
      </p:sp>
      <p:sp>
        <p:nvSpPr>
          <p:cNvPr id="7" name="Text 5"/>
          <p:cNvSpPr/>
          <p:nvPr/>
        </p:nvSpPr>
        <p:spPr>
          <a:xfrm>
            <a:off x="859536" y="3081528"/>
            <a:ext cx="457200" cy="228600"/>
          </a:xfrm>
          <a:prstGeom prst="rect">
            <a:avLst/>
          </a:prstGeom>
          <a:noFill/>
          <a:ln/>
        </p:spPr>
        <p:txBody>
          <a:bodyPr wrap="square" lIns="0" tIns="0" rIns="0" bIns="0" rtlCol="0" anchor="ctr"/>
          <a:lstStyle/>
          <a:p>
            <a:pPr indent="0" marL="0">
              <a:buNone/>
            </a:pPr>
            <a:r>
              <a:rPr lang="en-US" sz="900" b="1" dirty="0">
                <a:solidFill>
                  <a:srgbClr val="38C9DF"/>
                </a:solidFill>
                <a:latin typeface="Malgun Gothic" pitchFamily="34" charset="0"/>
                <a:ea typeface="Malgun Gothic" pitchFamily="34" charset="-122"/>
                <a:cs typeface="Malgun Gothic" pitchFamily="34" charset="-120"/>
              </a:rPr>
              <a:t>01</a:t>
            </a:r>
            <a:endParaRPr lang="en-US" sz="900" dirty="0"/>
          </a:p>
        </p:txBody>
      </p:sp>
      <p:sp>
        <p:nvSpPr>
          <p:cNvPr id="8" name="Text 6"/>
          <p:cNvSpPr/>
          <p:nvPr/>
        </p:nvSpPr>
        <p:spPr>
          <a:xfrm>
            <a:off x="859536" y="3547872"/>
            <a:ext cx="1965960" cy="45720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가방 카테고리 집중</a:t>
            </a:r>
            <a:endParaRPr lang="en-US" sz="1400" dirty="0"/>
          </a:p>
        </p:txBody>
      </p:sp>
      <p:sp>
        <p:nvSpPr>
          <p:cNvPr id="9" name="Text 7"/>
          <p:cNvSpPr/>
          <p:nvPr/>
        </p:nvSpPr>
        <p:spPr>
          <a:xfrm>
            <a:off x="859536" y="4178808"/>
            <a:ext cx="1938528" cy="457200"/>
          </a:xfrm>
          <a:prstGeom prst="rect">
            <a:avLst/>
          </a:prstGeom>
          <a:noFill/>
          <a:ln/>
        </p:spPr>
        <p:txBody>
          <a:bodyPr wrap="square" lIns="0" tIns="0" rIns="0" bIns="0" rtlCol="0" anchor="ctr">
            <a:normAutofit/>
          </a:bodyPr>
          <a:lstStyle/>
          <a:p>
            <a:pPr indent="0" marL="0">
              <a:buNone/>
            </a:pPr>
            <a:r>
              <a:rPr lang="en-US" sz="850" dirty="0">
                <a:solidFill>
                  <a:srgbClr val="C8D7DA"/>
                </a:solidFill>
                <a:latin typeface="Malgun Gothic" pitchFamily="34" charset="0"/>
                <a:ea typeface="Malgun Gothic" pitchFamily="34" charset="-122"/>
                <a:cs typeface="Malgun Gothic" pitchFamily="34" charset="-120"/>
              </a:rPr>
              <a:t>형태가 분명한 상품부터 검색 정확도 측정</a:t>
            </a:r>
            <a:endParaRPr lang="en-US" sz="850" dirty="0"/>
          </a:p>
        </p:txBody>
      </p:sp>
      <p:sp>
        <p:nvSpPr>
          <p:cNvPr id="10" name="Shape 8"/>
          <p:cNvSpPr/>
          <p:nvPr/>
        </p:nvSpPr>
        <p:spPr>
          <a:xfrm>
            <a:off x="3447288" y="2834640"/>
            <a:ext cx="2423160" cy="2057400"/>
          </a:xfrm>
          <a:prstGeom prst="roundRect">
            <a:avLst>
              <a:gd name="adj" fmla="val 5333"/>
            </a:avLst>
          </a:prstGeom>
          <a:solidFill>
            <a:srgbClr val="142B33">
              <a:alpha val="97000"/>
            </a:srgbClr>
          </a:solidFill>
          <a:ln w="12700">
            <a:solidFill>
              <a:srgbClr val="35515B"/>
            </a:solidFill>
            <a:prstDash val="solid"/>
          </a:ln>
        </p:spPr>
      </p:sp>
      <p:sp>
        <p:nvSpPr>
          <p:cNvPr id="11" name="Text 9"/>
          <p:cNvSpPr/>
          <p:nvPr/>
        </p:nvSpPr>
        <p:spPr>
          <a:xfrm>
            <a:off x="3648456" y="3081528"/>
            <a:ext cx="457200" cy="228600"/>
          </a:xfrm>
          <a:prstGeom prst="rect">
            <a:avLst/>
          </a:prstGeom>
          <a:noFill/>
          <a:ln/>
        </p:spPr>
        <p:txBody>
          <a:bodyPr wrap="square" lIns="0" tIns="0" rIns="0" bIns="0" rtlCol="0" anchor="ctr"/>
          <a:lstStyle/>
          <a:p>
            <a:pPr indent="0" marL="0">
              <a:buNone/>
            </a:pPr>
            <a:r>
              <a:rPr lang="en-US" sz="900" b="1" dirty="0">
                <a:solidFill>
                  <a:srgbClr val="38C9DF"/>
                </a:solidFill>
                <a:latin typeface="Malgun Gothic" pitchFamily="34" charset="0"/>
                <a:ea typeface="Malgun Gothic" pitchFamily="34" charset="-122"/>
                <a:cs typeface="Malgun Gothic" pitchFamily="34" charset="-120"/>
              </a:rPr>
              <a:t>02</a:t>
            </a:r>
            <a:endParaRPr lang="en-US" sz="900" dirty="0"/>
          </a:p>
        </p:txBody>
      </p:sp>
      <p:sp>
        <p:nvSpPr>
          <p:cNvPr id="12" name="Text 10"/>
          <p:cNvSpPr/>
          <p:nvPr/>
        </p:nvSpPr>
        <p:spPr>
          <a:xfrm>
            <a:off x="3648456" y="3547872"/>
            <a:ext cx="1965960" cy="45720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실제 쇼츠 50개</a:t>
            </a:r>
            <a:endParaRPr lang="en-US" sz="1400" dirty="0"/>
          </a:p>
        </p:txBody>
      </p:sp>
      <p:sp>
        <p:nvSpPr>
          <p:cNvPr id="13" name="Text 11"/>
          <p:cNvSpPr/>
          <p:nvPr/>
        </p:nvSpPr>
        <p:spPr>
          <a:xfrm>
            <a:off x="3648456" y="4178808"/>
            <a:ext cx="1938528" cy="457200"/>
          </a:xfrm>
          <a:prstGeom prst="rect">
            <a:avLst/>
          </a:prstGeom>
          <a:noFill/>
          <a:ln/>
        </p:spPr>
        <p:txBody>
          <a:bodyPr wrap="square" lIns="0" tIns="0" rIns="0" bIns="0" rtlCol="0" anchor="ctr">
            <a:normAutofit/>
          </a:bodyPr>
          <a:lstStyle/>
          <a:p>
            <a:pPr indent="0" marL="0">
              <a:buNone/>
            </a:pPr>
            <a:r>
              <a:rPr lang="en-US" sz="850" dirty="0">
                <a:solidFill>
                  <a:srgbClr val="C8D7DA"/>
                </a:solidFill>
                <a:latin typeface="Malgun Gothic" pitchFamily="34" charset="0"/>
                <a:ea typeface="Malgun Gothic" pitchFamily="34" charset="-122"/>
                <a:cs typeface="Malgun Gothic" pitchFamily="34" charset="-120"/>
              </a:rPr>
              <a:t>크기·위치별 성공률과 검색 시간 기록</a:t>
            </a:r>
            <a:endParaRPr lang="en-US" sz="850" dirty="0"/>
          </a:p>
        </p:txBody>
      </p:sp>
      <p:sp>
        <p:nvSpPr>
          <p:cNvPr id="14" name="Shape 12"/>
          <p:cNvSpPr/>
          <p:nvPr/>
        </p:nvSpPr>
        <p:spPr>
          <a:xfrm>
            <a:off x="6236208" y="2834640"/>
            <a:ext cx="2423160" cy="2057400"/>
          </a:xfrm>
          <a:prstGeom prst="roundRect">
            <a:avLst>
              <a:gd name="adj" fmla="val 5333"/>
            </a:avLst>
          </a:prstGeom>
          <a:solidFill>
            <a:srgbClr val="142B33">
              <a:alpha val="97000"/>
            </a:srgbClr>
          </a:solidFill>
          <a:ln w="12700">
            <a:solidFill>
              <a:srgbClr val="35515B"/>
            </a:solidFill>
            <a:prstDash val="solid"/>
          </a:ln>
        </p:spPr>
      </p:sp>
      <p:sp>
        <p:nvSpPr>
          <p:cNvPr id="15" name="Text 13"/>
          <p:cNvSpPr/>
          <p:nvPr/>
        </p:nvSpPr>
        <p:spPr>
          <a:xfrm>
            <a:off x="6437376" y="3081528"/>
            <a:ext cx="457200" cy="228600"/>
          </a:xfrm>
          <a:prstGeom prst="rect">
            <a:avLst/>
          </a:prstGeom>
          <a:noFill/>
          <a:ln/>
        </p:spPr>
        <p:txBody>
          <a:bodyPr wrap="square" lIns="0" tIns="0" rIns="0" bIns="0" rtlCol="0" anchor="ctr"/>
          <a:lstStyle/>
          <a:p>
            <a:pPr indent="0" marL="0">
              <a:buNone/>
            </a:pPr>
            <a:r>
              <a:rPr lang="en-US" sz="900" b="1" dirty="0">
                <a:solidFill>
                  <a:srgbClr val="38C9DF"/>
                </a:solidFill>
                <a:latin typeface="Malgun Gothic" pitchFamily="34" charset="0"/>
                <a:ea typeface="Malgun Gothic" pitchFamily="34" charset="-122"/>
                <a:cs typeface="Malgun Gothic" pitchFamily="34" charset="-120"/>
              </a:rPr>
              <a:t>03</a:t>
            </a:r>
            <a:endParaRPr lang="en-US" sz="900" dirty="0"/>
          </a:p>
        </p:txBody>
      </p:sp>
      <p:sp>
        <p:nvSpPr>
          <p:cNvPr id="16" name="Text 14"/>
          <p:cNvSpPr/>
          <p:nvPr/>
        </p:nvSpPr>
        <p:spPr>
          <a:xfrm>
            <a:off x="6437376" y="3547872"/>
            <a:ext cx="1965960" cy="45720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사용자 20~50명</a:t>
            </a:r>
            <a:endParaRPr lang="en-US" sz="1400" dirty="0"/>
          </a:p>
        </p:txBody>
      </p:sp>
      <p:sp>
        <p:nvSpPr>
          <p:cNvPr id="17" name="Text 15"/>
          <p:cNvSpPr/>
          <p:nvPr/>
        </p:nvSpPr>
        <p:spPr>
          <a:xfrm>
            <a:off x="6437376" y="4178808"/>
            <a:ext cx="1938528" cy="457200"/>
          </a:xfrm>
          <a:prstGeom prst="rect">
            <a:avLst/>
          </a:prstGeom>
          <a:noFill/>
          <a:ln/>
        </p:spPr>
        <p:txBody>
          <a:bodyPr wrap="square" lIns="0" tIns="0" rIns="0" bIns="0" rtlCol="0" anchor="ctr">
            <a:normAutofit/>
          </a:bodyPr>
          <a:lstStyle/>
          <a:p>
            <a:pPr indent="0" marL="0">
              <a:buNone/>
            </a:pPr>
            <a:r>
              <a:rPr lang="en-US" sz="850" dirty="0">
                <a:solidFill>
                  <a:srgbClr val="C8D7DA"/>
                </a:solidFill>
                <a:latin typeface="Malgun Gothic" pitchFamily="34" charset="0"/>
                <a:ea typeface="Malgun Gothic" pitchFamily="34" charset="-122"/>
                <a:cs typeface="Malgun Gothic" pitchFamily="34" charset="-120"/>
              </a:rPr>
              <a:t>완주율·클릭률·구매 페이지 도달률 비교</a:t>
            </a:r>
            <a:endParaRPr lang="en-US" sz="850" dirty="0"/>
          </a:p>
        </p:txBody>
      </p:sp>
      <p:sp>
        <p:nvSpPr>
          <p:cNvPr id="18" name="Shape 16"/>
          <p:cNvSpPr/>
          <p:nvPr/>
        </p:nvSpPr>
        <p:spPr>
          <a:xfrm>
            <a:off x="9025128" y="2834640"/>
            <a:ext cx="2423160" cy="2057400"/>
          </a:xfrm>
          <a:prstGeom prst="roundRect">
            <a:avLst>
              <a:gd name="adj" fmla="val 5333"/>
            </a:avLst>
          </a:prstGeom>
          <a:solidFill>
            <a:srgbClr val="38C9DF"/>
          </a:solidFill>
          <a:ln w="12700">
            <a:solidFill>
              <a:srgbClr val="38C9DF"/>
            </a:solidFill>
            <a:prstDash val="solid"/>
          </a:ln>
        </p:spPr>
      </p:sp>
      <p:sp>
        <p:nvSpPr>
          <p:cNvPr id="19" name="Text 17"/>
          <p:cNvSpPr/>
          <p:nvPr/>
        </p:nvSpPr>
        <p:spPr>
          <a:xfrm>
            <a:off x="9226296" y="3081528"/>
            <a:ext cx="457200" cy="228600"/>
          </a:xfrm>
          <a:prstGeom prst="rect">
            <a:avLst/>
          </a:prstGeom>
          <a:noFill/>
          <a:ln/>
        </p:spPr>
        <p:txBody>
          <a:bodyPr wrap="square" lIns="0" tIns="0" rIns="0" bIns="0" rtlCol="0" anchor="ctr"/>
          <a:lstStyle/>
          <a:p>
            <a:pPr indent="0" marL="0">
              <a:buNone/>
            </a:pPr>
            <a:r>
              <a:rPr lang="en-US" sz="900" b="1" dirty="0">
                <a:solidFill>
                  <a:srgbClr val="14272E"/>
                </a:solidFill>
                <a:latin typeface="Malgun Gothic" pitchFamily="34" charset="0"/>
                <a:ea typeface="Malgun Gothic" pitchFamily="34" charset="-122"/>
                <a:cs typeface="Malgun Gothic" pitchFamily="34" charset="-120"/>
              </a:rPr>
              <a:t>04</a:t>
            </a:r>
            <a:endParaRPr lang="en-US" sz="900" dirty="0"/>
          </a:p>
        </p:txBody>
      </p:sp>
      <p:sp>
        <p:nvSpPr>
          <p:cNvPr id="20" name="Text 18"/>
          <p:cNvSpPr/>
          <p:nvPr/>
        </p:nvSpPr>
        <p:spPr>
          <a:xfrm>
            <a:off x="9226296" y="3547872"/>
            <a:ext cx="1965960" cy="457200"/>
          </a:xfrm>
          <a:prstGeom prst="rect">
            <a:avLst/>
          </a:prstGeom>
          <a:noFill/>
          <a:ln/>
        </p:spPr>
        <p:txBody>
          <a:bodyPr wrap="square" lIns="0" tIns="0" rIns="0" bIns="0" rtlCol="0" anchor="ctr">
            <a:normAutofit/>
          </a:bodyPr>
          <a:lstStyle/>
          <a:p>
            <a:pPr indent="0" marL="0">
              <a:buNone/>
            </a:pPr>
            <a:r>
              <a:rPr lang="en-US" sz="1400" b="1" dirty="0">
                <a:solidFill>
                  <a:srgbClr val="14272E"/>
                </a:solidFill>
                <a:latin typeface="Malgun Gothic" pitchFamily="34" charset="0"/>
                <a:ea typeface="Malgun Gothic" pitchFamily="34" charset="-122"/>
                <a:cs typeface="Malgun Gothic" pitchFamily="34" charset="-120"/>
              </a:rPr>
              <a:t>클라우드·상품 DB</a:t>
            </a:r>
            <a:endParaRPr lang="en-US" sz="1400" dirty="0"/>
          </a:p>
        </p:txBody>
      </p:sp>
      <p:sp>
        <p:nvSpPr>
          <p:cNvPr id="21" name="Text 19"/>
          <p:cNvSpPr/>
          <p:nvPr/>
        </p:nvSpPr>
        <p:spPr>
          <a:xfrm>
            <a:off x="9226296" y="4178808"/>
            <a:ext cx="1938528" cy="457200"/>
          </a:xfrm>
          <a:prstGeom prst="rect">
            <a:avLst/>
          </a:prstGeom>
          <a:noFill/>
          <a:ln/>
        </p:spPr>
        <p:txBody>
          <a:bodyPr wrap="square" lIns="0" tIns="0" rIns="0" bIns="0" rtlCol="0" anchor="ctr">
            <a:normAutofit/>
          </a:bodyPr>
          <a:lstStyle/>
          <a:p>
            <a:pPr indent="0" marL="0">
              <a:buNone/>
            </a:pPr>
            <a:r>
              <a:rPr lang="en-US" sz="850" dirty="0">
                <a:solidFill>
                  <a:srgbClr val="263A42"/>
                </a:solidFill>
                <a:latin typeface="Malgun Gothic" pitchFamily="34" charset="0"/>
                <a:ea typeface="Malgun Gothic" pitchFamily="34" charset="-122"/>
                <a:cs typeface="Malgun Gothic" pitchFamily="34" charset="-120"/>
              </a:rPr>
              <a:t>HTTPS 운영 서버와 첫 커머스 파트너 연결</a:t>
            </a:r>
            <a:endParaRPr lang="en-US" sz="850" dirty="0"/>
          </a:p>
        </p:txBody>
      </p:sp>
      <p:sp>
        <p:nvSpPr>
          <p:cNvPr id="22" name="Text 20"/>
          <p:cNvSpPr/>
          <p:nvPr/>
        </p:nvSpPr>
        <p:spPr>
          <a:xfrm>
            <a:off x="1005840" y="5669280"/>
            <a:ext cx="10149840" cy="384048"/>
          </a:xfrm>
          <a:prstGeom prst="rect">
            <a:avLst/>
          </a:prstGeom>
          <a:noFill/>
          <a:ln/>
        </p:spPr>
        <p:txBody>
          <a:bodyPr wrap="square" lIns="0" tIns="0" rIns="0" bIns="0" rtlCol="0" anchor="ctr">
            <a:normAutofit/>
          </a:bodyPr>
          <a:lstStyle/>
          <a:p>
            <a:pPr algn="ctr" indent="0" marL="0">
              <a:buNone/>
            </a:pPr>
            <a:r>
              <a:rPr lang="en-US" sz="1300" i="1" dirty="0">
                <a:solidFill>
                  <a:srgbClr val="D7E5E7"/>
                </a:solidFill>
                <a:latin typeface="Malgun Gothic" pitchFamily="34" charset="0"/>
                <a:ea typeface="Malgun Gothic" pitchFamily="34" charset="-122"/>
                <a:cs typeface="Malgun Gothic" pitchFamily="34" charset="-120"/>
              </a:rPr>
              <a:t>“상품 정보를 더 많이 보여주는 것이 아니라, 사용자가 원하는 순간에만 자연스럽게 연결한다.”</a:t>
            </a:r>
            <a:endParaRPr lang="en-US" sz="1300" dirty="0"/>
          </a:p>
        </p:txBody>
      </p:sp>
      <p:sp>
        <p:nvSpPr>
          <p:cNvPr id="23" name="Text 21"/>
          <p:cNvSpPr/>
          <p:nvPr/>
        </p:nvSpPr>
        <p:spPr>
          <a:xfrm>
            <a:off x="411480" y="6528816"/>
            <a:ext cx="1463040" cy="182880"/>
          </a:xfrm>
          <a:prstGeom prst="rect">
            <a:avLst/>
          </a:prstGeom>
          <a:noFill/>
          <a:ln/>
        </p:spPr>
        <p:txBody>
          <a:bodyPr wrap="square" lIns="0" tIns="0" rIns="0" bIns="0" rtlCol="0" anchor="ctr"/>
          <a:lstStyle/>
          <a:p>
            <a:pPr indent="0" marL="0">
              <a:buNone/>
            </a:pPr>
            <a:r>
              <a:rPr lang="en-US" sz="750" b="1" dirty="0">
                <a:solidFill>
                  <a:srgbClr val="D7E4E7"/>
                </a:solidFill>
                <a:latin typeface="Malgun Gothic" pitchFamily="34" charset="0"/>
                <a:ea typeface="Malgun Gothic" pitchFamily="34" charset="-122"/>
                <a:cs typeface="Malgun Gothic" pitchFamily="34" charset="-120"/>
              </a:rPr>
              <a:t>CleanTouch</a:t>
            </a:r>
            <a:endParaRPr lang="en-US" sz="750" dirty="0"/>
          </a:p>
        </p:txBody>
      </p:sp>
      <p:sp>
        <p:nvSpPr>
          <p:cNvPr id="24" name="Text 22"/>
          <p:cNvSpPr/>
          <p:nvPr/>
        </p:nvSpPr>
        <p:spPr>
          <a:xfrm>
            <a:off x="11292840" y="6510528"/>
            <a:ext cx="457200" cy="182880"/>
          </a:xfrm>
          <a:prstGeom prst="rect">
            <a:avLst/>
          </a:prstGeom>
          <a:noFill/>
          <a:ln/>
        </p:spPr>
        <p:txBody>
          <a:bodyPr wrap="square" lIns="0" tIns="0" rIns="0" bIns="0" rtlCol="0" anchor="ctr"/>
          <a:lstStyle/>
          <a:p>
            <a:pPr algn="r" indent="0" marL="0">
              <a:buNone/>
            </a:pPr>
            <a:r>
              <a:rPr lang="en-US" sz="750" dirty="0">
                <a:solidFill>
                  <a:srgbClr val="D7E4E7"/>
                </a:solidFill>
                <a:latin typeface="Malgun Gothic" pitchFamily="34" charset="0"/>
                <a:ea typeface="Malgun Gothic" pitchFamily="34" charset="-122"/>
                <a:cs typeface="Malgun Gothic" pitchFamily="34" charset="-120"/>
              </a:rPr>
              <a:t>11</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CleanTouch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CleanTouch — 영상 속 상품을 원하는 순간 바로 찾는 서비스</dc:title>
  <dc:subject>CleanTouch 프로젝트 진행사항 발표</dc:subject>
  <dc:creator>CleanTouch Project</dc:creator>
  <cp:lastModifiedBy>CleanTouch Project</cp:lastModifiedBy>
  <cp:revision>1</cp:revision>
  <dcterms:created xsi:type="dcterms:W3CDTF">2026-09-22T05:21:31Z</dcterms:created>
  <dcterms:modified xsi:type="dcterms:W3CDTF">2026-09-22T05:21:31Z</dcterms:modified>
</cp:coreProperties>
</file>