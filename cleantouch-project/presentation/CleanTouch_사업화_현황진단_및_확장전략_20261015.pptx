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2026.10.15 기준 로컬 소스, 기존 검증 기록, 사용자 제보 및 공식 플랫폼 문서를 검토한 보고서다. 시장 규모나 매출을 추정한 투자제안서가 아니다. 검증되지 않은 기능·목표·사업 가설은 사실과 구분한다.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프로토타입의 장점은 시청 흐름을 유지하는 인터랙션과 기기 내 전처리다. B2B 우선은 확정 시장조사 결과가 아니라 현재 자산과 데이터 부족을 고려한 권고다. B2C 수요 검증은 동시에 진행하되 범용 동일상품 보장 광고와 무제한 구독은 보류한다.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24장 구성: 본문 22장과 근거 자료 2장. 발표자는 핵심 판단, 같은 상품 검색 엔진, 고객별 가치, 출시 조건을 우선 설명한다.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Windows package.json 0.1.61, Android app/build.gradle.kts versionName 0.5.0을 우선 근거로 사용했다. Android README는 0.4.7로 뒤처져 있으며 최신 빌드·배포 상태와 기능 동등성을 입증하지 않는다. 웹 server/api.mjs에는 JSON/NDJSON 저장과 데모키 기반 인증이 있다. 이를 정식 회원·과금·기업 DB로 간주하지 않았다.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기기 → 중계 → Gemini/검색 → 사용자 구조를 코드에서 확인했다. 모든 화면 픽셀이 항상 서버로 전송되는 구조라고 표현하지 않는다. 사진은 명시적 분석 또는 화면 공유 설정에 따라 전송된다. Windows 음성은 별도 마이크 동의 후 Live 연결을 사용한다. SECURITY.md의 “마이크 수집 없음” 문장은 최신 음성 기능과 일치하지 않아 갱신이 필요하다.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QUALITY-0.1.61.md 및 artifacts/verification/*purchase-tests.txt를 근거로 작성했다. API 81개는 직전 작업의 로컬 소스와 테스트 결과이며, 배포된 제품에 적용됐다는 의미가 아니다. 실제 similar 요청은 HTTP 200 안에 comparisonStage=search_unavailable, 후보 0개를 반환했다. 전체 테스트를 이번 보고서 작업에서 다시 실행하거나 전체 보안 감사를 수행한 것은 아니다.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중단된 직전 작업에는 product-identity.ts, 판매 페이지 식별자 검사, 검색 버튼과 판매 후보 구분 등의 변경이 있다. 배포와 최종 앱 빌드는 완료되지 않았다. 코드상 SSRF 방어·링크 제한 등이 있더라도 기업 보안 적합성 인증을 의미하지 않는다.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Google Vision Product Search도 등록된 제품 세트와 참조 사진에서 검색하는 방식이다. 그 API를 연결한다고 전 세계 쇼핑몰 전체를 검색하는 것은 아니다. 제안 엔진은 특정 공급자에 고정하지 않는다. 자체/제휴 데이터, 하이브리드 검색, 판매 사진 비교, SKU 옵션 검증의 공통 계층이 핵심이다. SKU는 상품·옵션 재고관리 코드, OCR은 이미지 속 문자 인식, 임베딩은 이미지를 검색 가능한 수치 특징으로 바꾸는 방식이다.
S5: Google · Vision API Product Search
https://docs.cloud.google.com/vision/product-search/docs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src/sdk/types.ts에는 product ID, productUrl, activeFrom/To, keyframes 및 onPurchase/onAddToCart 이벤트 훅이 이미 있다. server/api.mjs의 예시는 데모 데이터이며 실거래 연동이 아니다. SDK purchase_click은 구매 버튼 클릭이지 결제 완료 이벤트가 아니다. 판매자의 서버 주문 이벤트가 연결돼야 실제 전환 측정이 가능하다.
S5: Google · Vision API Product Search
https://docs.cloud.google.com/vision/product-search/docs
S6: Google · Ecommerce product data / Lens
https://developers.google.com/search/docs/specialty/ecommerce/where-ecommerce-data-can-appear-on-google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표는 검증할 고객 가설이다. 실제 구매 의향·시장 점유율·확정 매출이 아니다. 개인사업자와 중소기업의 니즈는 겹칠 수 있으므로 업종·카탈로그 보유·업무 빈도로 다시 세분화한다. 의료·금융 등 추가 규제가 있는 업종은 초기 대상에서 제외하거나 별도 요구사항을 검토한다.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개인 구독의 반복 가치는 일회성 이미지 검색만으로는 약할 수 있다. 보관함, 다시 찾기, 반복 구매 탐색의 재방문을 측정한다. Android 권한·알림·성능·회전·다른 영상 앱과의 조합을 실기기로 확인해야 한다. DRM/보호 콘텐츠는 지원 제한을 알리고 우회 기능을 약속하지 않는다.
S3: Android · Media projection
https://developer.android.com/media/grow/media-projection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추천 초기 실증은 상품 정보를 제공할 의사가 있는 판매자 2~3곳이다. 협찬·파트너십·고객 확보가 완료됐다는 뜻이 아니다. 계약에는 데이터 사용 범위, 결과 검수 책임, 서비스 범위, 성공 기준 및 종료 시 데이터 반환/삭제를 포함한다.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장의 경쟁력은 사업 가설이며 타사의 기능 부재를 단정하지 않는다. Google 공식 문서는 상품 데이터와 이미지가 Lens의 검색 결과에 사용될 수 있음을 설명하고, OpenAI 공식 문서는 MCP 도구/UI 연동을 설명한다. CleanTouch가 범용 검색 서비스의 규모와 카탈로그를 즉시 대체할 수 있다고 주장하지 않는다. 소비자의 무료 대안 대비 지불 의향, 사업자의 통합 비용 대비 업무 성과를 측정해야 한다.
S6: Google · Ecommerce product data / Lens
https://developers.google.com/search/docs/specialty/ecommerce/where-ecommerce-data-can-appear-on-google
S1: OpenAI · MCP server and UI quickstart
https://developers.openai.com/plugins/build/app-quickstart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Android MediaProjection은 사용자의 캡처 동의와 수명 관리가 필요하다. Apple ReplayKit의 존재가 타 앱 위에 Android와 같은 위젯을 띄울 수 있음을 뜻하지 않는다. iOS는 공유 시트/사진 기반 경험을 먼저 검증한다. ChatGPT 공식 문서는 현재 MCP server/UI 및 Plugins 문서 경로를 제공한다. 구형 플러그인 방식에만 고정하지 않고 출시 시 지원 채널·권한·심사를 다시 확인한다.
S1: OpenAI · MCP server and UI quickstart
https://developers.openai.com/plugins/build/app-quickstart
S2: Claude · Custom connectors / remote MCP
https://support.claude.com/en/articles/11175166-get-started-with-custom-connectors-using-remote-mcp
S3: Android · Media projection
https://developer.android.com/media/grow/media-projection
S4: Apple · ReplayKit
https://developer.apple.com/documentation/replaykit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원격 커넥터는 Anthropic 클라우드에서 원격 MCP 서버로 접속한다. 설치 앱이 있더라도 서버가 사용자 데스크톱에 자동 접근할 수 없다. 제안 API는 캡처 자체보다 사용자 승인 이미지 참조를 입력으로 받고, 임의 로컬 파일 경로나 무제한 원격 URL을 받지 않는다. 호스트별 OAuth·UI·앱 심사·계정 제공 조건은 배포 시 확인한다. 아직 구현되지 않은 제안이다. MCP 도구의 제안 이름은 identify_product, search_catalog, get_offer이며 제품의 공통 API 위에 두는 어댑터다.
S1: OpenAI · MCP server and UI quickstart
https://developers.openai.com/plugins/build/app-quickstart
S2: Claude · Custom connectors / remote MCP
https://support.claude.com/en/articles/11175166-get-started-with-custom-connectors-using-remote-mcp
S7: MCP · Security best practices
https://modelcontextprotocol.io/docs/2025-11-25/tutorials/security/security_best_practices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개인 Pro와 Business 가격은 고객 인터뷰와 실측 원가 뒤 결정한다. Windows 설치형도 구독과 결합할 수 있다. 설치형/전용 배포는 완전 오프라인을 의미하지 않는다. 외부 Gemini를 계속 쓰면 데이터 반출·추론비가 남는다. 폐쇄망 지원은 대체 모델·하드웨어·라이선스·성능 검증이 필요한 별도 제품이다. 제휴 계약과 앱마켓 결제 규정은 별도 확인한다.
S8: Stripe · Subscription webhooks
https://docs.stripe.com/billing/subscriptions/webhooks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단위경제를 산출한 결과가 아니다. 동일한 순매출에서도 사용량 분포가 다르면 수익성이 달라짐을 보여준다. 실패 요청에도 공급자 비용이 생길 수 있어 성공 건수만의 호출 단가를 쓰면 과소 추정된다. 키 발급을 최종 고객에게 요구하지 않으려면 운영자가 인증·비용·분산 쿼터를 담당하는 서비스 계층을 운영해야 한다.
S8: Stripe · Subscription webhooks
https://docs.stripe.com/billing/subscriptions/webhooks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보고서는 소스와 문서 수준의 구조적 진단이며 침투 테스트나 보안 인증 결과가 아니다. prototype server/api.mjs는 기본 데모키와 와일드카드 CORS를 사용한다. 실제 외부 노출 여부는 이번에 확인하지 않았으므로 현재 침해나 악용 가능 경로를 확정하지 않는다. 대화 암호화가 서버의 테넌트 격리나 로그 안전성까지 보장하는 것은 아니다.
S7: MCP · Security best practices
https://modelcontextprotocol.io/docs/2025-11-25/tutorials/security/security_best_practices
S9: European Commission · International data protection
https://commission.europa.eu/law/law-topic/data-protection/international-dimension-data-protection_en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국가별 법률·세금의 구체적 적용은 판매 주체와 데이터 흐름에 따라 전문가 검토가 필요하다. EU의 개인정보 국외 이전을 단순 번역·동의 문구만으로 해결했다고 보지 않는다. 이 문서는 법률 자문이 아니며 국가별 출시 검토 항목을 제시한다. 한국과 영어권 한 국가도 제안된 검증 순서이지 확정 사업 계획은 아니다.
S9: European Commission · International data protection
https://commission.europa.eu/law/law-topic/data-protection/international-dimension-data-protection_en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 보유 상품의 Top-1만 높게 만들어도 실제 열린 세상 성능은 보장되지 않는다. 우선 약 1,000개 질의로 정답 포함/미포함·모션/가림·색/옵션·앱/기기별 평가셋을 구성하되, 영상·SKU·사용자 단위로 개발/평가 데이터를 분리한다. 동일 상품 표시 비율(coverage)과 정확도를 함께 보고해 전부 미확인 처리하는 방식의 지표 편법을 방지한다. 결제 완료는 판매자 서버 이벤트 연동 없이는 확인할 수 없다.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필요 역량은 제품/사업 담당, 검색·백엔드 담당, Windows/Android 클라이언트 담당, QA/보안·운영 담당이다. 1인 수행 또는 파트너 데이터 계약 지연 시 기간은 크게 늘 수 있다. 각 단계에 담당자·비용 상한·중단 조건을 지정하고, 기능 수를 늘리는 대신 출시 지표 달성에 투자한다.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고객 인터뷰 목표 예시: 소비자 10명, 판매자/운영팀 5곳, 기업 보안/구매 담당 2곳. 현재 고객 인터뷰나 유료 수주가 완료됐다는 뜻이 아니다. 주요 중단 조건은 데이터 사용권 확보 실패, 동일 상품 식별 품질 미달, 사용량 증가 시 손실 확대, 모바일 권한/안정성 문제다. 핵심 경쟁력은 범용 LLM 보유가 아니라 허가된 상품 데이터와 시청/업무 흐름에 맞는 신뢰할 수 있는 구매 연결이다.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주요 내부 파일: cleantouch-desktop/{package.json,QUALITY-0.1.61.md,renderer.js,main.cjs,scene-dedup.js,chat-store.cjs}; cleantouch-search-api/{src/place-provider.ts,src/product-identity.ts,src/seller-photo.ts,netlify/functions/place-chat.mjs}; cleantouch-android/app/build.gradle.kts 및 search/MobileChatController.kt,MobileAiClient.kt; cleantouch/{src/sdk/types.ts,server/api.mjs}; SECURITY.md; artifacts/verification/{api-purchase-tests.txt,desktop-purchase-tests.txt}. README와 보안 문서의 버전/음성 설명은 현재 코드와 차이가 있다. 기존 발표 자료의 완료 표현은 그대로 승계하지 않았다.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외부 출처 확인일: 2026.10.15. 각 링크는 기능 구조·권한·인증·운영 기준을 참고한 1차 자료다. 제공 지역, 요금제, 심사 정책과 API 지원 범위는 실제 출시 시 재확인한다. 외부 자료는 CleanTouch의 현재 기능을 검증하는 증거가 아니며, 제안 아키텍처와 출시 제약을 설명하는 근거다.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developers.openai.com/plugins/build/app-quickstart" TargetMode="External"/><Relationship Id="rId2" Type="http://schemas.openxmlformats.org/officeDocument/2006/relationships/hyperlink" Target="https://support.claude.com/en/articles/11175166-get-started-with-custom-connectors-using-remote-mcp" TargetMode="External"/><Relationship Id="rId3" Type="http://schemas.openxmlformats.org/officeDocument/2006/relationships/hyperlink" Target="https://developer.android.com/media/grow/media-projection" TargetMode="External"/><Relationship Id="rId4" Type="http://schemas.openxmlformats.org/officeDocument/2006/relationships/hyperlink" Target="https://developer.apple.com/documentation/replaykit" TargetMode="External"/><Relationship Id="rId5" Type="http://schemas.openxmlformats.org/officeDocument/2006/relationships/hyperlink" Target="https://docs.cloud.google.com/vision/product-search/docs" TargetMode="External"/><Relationship Id="rId6" Type="http://schemas.openxmlformats.org/officeDocument/2006/relationships/hyperlink" Target="https://developers.google.com/search/docs/specialty/ecommerce/where-ecommerce-data-can-appear-on-google" TargetMode="External"/><Relationship Id="rId7" Type="http://schemas.openxmlformats.org/officeDocument/2006/relationships/hyperlink" Target="https://modelcontextprotocol.io/docs/2025-11-25/tutorials/security/security_best_practices" TargetMode="External"/><Relationship Id="rId8" Type="http://schemas.openxmlformats.org/officeDocument/2006/relationships/hyperlink" Target="https://docs.stripe.com/billing/subscriptions/webhooks" TargetMode="External"/><Relationship Id="rId9" Type="http://schemas.openxmlformats.org/officeDocument/2006/relationships/hyperlink" Target="https://commission.europa.eu/law/law-topic/data-protection/international-dimension-data-protection_en" TargetMode="External"/><Relationship Id="rId10" Type="http://schemas.openxmlformats.org/officeDocument/2006/relationships/slideLayout" Target="../slideLayouts/slideLayout1.xml"/><Relationship Id="rId11"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A2D"/>
        </a:solidFill>
      </p:bgPr>
    </p:bg>
    <p:spTree>
      <p:nvGrpSpPr>
        <p:cNvPr id="1" name=""/>
        <p:cNvGrpSpPr/>
        <p:nvPr/>
      </p:nvGrpSpPr>
      <p:grpSpPr>
        <a:xfrm>
          <a:off x="0" y="0"/>
          <a:ext cx="0" cy="0"/>
          <a:chOff x="0" y="0"/>
          <a:chExt cx="0" cy="0"/>
        </a:xfrm>
      </p:grpSpPr>
      <p:sp>
        <p:nvSpPr>
          <p:cNvPr id="2" name="Text 0"/>
          <p:cNvSpPr/>
          <p:nvPr/>
        </p:nvSpPr>
        <p:spPr>
          <a:xfrm>
            <a:off x="640080" y="548640"/>
            <a:ext cx="10058400" cy="274320"/>
          </a:xfrm>
          <a:prstGeom prst="rect">
            <a:avLst/>
          </a:prstGeom>
          <a:noFill/>
          <a:ln/>
        </p:spPr>
        <p:txBody>
          <a:bodyPr wrap="square" lIns="0" tIns="0" rIns="0" bIns="0" rtlCol="0" anchor="ctr">
            <a:normAutofit/>
          </a:bodyPr>
          <a:lstStyle/>
          <a:p>
            <a:pPr indent="0" marL="0">
              <a:buNone/>
            </a:pPr>
            <a:r>
              <a:rPr lang="en-US" sz="1000" b="1" spc="200" kern="0" dirty="0">
                <a:solidFill>
                  <a:srgbClr val="BDAEFF"/>
                </a:solidFill>
                <a:latin typeface="Malgun Gothic" pitchFamily="34" charset="0"/>
                <a:ea typeface="Malgun Gothic" pitchFamily="34" charset="-122"/>
                <a:cs typeface="Malgun Gothic" pitchFamily="34" charset="-120"/>
              </a:rPr>
              <a:t>PRODUCT &amp; BUSINESS REVIEW</a:t>
            </a:r>
            <a:endParaRPr lang="en-US" sz="1000" dirty="0"/>
          </a:p>
        </p:txBody>
      </p:sp>
      <p:sp>
        <p:nvSpPr>
          <p:cNvPr id="3" name="Text 1"/>
          <p:cNvSpPr/>
          <p:nvPr/>
        </p:nvSpPr>
        <p:spPr>
          <a:xfrm>
            <a:off x="640080" y="1508760"/>
            <a:ext cx="10881360" cy="914400"/>
          </a:xfrm>
          <a:prstGeom prst="rect">
            <a:avLst/>
          </a:prstGeom>
          <a:noFill/>
          <a:ln/>
        </p:spPr>
        <p:txBody>
          <a:bodyPr wrap="square" lIns="0" tIns="0" rIns="0" bIns="0" rtlCol="0" anchor="ctr">
            <a:normAutofit/>
          </a:bodyPr>
          <a:lstStyle/>
          <a:p>
            <a:pPr indent="0" marL="0">
              <a:buNone/>
            </a:pPr>
            <a:r>
              <a:rPr lang="en-US" sz="5200" b="1" dirty="0">
                <a:solidFill>
                  <a:srgbClr val="FFFFFF"/>
                </a:solidFill>
                <a:latin typeface="Malgun Gothic" pitchFamily="34" charset="0"/>
                <a:ea typeface="Malgun Gothic" pitchFamily="34" charset="-122"/>
                <a:cs typeface="Malgun Gothic" pitchFamily="34" charset="-120"/>
              </a:rPr>
              <a:t>CleanTouch</a:t>
            </a:r>
            <a:endParaRPr lang="en-US" sz="5200" dirty="0"/>
          </a:p>
        </p:txBody>
      </p:sp>
      <p:sp>
        <p:nvSpPr>
          <p:cNvPr id="4" name="Text 2"/>
          <p:cNvSpPr/>
          <p:nvPr/>
        </p:nvSpPr>
        <p:spPr>
          <a:xfrm>
            <a:off x="685800" y="2743200"/>
            <a:ext cx="10652760" cy="1188720"/>
          </a:xfrm>
          <a:prstGeom prst="rect">
            <a:avLst/>
          </a:prstGeom>
          <a:noFill/>
          <a:ln/>
        </p:spPr>
        <p:txBody>
          <a:bodyPr wrap="square" lIns="0" tIns="0" rIns="0" bIns="0" rtlCol="0" anchor="ctr">
            <a:normAutofit/>
          </a:bodyPr>
          <a:lstStyle/>
          <a:p>
            <a:pPr indent="0" marL="0">
              <a:buNone/>
            </a:pPr>
            <a:r>
              <a:rPr lang="en-US" sz="2900" b="1" dirty="0">
                <a:solidFill>
                  <a:srgbClr val="FFFFFF"/>
                </a:solidFill>
                <a:latin typeface="Malgun Gothic" pitchFamily="34" charset="0"/>
                <a:ea typeface="Malgun Gothic" pitchFamily="34" charset="-122"/>
                <a:cs typeface="Malgun Gothic" pitchFamily="34" charset="-120"/>
              </a:rPr>
              <a:t>제품 현황 진단과 사업화·글로벌 확장 전략</a:t>
            </a:r>
            <a:endParaRPr lang="en-US" sz="2900" dirty="0"/>
          </a:p>
        </p:txBody>
      </p:sp>
      <p:sp>
        <p:nvSpPr>
          <p:cNvPr id="5" name="Text 3"/>
          <p:cNvSpPr/>
          <p:nvPr/>
        </p:nvSpPr>
        <p:spPr>
          <a:xfrm>
            <a:off x="704088" y="4206240"/>
            <a:ext cx="10424160" cy="411480"/>
          </a:xfrm>
          <a:prstGeom prst="rect">
            <a:avLst/>
          </a:prstGeom>
          <a:noFill/>
          <a:ln/>
        </p:spPr>
        <p:txBody>
          <a:bodyPr wrap="square" lIns="0" tIns="0" rIns="0" bIns="0" rtlCol="0" anchor="ctr">
            <a:normAutofit/>
          </a:bodyPr>
          <a:lstStyle/>
          <a:p>
            <a:pPr indent="0" marL="0">
              <a:buNone/>
            </a:pPr>
            <a:r>
              <a:rPr lang="en-US" sz="1900" dirty="0">
                <a:solidFill>
                  <a:srgbClr val="C9D0E3"/>
                </a:solidFill>
                <a:latin typeface="Malgun Gothic" pitchFamily="34" charset="0"/>
                <a:ea typeface="Malgun Gothic" pitchFamily="34" charset="-122"/>
                <a:cs typeface="Malgun Gothic" pitchFamily="34" charset="-120"/>
              </a:rPr>
              <a:t>보던 장면을, 신뢰할 수 있는 상품과 고객 가치로</a:t>
            </a:r>
            <a:endParaRPr lang="en-US" sz="1900" dirty="0"/>
          </a:p>
        </p:txBody>
      </p:sp>
      <p:sp>
        <p:nvSpPr>
          <p:cNvPr id="6" name="Shape 4"/>
          <p:cNvSpPr/>
          <p:nvPr/>
        </p:nvSpPr>
        <p:spPr>
          <a:xfrm>
            <a:off x="704088" y="5303520"/>
            <a:ext cx="2578608" cy="457200"/>
          </a:xfrm>
          <a:prstGeom prst="roundRect">
            <a:avLst>
              <a:gd name="adj" fmla="val 32000"/>
            </a:avLst>
          </a:prstGeom>
          <a:solidFill>
            <a:srgbClr val="252942"/>
          </a:solidFill>
          <a:ln w="7620">
            <a:solidFill>
              <a:srgbClr val="383E5D"/>
            </a:solidFill>
            <a:prstDash val="solid"/>
          </a:ln>
        </p:spPr>
      </p:sp>
      <p:sp>
        <p:nvSpPr>
          <p:cNvPr id="7" name="Text 5"/>
          <p:cNvSpPr/>
          <p:nvPr/>
        </p:nvSpPr>
        <p:spPr>
          <a:xfrm>
            <a:off x="859536" y="5422392"/>
            <a:ext cx="2194560" cy="201168"/>
          </a:xfrm>
          <a:prstGeom prst="rect">
            <a:avLst/>
          </a:prstGeom>
          <a:noFill/>
          <a:ln/>
        </p:spPr>
        <p:txBody>
          <a:bodyPr wrap="square" lIns="0" tIns="0" rIns="0" bIns="0" rtlCol="0" anchor="ctr">
            <a:normAutofit/>
          </a:bodyPr>
          <a:lstStyle/>
          <a:p>
            <a:pPr indent="0" marL="0">
              <a:buNone/>
            </a:pPr>
            <a:r>
              <a:rPr lang="en-US" sz="1200" b="1" dirty="0">
                <a:solidFill>
                  <a:srgbClr val="DDD6FF"/>
                </a:solidFill>
                <a:latin typeface="Malgun Gothic" pitchFamily="34" charset="0"/>
                <a:ea typeface="Malgun Gothic" pitchFamily="34" charset="-122"/>
                <a:cs typeface="Malgun Gothic" pitchFamily="34" charset="-120"/>
              </a:rPr>
              <a:t>현재 구현 진단</a:t>
            </a:r>
            <a:endParaRPr lang="en-US" sz="1200" dirty="0"/>
          </a:p>
        </p:txBody>
      </p:sp>
      <p:sp>
        <p:nvSpPr>
          <p:cNvPr id="8" name="Shape 6"/>
          <p:cNvSpPr/>
          <p:nvPr/>
        </p:nvSpPr>
        <p:spPr>
          <a:xfrm>
            <a:off x="3465576" y="5303520"/>
            <a:ext cx="2578608" cy="457200"/>
          </a:xfrm>
          <a:prstGeom prst="roundRect">
            <a:avLst>
              <a:gd name="adj" fmla="val 32000"/>
            </a:avLst>
          </a:prstGeom>
          <a:solidFill>
            <a:srgbClr val="252942"/>
          </a:solidFill>
          <a:ln w="7620">
            <a:solidFill>
              <a:srgbClr val="383E5D"/>
            </a:solidFill>
            <a:prstDash val="solid"/>
          </a:ln>
        </p:spPr>
      </p:sp>
      <p:sp>
        <p:nvSpPr>
          <p:cNvPr id="9" name="Text 7"/>
          <p:cNvSpPr/>
          <p:nvPr/>
        </p:nvSpPr>
        <p:spPr>
          <a:xfrm>
            <a:off x="3621024" y="5422392"/>
            <a:ext cx="2194560" cy="201168"/>
          </a:xfrm>
          <a:prstGeom prst="rect">
            <a:avLst/>
          </a:prstGeom>
          <a:noFill/>
          <a:ln/>
        </p:spPr>
        <p:txBody>
          <a:bodyPr wrap="square" lIns="0" tIns="0" rIns="0" bIns="0" rtlCol="0" anchor="ctr">
            <a:normAutofit/>
          </a:bodyPr>
          <a:lstStyle/>
          <a:p>
            <a:pPr indent="0" marL="0">
              <a:buNone/>
            </a:pPr>
            <a:r>
              <a:rPr lang="en-US" sz="1200" b="1" dirty="0">
                <a:solidFill>
                  <a:srgbClr val="DDD6FF"/>
                </a:solidFill>
                <a:latin typeface="Malgun Gothic" pitchFamily="34" charset="0"/>
                <a:ea typeface="Malgun Gothic" pitchFamily="34" charset="-122"/>
                <a:cs typeface="Malgun Gothic" pitchFamily="34" charset="-120"/>
              </a:rPr>
              <a:t>B2B · B2C 설계</a:t>
            </a:r>
            <a:endParaRPr lang="en-US" sz="1200" dirty="0"/>
          </a:p>
        </p:txBody>
      </p:sp>
      <p:sp>
        <p:nvSpPr>
          <p:cNvPr id="10" name="Shape 8"/>
          <p:cNvSpPr/>
          <p:nvPr/>
        </p:nvSpPr>
        <p:spPr>
          <a:xfrm>
            <a:off x="6227064" y="5303520"/>
            <a:ext cx="2578608" cy="457200"/>
          </a:xfrm>
          <a:prstGeom prst="roundRect">
            <a:avLst>
              <a:gd name="adj" fmla="val 32000"/>
            </a:avLst>
          </a:prstGeom>
          <a:solidFill>
            <a:srgbClr val="252942"/>
          </a:solidFill>
          <a:ln w="7620">
            <a:solidFill>
              <a:srgbClr val="383E5D"/>
            </a:solidFill>
            <a:prstDash val="solid"/>
          </a:ln>
        </p:spPr>
      </p:sp>
      <p:sp>
        <p:nvSpPr>
          <p:cNvPr id="11" name="Text 9"/>
          <p:cNvSpPr/>
          <p:nvPr/>
        </p:nvSpPr>
        <p:spPr>
          <a:xfrm>
            <a:off x="6382512" y="5422392"/>
            <a:ext cx="2194560" cy="201168"/>
          </a:xfrm>
          <a:prstGeom prst="rect">
            <a:avLst/>
          </a:prstGeom>
          <a:noFill/>
          <a:ln/>
        </p:spPr>
        <p:txBody>
          <a:bodyPr wrap="square" lIns="0" tIns="0" rIns="0" bIns="0" rtlCol="0" anchor="ctr">
            <a:normAutofit/>
          </a:bodyPr>
          <a:lstStyle/>
          <a:p>
            <a:pPr indent="0" marL="0">
              <a:buNone/>
            </a:pPr>
            <a:r>
              <a:rPr lang="en-US" sz="1200" b="1" dirty="0">
                <a:solidFill>
                  <a:srgbClr val="DDD6FF"/>
                </a:solidFill>
                <a:latin typeface="Malgun Gothic" pitchFamily="34" charset="0"/>
                <a:ea typeface="Malgun Gothic" pitchFamily="34" charset="-122"/>
                <a:cs typeface="Malgun Gothic" pitchFamily="34" charset="-120"/>
              </a:rPr>
              <a:t>다중 플랫폼</a:t>
            </a:r>
            <a:endParaRPr lang="en-US" sz="1200" dirty="0"/>
          </a:p>
        </p:txBody>
      </p:sp>
      <p:sp>
        <p:nvSpPr>
          <p:cNvPr id="12" name="Shape 10"/>
          <p:cNvSpPr/>
          <p:nvPr/>
        </p:nvSpPr>
        <p:spPr>
          <a:xfrm>
            <a:off x="8988552" y="5303520"/>
            <a:ext cx="2578608" cy="457200"/>
          </a:xfrm>
          <a:prstGeom prst="roundRect">
            <a:avLst>
              <a:gd name="adj" fmla="val 32000"/>
            </a:avLst>
          </a:prstGeom>
          <a:solidFill>
            <a:srgbClr val="252942"/>
          </a:solidFill>
          <a:ln w="7620">
            <a:solidFill>
              <a:srgbClr val="383E5D"/>
            </a:solidFill>
            <a:prstDash val="solid"/>
          </a:ln>
        </p:spPr>
      </p:sp>
      <p:sp>
        <p:nvSpPr>
          <p:cNvPr id="13" name="Text 11"/>
          <p:cNvSpPr/>
          <p:nvPr/>
        </p:nvSpPr>
        <p:spPr>
          <a:xfrm>
            <a:off x="9144000" y="5422392"/>
            <a:ext cx="2194560" cy="201168"/>
          </a:xfrm>
          <a:prstGeom prst="rect">
            <a:avLst/>
          </a:prstGeom>
          <a:noFill/>
          <a:ln/>
        </p:spPr>
        <p:txBody>
          <a:bodyPr wrap="square" lIns="0" tIns="0" rIns="0" bIns="0" rtlCol="0" anchor="ctr">
            <a:normAutofit/>
          </a:bodyPr>
          <a:lstStyle/>
          <a:p>
            <a:pPr indent="0" marL="0">
              <a:buNone/>
            </a:pPr>
            <a:r>
              <a:rPr lang="en-US" sz="1200" b="1" dirty="0">
                <a:solidFill>
                  <a:srgbClr val="DDD6FF"/>
                </a:solidFill>
                <a:latin typeface="Malgun Gothic" pitchFamily="34" charset="0"/>
                <a:ea typeface="Malgun Gothic" pitchFamily="34" charset="-122"/>
                <a:cs typeface="Malgun Gothic" pitchFamily="34" charset="-120"/>
              </a:rPr>
              <a:t>글로벌 확장</a:t>
            </a:r>
            <a:endParaRPr lang="en-US" sz="1200" dirty="0"/>
          </a:p>
        </p:txBody>
      </p:sp>
      <p:sp>
        <p:nvSpPr>
          <p:cNvPr id="14" name="Text 12"/>
          <p:cNvSpPr/>
          <p:nvPr/>
        </p:nvSpPr>
        <p:spPr>
          <a:xfrm>
            <a:off x="704088" y="6327648"/>
            <a:ext cx="10515600" cy="228600"/>
          </a:xfrm>
          <a:prstGeom prst="rect">
            <a:avLst/>
          </a:prstGeom>
          <a:noFill/>
          <a:ln/>
        </p:spPr>
        <p:txBody>
          <a:bodyPr wrap="square" lIns="0" tIns="0" rIns="0" bIns="0" rtlCol="0" anchor="ctr">
            <a:normAutofit/>
          </a:bodyPr>
          <a:lstStyle/>
          <a:p>
            <a:pPr indent="0" marL="0">
              <a:buNone/>
            </a:pPr>
            <a:r>
              <a:rPr lang="en-US" sz="1100" dirty="0">
                <a:solidFill>
                  <a:srgbClr val="B6BED4"/>
                </a:solidFill>
                <a:latin typeface="Malgun Gothic" pitchFamily="34" charset="0"/>
                <a:ea typeface="Malgun Gothic" pitchFamily="34" charset="-122"/>
                <a:cs typeface="Malgun Gothic" pitchFamily="34" charset="-120"/>
              </a:rPr>
              <a:t>2026.10.15  |  내부 검토용  |  사실·제안·미검증 항목 구분</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548640" y="274320"/>
            <a:ext cx="10058400" cy="228600"/>
          </a:xfrm>
          <a:prstGeom prst="rect">
            <a:avLst/>
          </a:prstGeom>
          <a:noFill/>
          <a:ln/>
        </p:spPr>
        <p:txBody>
          <a:bodyPr wrap="square" lIns="0" tIns="0" rIns="0" bIns="0" rtlCol="0" anchor="ctr">
            <a:normAutofit/>
          </a:bodyPr>
          <a:lstStyle/>
          <a:p>
            <a:pPr indent="0" marL="0">
              <a:buNone/>
            </a:pPr>
            <a:r>
              <a:rPr lang="en-US" sz="900" b="1" spc="160" kern="0" dirty="0">
                <a:solidFill>
                  <a:srgbClr val="7150E8"/>
                </a:solidFill>
                <a:latin typeface="Malgun Gothic" pitchFamily="34" charset="0"/>
                <a:ea typeface="Malgun Gothic" pitchFamily="34" charset="-122"/>
                <a:cs typeface="Malgun Gothic" pitchFamily="34" charset="-120"/>
              </a:rPr>
              <a:t>EXECUTIVE DECISION</a:t>
            </a:r>
            <a:endParaRPr lang="en-US" sz="900" dirty="0"/>
          </a:p>
        </p:txBody>
      </p:sp>
      <p:sp>
        <p:nvSpPr>
          <p:cNvPr id="3" name="Text 1"/>
          <p:cNvSpPr/>
          <p:nvPr/>
        </p:nvSpPr>
        <p:spPr>
          <a:xfrm>
            <a:off x="548640" y="758952"/>
            <a:ext cx="11082528" cy="795528"/>
          </a:xfrm>
          <a:prstGeom prst="rect">
            <a:avLst/>
          </a:prstGeom>
          <a:noFill/>
          <a:ln/>
        </p:spPr>
        <p:txBody>
          <a:bodyPr wrap="square" lIns="0" tIns="0" rIns="0" bIns="0" rtlCol="0" anchor="ctr">
            <a:normAutofit/>
          </a:bodyPr>
          <a:lstStyle/>
          <a:p>
            <a:pPr indent="0" marL="0">
              <a:buNone/>
            </a:pPr>
            <a:r>
              <a:rPr lang="en-US" sz="2700" b="1" dirty="0">
                <a:solidFill>
                  <a:srgbClr val="20243A"/>
                </a:solidFill>
                <a:latin typeface="Malgun Gothic" pitchFamily="34" charset="0"/>
                <a:ea typeface="Malgun Gothic" pitchFamily="34" charset="-122"/>
                <a:cs typeface="Malgun Gothic" pitchFamily="34" charset="-120"/>
              </a:rPr>
              <a:t>지금의 강점은 사용 흐름, 다음 과제는 신뢰할 수 있는 구매 연결</a:t>
            </a:r>
            <a:endParaRPr lang="en-US" sz="2700" dirty="0"/>
          </a:p>
        </p:txBody>
      </p:sp>
      <p:sp>
        <p:nvSpPr>
          <p:cNvPr id="4" name="Shape 2"/>
          <p:cNvSpPr/>
          <p:nvPr/>
        </p:nvSpPr>
        <p:spPr>
          <a:xfrm>
            <a:off x="548640" y="1682496"/>
            <a:ext cx="11064240" cy="0"/>
          </a:xfrm>
          <a:prstGeom prst="line">
            <a:avLst/>
          </a:prstGeom>
          <a:noFill/>
          <a:ln w="12700">
            <a:solidFill>
              <a:srgbClr val="DDE2ED"/>
            </a:solidFill>
            <a:prstDash val="solid"/>
          </a:ln>
        </p:spPr>
      </p:sp>
      <p:sp>
        <p:nvSpPr>
          <p:cNvPr id="5" name="Text 3"/>
          <p:cNvSpPr/>
          <p:nvPr/>
        </p:nvSpPr>
        <p:spPr>
          <a:xfrm>
            <a:off x="548640" y="6519672"/>
            <a:ext cx="8869680" cy="164592"/>
          </a:xfrm>
          <a:prstGeom prst="rect">
            <a:avLst/>
          </a:prstGeom>
          <a:noFill/>
          <a:ln/>
        </p:spPr>
        <p:txBody>
          <a:bodyPr wrap="square" lIns="0" tIns="0" rIns="0" bIns="0" rtlCol="0" anchor="ctr">
            <a:normAutofit/>
          </a:bodyPr>
          <a:lstStyle/>
          <a:p>
            <a:pPr indent="0" marL="0">
              <a:buNone/>
            </a:pPr>
            <a:r>
              <a:rPr lang="en-US" sz="800" dirty="0">
                <a:solidFill>
                  <a:srgbClr val="677087"/>
                </a:solidFill>
                <a:latin typeface="Malgun Gothic" pitchFamily="34" charset="0"/>
                <a:ea typeface="Malgun Gothic" pitchFamily="34" charset="-122"/>
                <a:cs typeface="Malgun Gothic" pitchFamily="34" charset="-120"/>
              </a:rPr>
              <a:t>CleanTouch  |  사업화 현황 진단  |  2026.10.15</a:t>
            </a:r>
            <a:endParaRPr lang="en-US" sz="800" dirty="0"/>
          </a:p>
        </p:txBody>
      </p:sp>
      <p:sp>
        <p:nvSpPr>
          <p:cNvPr id="6" name="Text 4"/>
          <p:cNvSpPr/>
          <p:nvPr/>
        </p:nvSpPr>
        <p:spPr>
          <a:xfrm>
            <a:off x="10698480" y="6501384"/>
            <a:ext cx="914400" cy="182880"/>
          </a:xfrm>
          <a:prstGeom prst="rect">
            <a:avLst/>
          </a:prstGeom>
          <a:noFill/>
          <a:ln/>
        </p:spPr>
        <p:txBody>
          <a:bodyPr wrap="square" lIns="0" tIns="0" rIns="0" bIns="0" rtlCol="0" anchor="ctr">
            <a:normAutofit/>
          </a:bodyPr>
          <a:lstStyle/>
          <a:p>
            <a:pPr algn="r" indent="0" marL="0">
              <a:buNone/>
            </a:pPr>
            <a:r>
              <a:rPr lang="en-US" sz="800" dirty="0">
                <a:solidFill>
                  <a:srgbClr val="677087"/>
                </a:solidFill>
                <a:latin typeface="Malgun Gothic" pitchFamily="34" charset="0"/>
                <a:ea typeface="Malgun Gothic" pitchFamily="34" charset="-122"/>
                <a:cs typeface="Malgun Gothic" pitchFamily="34" charset="-120"/>
              </a:rPr>
              <a:t>02 / 24</a:t>
            </a:r>
            <a:endParaRPr lang="en-US" sz="800" dirty="0"/>
          </a:p>
        </p:txBody>
      </p:sp>
      <p:sp>
        <p:nvSpPr>
          <p:cNvPr id="7" name="Shape 5"/>
          <p:cNvSpPr/>
          <p:nvPr/>
        </p:nvSpPr>
        <p:spPr>
          <a:xfrm>
            <a:off x="548640" y="1901952"/>
            <a:ext cx="5413248" cy="1700784"/>
          </a:xfrm>
          <a:prstGeom prst="roundRect">
            <a:avLst>
              <a:gd name="adj" fmla="val 8602"/>
            </a:avLst>
          </a:prstGeom>
          <a:solidFill>
            <a:srgbClr val="FFFFFF"/>
          </a:solidFill>
          <a:ln w="7620">
            <a:solidFill>
              <a:srgbClr val="DDE2ED"/>
            </a:solidFill>
            <a:prstDash val="solid"/>
          </a:ln>
        </p:spPr>
      </p:sp>
      <p:sp>
        <p:nvSpPr>
          <p:cNvPr id="8" name="Shape 6"/>
          <p:cNvSpPr/>
          <p:nvPr/>
        </p:nvSpPr>
        <p:spPr>
          <a:xfrm>
            <a:off x="713232" y="2112264"/>
            <a:ext cx="41148" cy="1280160"/>
          </a:xfrm>
          <a:prstGeom prst="rect">
            <a:avLst/>
          </a:prstGeom>
          <a:solidFill>
            <a:srgbClr val="7150E8"/>
          </a:solidFill>
          <a:ln w="12700">
            <a:solidFill>
              <a:srgbClr val="7150E8">
                <a:alpha val="0"/>
              </a:srgbClr>
            </a:solidFill>
            <a:prstDash val="solid"/>
          </a:ln>
        </p:spPr>
      </p:sp>
      <p:sp>
        <p:nvSpPr>
          <p:cNvPr id="9" name="Text 7"/>
          <p:cNvSpPr/>
          <p:nvPr/>
        </p:nvSpPr>
        <p:spPr>
          <a:xfrm>
            <a:off x="914400" y="2103120"/>
            <a:ext cx="4773168" cy="338328"/>
          </a:xfrm>
          <a:prstGeom prst="rect">
            <a:avLst/>
          </a:prstGeom>
          <a:noFill/>
          <a:ln/>
        </p:spPr>
        <p:txBody>
          <a:bodyPr wrap="square" lIns="0" tIns="0" rIns="0" bIns="0" rtlCol="0" anchor="ctr">
            <a:normAutofit/>
          </a:bodyPr>
          <a:lstStyle/>
          <a:p>
            <a:pPr indent="0" marL="0">
              <a:buNone/>
            </a:pPr>
            <a:r>
              <a:rPr lang="en-US" sz="1700" b="1" dirty="0">
                <a:solidFill>
                  <a:srgbClr val="7150E8"/>
                </a:solidFill>
                <a:latin typeface="Malgun Gothic" pitchFamily="34" charset="0"/>
                <a:ea typeface="Malgun Gothic" pitchFamily="34" charset="-122"/>
                <a:cs typeface="Malgun Gothic" pitchFamily="34" charset="-120"/>
              </a:rPr>
              <a:t>현재 판단</a:t>
            </a:r>
            <a:endParaRPr lang="en-US" sz="1700" dirty="0"/>
          </a:p>
        </p:txBody>
      </p:sp>
      <p:sp>
        <p:nvSpPr>
          <p:cNvPr id="10" name="Text 8"/>
          <p:cNvSpPr/>
          <p:nvPr/>
        </p:nvSpPr>
        <p:spPr>
          <a:xfrm>
            <a:off x="914400" y="2679192"/>
            <a:ext cx="4718304" cy="758952"/>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화면 선택·위젯·AI 대화가 연결된 프로토타입</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일부 기능 검증은 있으나 상용 서비스 검증은 부족</a:t>
            </a:r>
            <a:endParaRPr lang="en-US" sz="1500" dirty="0"/>
          </a:p>
        </p:txBody>
      </p:sp>
      <p:sp>
        <p:nvSpPr>
          <p:cNvPr id="11" name="Shape 9"/>
          <p:cNvSpPr/>
          <p:nvPr/>
        </p:nvSpPr>
        <p:spPr>
          <a:xfrm>
            <a:off x="6217920" y="1901952"/>
            <a:ext cx="5413248" cy="1700784"/>
          </a:xfrm>
          <a:prstGeom prst="roundRect">
            <a:avLst>
              <a:gd name="adj" fmla="val 8602"/>
            </a:avLst>
          </a:prstGeom>
          <a:solidFill>
            <a:srgbClr val="FFFFFF"/>
          </a:solidFill>
          <a:ln w="7620">
            <a:solidFill>
              <a:srgbClr val="DDE2ED"/>
            </a:solidFill>
            <a:prstDash val="solid"/>
          </a:ln>
        </p:spPr>
      </p:sp>
      <p:sp>
        <p:nvSpPr>
          <p:cNvPr id="12" name="Shape 10"/>
          <p:cNvSpPr/>
          <p:nvPr/>
        </p:nvSpPr>
        <p:spPr>
          <a:xfrm>
            <a:off x="6382512" y="2112264"/>
            <a:ext cx="41148" cy="1280160"/>
          </a:xfrm>
          <a:prstGeom prst="rect">
            <a:avLst/>
          </a:prstGeom>
          <a:solidFill>
            <a:srgbClr val="147D7A"/>
          </a:solidFill>
          <a:ln w="12700">
            <a:solidFill>
              <a:srgbClr val="147D7A">
                <a:alpha val="0"/>
              </a:srgbClr>
            </a:solidFill>
            <a:prstDash val="solid"/>
          </a:ln>
        </p:spPr>
      </p:sp>
      <p:sp>
        <p:nvSpPr>
          <p:cNvPr id="13" name="Text 11"/>
          <p:cNvSpPr/>
          <p:nvPr/>
        </p:nvSpPr>
        <p:spPr>
          <a:xfrm>
            <a:off x="6583680" y="2103120"/>
            <a:ext cx="4773168" cy="338328"/>
          </a:xfrm>
          <a:prstGeom prst="rect">
            <a:avLst/>
          </a:prstGeom>
          <a:noFill/>
          <a:ln/>
        </p:spPr>
        <p:txBody>
          <a:bodyPr wrap="square" lIns="0" tIns="0" rIns="0" bIns="0" rtlCol="0" anchor="ctr">
            <a:normAutofit/>
          </a:bodyPr>
          <a:lstStyle/>
          <a:p>
            <a:pPr indent="0" marL="0">
              <a:buNone/>
            </a:pPr>
            <a:r>
              <a:rPr lang="en-US" sz="1700" b="1" dirty="0">
                <a:solidFill>
                  <a:srgbClr val="147D7A"/>
                </a:solidFill>
                <a:latin typeface="Malgun Gothic" pitchFamily="34" charset="0"/>
                <a:ea typeface="Malgun Gothic" pitchFamily="34" charset="-122"/>
                <a:cs typeface="Malgun Gothic" pitchFamily="34" charset="-120"/>
              </a:rPr>
              <a:t>가장 큰 결함</a:t>
            </a:r>
            <a:endParaRPr lang="en-US" sz="1700" dirty="0"/>
          </a:p>
        </p:txBody>
      </p:sp>
      <p:sp>
        <p:nvSpPr>
          <p:cNvPr id="14" name="Text 12"/>
          <p:cNvSpPr/>
          <p:nvPr/>
        </p:nvSpPr>
        <p:spPr>
          <a:xfrm>
            <a:off x="6583680" y="2679192"/>
            <a:ext cx="4718304" cy="758952"/>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상품 종류 추정과 같은 모델 식별이 섞임</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키워드 검색 링크가 실제 구매처처럼 보이는 경험</a:t>
            </a:r>
            <a:endParaRPr lang="en-US" sz="1500" dirty="0"/>
          </a:p>
        </p:txBody>
      </p:sp>
      <p:sp>
        <p:nvSpPr>
          <p:cNvPr id="15" name="Shape 13"/>
          <p:cNvSpPr/>
          <p:nvPr/>
        </p:nvSpPr>
        <p:spPr>
          <a:xfrm>
            <a:off x="548640" y="3785616"/>
            <a:ext cx="5413248" cy="1700784"/>
          </a:xfrm>
          <a:prstGeom prst="roundRect">
            <a:avLst>
              <a:gd name="adj" fmla="val 8602"/>
            </a:avLst>
          </a:prstGeom>
          <a:solidFill>
            <a:srgbClr val="FFFFFF"/>
          </a:solidFill>
          <a:ln w="7620">
            <a:solidFill>
              <a:srgbClr val="DDE2ED"/>
            </a:solidFill>
            <a:prstDash val="solid"/>
          </a:ln>
        </p:spPr>
      </p:sp>
      <p:sp>
        <p:nvSpPr>
          <p:cNvPr id="16" name="Shape 14"/>
          <p:cNvSpPr/>
          <p:nvPr/>
        </p:nvSpPr>
        <p:spPr>
          <a:xfrm>
            <a:off x="713232" y="3995928"/>
            <a:ext cx="41148" cy="1280160"/>
          </a:xfrm>
          <a:prstGeom prst="rect">
            <a:avLst/>
          </a:prstGeom>
          <a:solidFill>
            <a:srgbClr val="7150E8"/>
          </a:solidFill>
          <a:ln w="12700">
            <a:solidFill>
              <a:srgbClr val="7150E8">
                <a:alpha val="0"/>
              </a:srgbClr>
            </a:solidFill>
            <a:prstDash val="solid"/>
          </a:ln>
        </p:spPr>
      </p:sp>
      <p:sp>
        <p:nvSpPr>
          <p:cNvPr id="17" name="Text 15"/>
          <p:cNvSpPr/>
          <p:nvPr/>
        </p:nvSpPr>
        <p:spPr>
          <a:xfrm>
            <a:off x="914400" y="3986784"/>
            <a:ext cx="4773168" cy="338328"/>
          </a:xfrm>
          <a:prstGeom prst="rect">
            <a:avLst/>
          </a:prstGeom>
          <a:noFill/>
          <a:ln/>
        </p:spPr>
        <p:txBody>
          <a:bodyPr wrap="square" lIns="0" tIns="0" rIns="0" bIns="0" rtlCol="0" anchor="ctr">
            <a:normAutofit/>
          </a:bodyPr>
          <a:lstStyle/>
          <a:p>
            <a:pPr indent="0" marL="0">
              <a:buNone/>
            </a:pPr>
            <a:r>
              <a:rPr lang="en-US" sz="1700" b="1" dirty="0">
                <a:solidFill>
                  <a:srgbClr val="7150E8"/>
                </a:solidFill>
                <a:latin typeface="Malgun Gothic" pitchFamily="34" charset="0"/>
                <a:ea typeface="Malgun Gothic" pitchFamily="34" charset="-122"/>
                <a:cs typeface="Malgun Gothic" pitchFamily="34" charset="-120"/>
              </a:rPr>
              <a:t>추천 진입점</a:t>
            </a:r>
            <a:endParaRPr lang="en-US" sz="1700" dirty="0"/>
          </a:p>
        </p:txBody>
      </p:sp>
      <p:sp>
        <p:nvSpPr>
          <p:cNvPr id="18" name="Text 16"/>
          <p:cNvSpPr/>
          <p:nvPr/>
        </p:nvSpPr>
        <p:spPr>
          <a:xfrm>
            <a:off x="914400" y="4562856"/>
            <a:ext cx="4718304" cy="758952"/>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카탈로그를 제공할 수 있는 판매자와 B2B 실증</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Windows 검증 + 웹 SDK 재사용, Android 병행 안정화</a:t>
            </a:r>
            <a:endParaRPr lang="en-US" sz="1500" dirty="0"/>
          </a:p>
        </p:txBody>
      </p:sp>
      <p:sp>
        <p:nvSpPr>
          <p:cNvPr id="19" name="Shape 17"/>
          <p:cNvSpPr/>
          <p:nvPr/>
        </p:nvSpPr>
        <p:spPr>
          <a:xfrm>
            <a:off x="6217920" y="3785616"/>
            <a:ext cx="5413248" cy="1700784"/>
          </a:xfrm>
          <a:prstGeom prst="roundRect">
            <a:avLst>
              <a:gd name="adj" fmla="val 8602"/>
            </a:avLst>
          </a:prstGeom>
          <a:solidFill>
            <a:srgbClr val="FFFFFF"/>
          </a:solidFill>
          <a:ln w="7620">
            <a:solidFill>
              <a:srgbClr val="DDE2ED"/>
            </a:solidFill>
            <a:prstDash val="solid"/>
          </a:ln>
        </p:spPr>
      </p:sp>
      <p:sp>
        <p:nvSpPr>
          <p:cNvPr id="20" name="Shape 18"/>
          <p:cNvSpPr/>
          <p:nvPr/>
        </p:nvSpPr>
        <p:spPr>
          <a:xfrm>
            <a:off x="6382512" y="3995928"/>
            <a:ext cx="41148" cy="1280160"/>
          </a:xfrm>
          <a:prstGeom prst="rect">
            <a:avLst/>
          </a:prstGeom>
          <a:solidFill>
            <a:srgbClr val="147D7A"/>
          </a:solidFill>
          <a:ln w="12700">
            <a:solidFill>
              <a:srgbClr val="147D7A">
                <a:alpha val="0"/>
              </a:srgbClr>
            </a:solidFill>
            <a:prstDash val="solid"/>
          </a:ln>
        </p:spPr>
      </p:sp>
      <p:sp>
        <p:nvSpPr>
          <p:cNvPr id="21" name="Text 19"/>
          <p:cNvSpPr/>
          <p:nvPr/>
        </p:nvSpPr>
        <p:spPr>
          <a:xfrm>
            <a:off x="6583680" y="3986784"/>
            <a:ext cx="4773168" cy="338328"/>
          </a:xfrm>
          <a:prstGeom prst="rect">
            <a:avLst/>
          </a:prstGeom>
          <a:noFill/>
          <a:ln/>
        </p:spPr>
        <p:txBody>
          <a:bodyPr wrap="square" lIns="0" tIns="0" rIns="0" bIns="0" rtlCol="0" anchor="ctr">
            <a:normAutofit/>
          </a:bodyPr>
          <a:lstStyle/>
          <a:p>
            <a:pPr indent="0" marL="0">
              <a:buNone/>
            </a:pPr>
            <a:r>
              <a:rPr lang="en-US" sz="1700" b="1" dirty="0">
                <a:solidFill>
                  <a:srgbClr val="147D7A"/>
                </a:solidFill>
                <a:latin typeface="Malgun Gothic" pitchFamily="34" charset="0"/>
                <a:ea typeface="Malgun Gothic" pitchFamily="34" charset="-122"/>
                <a:cs typeface="Malgun Gothic" pitchFamily="34" charset="-120"/>
              </a:rPr>
              <a:t>유료 출시 전 조건</a:t>
            </a:r>
            <a:endParaRPr lang="en-US" sz="1700" dirty="0"/>
          </a:p>
        </p:txBody>
      </p:sp>
      <p:sp>
        <p:nvSpPr>
          <p:cNvPr id="22" name="Text 20"/>
          <p:cNvSpPr/>
          <p:nvPr/>
        </p:nvSpPr>
        <p:spPr>
          <a:xfrm>
            <a:off x="6583680" y="4562856"/>
            <a:ext cx="4718304" cy="758952"/>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실제 상품 상세 URL·오인식률·성공당 원가 측정</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인증·결제·사용량·고객지원 체계 구축</a:t>
            </a:r>
            <a:endParaRPr lang="en-US" sz="1500" dirty="0"/>
          </a:p>
        </p:txBody>
      </p:sp>
      <p:sp>
        <p:nvSpPr>
          <p:cNvPr id="23" name="Shape 21"/>
          <p:cNvSpPr/>
          <p:nvPr/>
        </p:nvSpPr>
        <p:spPr>
          <a:xfrm>
            <a:off x="548640" y="5824728"/>
            <a:ext cx="11082528" cy="438912"/>
          </a:xfrm>
          <a:prstGeom prst="roundRect">
            <a:avLst>
              <a:gd name="adj" fmla="val 33333"/>
            </a:avLst>
          </a:prstGeom>
          <a:solidFill>
            <a:srgbClr val="EEE9FD"/>
          </a:solidFill>
          <a:ln w="7620">
            <a:solidFill>
              <a:srgbClr val="EEE9FD"/>
            </a:solidFill>
            <a:prstDash val="solid"/>
          </a:ln>
        </p:spPr>
      </p:sp>
      <p:sp>
        <p:nvSpPr>
          <p:cNvPr id="24" name="Text 22"/>
          <p:cNvSpPr/>
          <p:nvPr/>
        </p:nvSpPr>
        <p:spPr>
          <a:xfrm>
            <a:off x="731520" y="5916168"/>
            <a:ext cx="10698480" cy="237744"/>
          </a:xfrm>
          <a:prstGeom prst="rect">
            <a:avLst/>
          </a:prstGeom>
          <a:noFill/>
          <a:ln/>
        </p:spPr>
        <p:txBody>
          <a:bodyPr wrap="square" lIns="0" tIns="0" rIns="0" bIns="0" rtlCol="0" anchor="ctr">
            <a:normAutofit/>
          </a:bodyPr>
          <a:lstStyle/>
          <a:p>
            <a:pPr indent="0" marL="0">
              <a:buNone/>
            </a:pPr>
            <a:r>
              <a:rPr lang="en-US" sz="1140" b="1" dirty="0">
                <a:solidFill>
                  <a:srgbClr val="7150E8"/>
                </a:solidFill>
                <a:latin typeface="Malgun Gothic" pitchFamily="34" charset="0"/>
                <a:ea typeface="Malgun Gothic" pitchFamily="34" charset="-122"/>
                <a:cs typeface="Malgun Gothic" pitchFamily="34" charset="-120"/>
              </a:rPr>
              <a:t>확장 채널보다 먼저, “찾은 상품이 맞는가”와 “고객이 살 수 있는가”를 증명한다.</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548640" y="274320"/>
            <a:ext cx="10058400" cy="228600"/>
          </a:xfrm>
          <a:prstGeom prst="rect">
            <a:avLst/>
          </a:prstGeom>
          <a:noFill/>
          <a:ln/>
        </p:spPr>
        <p:txBody>
          <a:bodyPr wrap="square" lIns="0" tIns="0" rIns="0" bIns="0" rtlCol="0" anchor="ctr">
            <a:normAutofit/>
          </a:bodyPr>
          <a:lstStyle/>
          <a:p>
            <a:pPr indent="0" marL="0">
              <a:buNone/>
            </a:pPr>
            <a:r>
              <a:rPr lang="en-US" sz="900" b="1" spc="160" kern="0" dirty="0">
                <a:solidFill>
                  <a:srgbClr val="7150E8"/>
                </a:solidFill>
                <a:latin typeface="Malgun Gothic" pitchFamily="34" charset="0"/>
                <a:ea typeface="Malgun Gothic" pitchFamily="34" charset="-122"/>
                <a:cs typeface="Malgun Gothic" pitchFamily="34" charset="-120"/>
              </a:rPr>
              <a:t>REPORT MAP</a:t>
            </a:r>
            <a:endParaRPr lang="en-US" sz="900" dirty="0"/>
          </a:p>
        </p:txBody>
      </p:sp>
      <p:sp>
        <p:nvSpPr>
          <p:cNvPr id="3" name="Text 1"/>
          <p:cNvSpPr/>
          <p:nvPr/>
        </p:nvSpPr>
        <p:spPr>
          <a:xfrm>
            <a:off x="548640" y="758952"/>
            <a:ext cx="11082528" cy="795528"/>
          </a:xfrm>
          <a:prstGeom prst="rect">
            <a:avLst/>
          </a:prstGeom>
          <a:noFill/>
          <a:ln/>
        </p:spPr>
        <p:txBody>
          <a:bodyPr wrap="square" lIns="0" tIns="0" rIns="0" bIns="0" rtlCol="0" anchor="ctr">
            <a:normAutofit/>
          </a:bodyPr>
          <a:lstStyle/>
          <a:p>
            <a:pPr indent="0" marL="0">
              <a:buNone/>
            </a:pPr>
            <a:r>
              <a:rPr lang="en-US" sz="2700" b="1" dirty="0">
                <a:solidFill>
                  <a:srgbClr val="20243A"/>
                </a:solidFill>
                <a:latin typeface="Malgun Gothic" pitchFamily="34" charset="0"/>
                <a:ea typeface="Malgun Gothic" pitchFamily="34" charset="-122"/>
                <a:cs typeface="Malgun Gothic" pitchFamily="34" charset="-120"/>
              </a:rPr>
              <a:t>목차</a:t>
            </a:r>
            <a:endParaRPr lang="en-US" sz="2700" dirty="0"/>
          </a:p>
        </p:txBody>
      </p:sp>
      <p:sp>
        <p:nvSpPr>
          <p:cNvPr id="4" name="Shape 2"/>
          <p:cNvSpPr/>
          <p:nvPr/>
        </p:nvSpPr>
        <p:spPr>
          <a:xfrm>
            <a:off x="548640" y="1682496"/>
            <a:ext cx="11064240" cy="0"/>
          </a:xfrm>
          <a:prstGeom prst="line">
            <a:avLst/>
          </a:prstGeom>
          <a:noFill/>
          <a:ln w="12700">
            <a:solidFill>
              <a:srgbClr val="DDE2ED"/>
            </a:solidFill>
            <a:prstDash val="solid"/>
          </a:ln>
        </p:spPr>
      </p:sp>
      <p:sp>
        <p:nvSpPr>
          <p:cNvPr id="5" name="Text 3"/>
          <p:cNvSpPr/>
          <p:nvPr/>
        </p:nvSpPr>
        <p:spPr>
          <a:xfrm>
            <a:off x="548640" y="6519672"/>
            <a:ext cx="8869680" cy="164592"/>
          </a:xfrm>
          <a:prstGeom prst="rect">
            <a:avLst/>
          </a:prstGeom>
          <a:noFill/>
          <a:ln/>
        </p:spPr>
        <p:txBody>
          <a:bodyPr wrap="square" lIns="0" tIns="0" rIns="0" bIns="0" rtlCol="0" anchor="ctr">
            <a:normAutofit/>
          </a:bodyPr>
          <a:lstStyle/>
          <a:p>
            <a:pPr indent="0" marL="0">
              <a:buNone/>
            </a:pPr>
            <a:r>
              <a:rPr lang="en-US" sz="800" dirty="0">
                <a:solidFill>
                  <a:srgbClr val="677087"/>
                </a:solidFill>
                <a:latin typeface="Malgun Gothic" pitchFamily="34" charset="0"/>
                <a:ea typeface="Malgun Gothic" pitchFamily="34" charset="-122"/>
                <a:cs typeface="Malgun Gothic" pitchFamily="34" charset="-120"/>
              </a:rPr>
              <a:t>CleanTouch  |  사업화 현황 진단  |  2026.10.15</a:t>
            </a:r>
            <a:endParaRPr lang="en-US" sz="800" dirty="0"/>
          </a:p>
        </p:txBody>
      </p:sp>
      <p:sp>
        <p:nvSpPr>
          <p:cNvPr id="6" name="Text 4"/>
          <p:cNvSpPr/>
          <p:nvPr/>
        </p:nvSpPr>
        <p:spPr>
          <a:xfrm>
            <a:off x="10698480" y="6501384"/>
            <a:ext cx="914400" cy="182880"/>
          </a:xfrm>
          <a:prstGeom prst="rect">
            <a:avLst/>
          </a:prstGeom>
          <a:noFill/>
          <a:ln/>
        </p:spPr>
        <p:txBody>
          <a:bodyPr wrap="square" lIns="0" tIns="0" rIns="0" bIns="0" rtlCol="0" anchor="ctr">
            <a:normAutofit/>
          </a:bodyPr>
          <a:lstStyle/>
          <a:p>
            <a:pPr algn="r" indent="0" marL="0">
              <a:buNone/>
            </a:pPr>
            <a:r>
              <a:rPr lang="en-US" sz="800" dirty="0">
                <a:solidFill>
                  <a:srgbClr val="677087"/>
                </a:solidFill>
                <a:latin typeface="Malgun Gothic" pitchFamily="34" charset="0"/>
                <a:ea typeface="Malgun Gothic" pitchFamily="34" charset="-122"/>
                <a:cs typeface="Malgun Gothic" pitchFamily="34" charset="-120"/>
              </a:rPr>
              <a:t>03 / 24</a:t>
            </a:r>
            <a:endParaRPr lang="en-US" sz="800" dirty="0"/>
          </a:p>
        </p:txBody>
      </p:sp>
      <p:sp>
        <p:nvSpPr>
          <p:cNvPr id="7" name="Shape 5"/>
          <p:cNvSpPr/>
          <p:nvPr/>
        </p:nvSpPr>
        <p:spPr>
          <a:xfrm>
            <a:off x="548640" y="1874520"/>
            <a:ext cx="11082528" cy="640080"/>
          </a:xfrm>
          <a:prstGeom prst="roundRect">
            <a:avLst>
              <a:gd name="adj" fmla="val 22857"/>
            </a:avLst>
          </a:prstGeom>
          <a:solidFill>
            <a:srgbClr val="FFFFFF"/>
          </a:solidFill>
          <a:ln w="7620">
            <a:solidFill>
              <a:srgbClr val="DDE2ED"/>
            </a:solidFill>
            <a:prstDash val="solid"/>
          </a:ln>
        </p:spPr>
      </p:sp>
      <p:sp>
        <p:nvSpPr>
          <p:cNvPr id="8" name="Text 6"/>
          <p:cNvSpPr/>
          <p:nvPr/>
        </p:nvSpPr>
        <p:spPr>
          <a:xfrm>
            <a:off x="768096" y="2039112"/>
            <a:ext cx="548640" cy="274320"/>
          </a:xfrm>
          <a:prstGeom prst="rect">
            <a:avLst/>
          </a:prstGeom>
          <a:noFill/>
          <a:ln/>
        </p:spPr>
        <p:txBody>
          <a:bodyPr wrap="square" lIns="0" tIns="0" rIns="0" bIns="0" rtlCol="0" anchor="ctr">
            <a:normAutofit/>
          </a:bodyPr>
          <a:lstStyle/>
          <a:p>
            <a:pPr indent="0" marL="0">
              <a:buNone/>
            </a:pPr>
            <a:r>
              <a:rPr lang="en-US" sz="1900" b="1" dirty="0">
                <a:solidFill>
                  <a:srgbClr val="7150E8"/>
                </a:solidFill>
                <a:latin typeface="Malgun Gothic" pitchFamily="34" charset="0"/>
                <a:ea typeface="Malgun Gothic" pitchFamily="34" charset="-122"/>
                <a:cs typeface="Malgun Gothic" pitchFamily="34" charset="-120"/>
              </a:rPr>
              <a:t>01</a:t>
            </a:r>
            <a:endParaRPr lang="en-US" sz="1900" dirty="0"/>
          </a:p>
        </p:txBody>
      </p:sp>
      <p:sp>
        <p:nvSpPr>
          <p:cNvPr id="9" name="Text 7"/>
          <p:cNvSpPr/>
          <p:nvPr/>
        </p:nvSpPr>
        <p:spPr>
          <a:xfrm>
            <a:off x="1554480" y="2039112"/>
            <a:ext cx="3291840" cy="283464"/>
          </a:xfrm>
          <a:prstGeom prst="rect">
            <a:avLst/>
          </a:prstGeom>
          <a:noFill/>
          <a:ln/>
        </p:spPr>
        <p:txBody>
          <a:bodyPr wrap="square" lIns="0" tIns="0" rIns="0" bIns="0" rtlCol="0" anchor="ctr">
            <a:normAutofit/>
          </a:bodyPr>
          <a:lstStyle/>
          <a:p>
            <a:pPr indent="0" marL="0">
              <a:buNone/>
            </a:pPr>
            <a:r>
              <a:rPr lang="en-US" sz="1700" b="1" dirty="0">
                <a:solidFill>
                  <a:srgbClr val="20243A"/>
                </a:solidFill>
                <a:latin typeface="Malgun Gothic" pitchFamily="34" charset="0"/>
                <a:ea typeface="Malgun Gothic" pitchFamily="34" charset="-122"/>
                <a:cs typeface="Malgun Gothic" pitchFamily="34" charset="-120"/>
              </a:rPr>
              <a:t>현황과 근거</a:t>
            </a:r>
            <a:endParaRPr lang="en-US" sz="1700" dirty="0"/>
          </a:p>
        </p:txBody>
      </p:sp>
      <p:sp>
        <p:nvSpPr>
          <p:cNvPr id="10" name="Text 8"/>
          <p:cNvSpPr/>
          <p:nvPr/>
        </p:nvSpPr>
        <p:spPr>
          <a:xfrm>
            <a:off x="4937760" y="2057400"/>
            <a:ext cx="6400800" cy="274320"/>
          </a:xfrm>
          <a:prstGeom prst="rect">
            <a:avLst/>
          </a:prstGeom>
          <a:noFill/>
          <a:ln/>
        </p:spPr>
        <p:txBody>
          <a:bodyPr wrap="square" lIns="0" tIns="0" rIns="0" bIns="0" rtlCol="0" anchor="ctr">
            <a:normAutofit/>
          </a:bodyPr>
          <a:lstStyle/>
          <a:p>
            <a:pPr indent="0" marL="0">
              <a:buNone/>
            </a:pPr>
            <a:r>
              <a:rPr lang="en-US" sz="1400" dirty="0">
                <a:solidFill>
                  <a:srgbClr val="677087"/>
                </a:solidFill>
                <a:latin typeface="Malgun Gothic" pitchFamily="34" charset="0"/>
                <a:ea typeface="Malgun Gothic" pitchFamily="34" charset="-122"/>
                <a:cs typeface="Malgun Gothic" pitchFamily="34" charset="-120"/>
              </a:rPr>
              <a:t>구현 범위 · 검증 기록 · 핵심 결함</a:t>
            </a:r>
            <a:endParaRPr lang="en-US" sz="1400" dirty="0"/>
          </a:p>
        </p:txBody>
      </p:sp>
      <p:sp>
        <p:nvSpPr>
          <p:cNvPr id="11" name="Shape 9"/>
          <p:cNvSpPr/>
          <p:nvPr/>
        </p:nvSpPr>
        <p:spPr>
          <a:xfrm>
            <a:off x="548640" y="2642616"/>
            <a:ext cx="11082528" cy="640080"/>
          </a:xfrm>
          <a:prstGeom prst="roundRect">
            <a:avLst>
              <a:gd name="adj" fmla="val 22857"/>
            </a:avLst>
          </a:prstGeom>
          <a:solidFill>
            <a:srgbClr val="FFFFFF"/>
          </a:solidFill>
          <a:ln w="7620">
            <a:solidFill>
              <a:srgbClr val="DDE2ED"/>
            </a:solidFill>
            <a:prstDash val="solid"/>
          </a:ln>
        </p:spPr>
      </p:sp>
      <p:sp>
        <p:nvSpPr>
          <p:cNvPr id="12" name="Text 10"/>
          <p:cNvSpPr/>
          <p:nvPr/>
        </p:nvSpPr>
        <p:spPr>
          <a:xfrm>
            <a:off x="768096" y="2807208"/>
            <a:ext cx="548640" cy="274320"/>
          </a:xfrm>
          <a:prstGeom prst="rect">
            <a:avLst/>
          </a:prstGeom>
          <a:noFill/>
          <a:ln/>
        </p:spPr>
        <p:txBody>
          <a:bodyPr wrap="square" lIns="0" tIns="0" rIns="0" bIns="0" rtlCol="0" anchor="ctr">
            <a:normAutofit/>
          </a:bodyPr>
          <a:lstStyle/>
          <a:p>
            <a:pPr indent="0" marL="0">
              <a:buNone/>
            </a:pPr>
            <a:r>
              <a:rPr lang="en-US" sz="1900" b="1" dirty="0">
                <a:solidFill>
                  <a:srgbClr val="7150E8"/>
                </a:solidFill>
                <a:latin typeface="Malgun Gothic" pitchFamily="34" charset="0"/>
                <a:ea typeface="Malgun Gothic" pitchFamily="34" charset="-122"/>
                <a:cs typeface="Malgun Gothic" pitchFamily="34" charset="-120"/>
              </a:rPr>
              <a:t>02</a:t>
            </a:r>
            <a:endParaRPr lang="en-US" sz="1900" dirty="0"/>
          </a:p>
        </p:txBody>
      </p:sp>
      <p:sp>
        <p:nvSpPr>
          <p:cNvPr id="13" name="Text 11"/>
          <p:cNvSpPr/>
          <p:nvPr/>
        </p:nvSpPr>
        <p:spPr>
          <a:xfrm>
            <a:off x="1554480" y="2807208"/>
            <a:ext cx="3291840" cy="283464"/>
          </a:xfrm>
          <a:prstGeom prst="rect">
            <a:avLst/>
          </a:prstGeom>
          <a:noFill/>
          <a:ln/>
        </p:spPr>
        <p:txBody>
          <a:bodyPr wrap="square" lIns="0" tIns="0" rIns="0" bIns="0" rtlCol="0" anchor="ctr">
            <a:normAutofit/>
          </a:bodyPr>
          <a:lstStyle/>
          <a:p>
            <a:pPr indent="0" marL="0">
              <a:buNone/>
            </a:pPr>
            <a:r>
              <a:rPr lang="en-US" sz="1700" b="1" dirty="0">
                <a:solidFill>
                  <a:srgbClr val="20243A"/>
                </a:solidFill>
                <a:latin typeface="Malgun Gothic" pitchFamily="34" charset="0"/>
                <a:ea typeface="Malgun Gothic" pitchFamily="34" charset="-122"/>
                <a:cs typeface="Malgun Gothic" pitchFamily="34" charset="-120"/>
              </a:rPr>
              <a:t>제품·고객 전략</a:t>
            </a:r>
            <a:endParaRPr lang="en-US" sz="1700" dirty="0"/>
          </a:p>
        </p:txBody>
      </p:sp>
      <p:sp>
        <p:nvSpPr>
          <p:cNvPr id="14" name="Text 12"/>
          <p:cNvSpPr/>
          <p:nvPr/>
        </p:nvSpPr>
        <p:spPr>
          <a:xfrm>
            <a:off x="4937760" y="2825496"/>
            <a:ext cx="6400800" cy="274320"/>
          </a:xfrm>
          <a:prstGeom prst="rect">
            <a:avLst/>
          </a:prstGeom>
          <a:noFill/>
          <a:ln/>
        </p:spPr>
        <p:txBody>
          <a:bodyPr wrap="square" lIns="0" tIns="0" rIns="0" bIns="0" rtlCol="0" anchor="ctr">
            <a:normAutofit/>
          </a:bodyPr>
          <a:lstStyle/>
          <a:p>
            <a:pPr indent="0" marL="0">
              <a:buNone/>
            </a:pPr>
            <a:r>
              <a:rPr lang="en-US" sz="1400" dirty="0">
                <a:solidFill>
                  <a:srgbClr val="677087"/>
                </a:solidFill>
                <a:latin typeface="Malgun Gothic" pitchFamily="34" charset="0"/>
                <a:ea typeface="Malgun Gothic" pitchFamily="34" charset="-122"/>
                <a:cs typeface="Malgun Gothic" pitchFamily="34" charset="-120"/>
              </a:rPr>
              <a:t>정확도 엔진 · B2C · 사업자 · 기업</a:t>
            </a:r>
            <a:endParaRPr lang="en-US" sz="1400" dirty="0"/>
          </a:p>
        </p:txBody>
      </p:sp>
      <p:sp>
        <p:nvSpPr>
          <p:cNvPr id="15" name="Shape 13"/>
          <p:cNvSpPr/>
          <p:nvPr/>
        </p:nvSpPr>
        <p:spPr>
          <a:xfrm>
            <a:off x="548640" y="3410712"/>
            <a:ext cx="11082528" cy="640080"/>
          </a:xfrm>
          <a:prstGeom prst="roundRect">
            <a:avLst>
              <a:gd name="adj" fmla="val 22857"/>
            </a:avLst>
          </a:prstGeom>
          <a:solidFill>
            <a:srgbClr val="FFFFFF"/>
          </a:solidFill>
          <a:ln w="7620">
            <a:solidFill>
              <a:srgbClr val="DDE2ED"/>
            </a:solidFill>
            <a:prstDash val="solid"/>
          </a:ln>
        </p:spPr>
      </p:sp>
      <p:sp>
        <p:nvSpPr>
          <p:cNvPr id="16" name="Text 14"/>
          <p:cNvSpPr/>
          <p:nvPr/>
        </p:nvSpPr>
        <p:spPr>
          <a:xfrm>
            <a:off x="768096" y="3575304"/>
            <a:ext cx="548640" cy="274320"/>
          </a:xfrm>
          <a:prstGeom prst="rect">
            <a:avLst/>
          </a:prstGeom>
          <a:noFill/>
          <a:ln/>
        </p:spPr>
        <p:txBody>
          <a:bodyPr wrap="square" lIns="0" tIns="0" rIns="0" bIns="0" rtlCol="0" anchor="ctr">
            <a:normAutofit/>
          </a:bodyPr>
          <a:lstStyle/>
          <a:p>
            <a:pPr indent="0" marL="0">
              <a:buNone/>
            </a:pPr>
            <a:r>
              <a:rPr lang="en-US" sz="1900" b="1" dirty="0">
                <a:solidFill>
                  <a:srgbClr val="7150E8"/>
                </a:solidFill>
                <a:latin typeface="Malgun Gothic" pitchFamily="34" charset="0"/>
                <a:ea typeface="Malgun Gothic" pitchFamily="34" charset="-122"/>
                <a:cs typeface="Malgun Gothic" pitchFamily="34" charset="-120"/>
              </a:rPr>
              <a:t>03</a:t>
            </a:r>
            <a:endParaRPr lang="en-US" sz="1900" dirty="0"/>
          </a:p>
        </p:txBody>
      </p:sp>
      <p:sp>
        <p:nvSpPr>
          <p:cNvPr id="17" name="Text 15"/>
          <p:cNvSpPr/>
          <p:nvPr/>
        </p:nvSpPr>
        <p:spPr>
          <a:xfrm>
            <a:off x="1554480" y="3575304"/>
            <a:ext cx="3291840" cy="283464"/>
          </a:xfrm>
          <a:prstGeom prst="rect">
            <a:avLst/>
          </a:prstGeom>
          <a:noFill/>
          <a:ln/>
        </p:spPr>
        <p:txBody>
          <a:bodyPr wrap="square" lIns="0" tIns="0" rIns="0" bIns="0" rtlCol="0" anchor="ctr">
            <a:normAutofit/>
          </a:bodyPr>
          <a:lstStyle/>
          <a:p>
            <a:pPr indent="0" marL="0">
              <a:buNone/>
            </a:pPr>
            <a:r>
              <a:rPr lang="en-US" sz="1700" b="1" dirty="0">
                <a:solidFill>
                  <a:srgbClr val="20243A"/>
                </a:solidFill>
                <a:latin typeface="Malgun Gothic" pitchFamily="34" charset="0"/>
                <a:ea typeface="Malgun Gothic" pitchFamily="34" charset="-122"/>
                <a:cs typeface="Malgun Gothic" pitchFamily="34" charset="-120"/>
              </a:rPr>
              <a:t>제공 방식과 수익화</a:t>
            </a:r>
            <a:endParaRPr lang="en-US" sz="1700" dirty="0"/>
          </a:p>
        </p:txBody>
      </p:sp>
      <p:sp>
        <p:nvSpPr>
          <p:cNvPr id="18" name="Text 16"/>
          <p:cNvSpPr/>
          <p:nvPr/>
        </p:nvSpPr>
        <p:spPr>
          <a:xfrm>
            <a:off x="4937760" y="3593592"/>
            <a:ext cx="6400800" cy="274320"/>
          </a:xfrm>
          <a:prstGeom prst="rect">
            <a:avLst/>
          </a:prstGeom>
          <a:noFill/>
          <a:ln/>
        </p:spPr>
        <p:txBody>
          <a:bodyPr wrap="square" lIns="0" tIns="0" rIns="0" bIns="0" rtlCol="0" anchor="ctr">
            <a:normAutofit/>
          </a:bodyPr>
          <a:lstStyle/>
          <a:p>
            <a:pPr indent="0" marL="0">
              <a:buNone/>
            </a:pPr>
            <a:r>
              <a:rPr lang="en-US" sz="1400" dirty="0">
                <a:solidFill>
                  <a:srgbClr val="677087"/>
                </a:solidFill>
                <a:latin typeface="Malgun Gothic" pitchFamily="34" charset="0"/>
                <a:ea typeface="Malgun Gothic" pitchFamily="34" charset="-122"/>
                <a:cs typeface="Malgun Gothic" pitchFamily="34" charset="-120"/>
              </a:rPr>
              <a:t>Windows · 모바일 · MCP · 구독/설치형</a:t>
            </a:r>
            <a:endParaRPr lang="en-US" sz="1400" dirty="0"/>
          </a:p>
        </p:txBody>
      </p:sp>
      <p:sp>
        <p:nvSpPr>
          <p:cNvPr id="19" name="Shape 17"/>
          <p:cNvSpPr/>
          <p:nvPr/>
        </p:nvSpPr>
        <p:spPr>
          <a:xfrm>
            <a:off x="548640" y="4178808"/>
            <a:ext cx="11082528" cy="640080"/>
          </a:xfrm>
          <a:prstGeom prst="roundRect">
            <a:avLst>
              <a:gd name="adj" fmla="val 22857"/>
            </a:avLst>
          </a:prstGeom>
          <a:solidFill>
            <a:srgbClr val="FFFFFF"/>
          </a:solidFill>
          <a:ln w="7620">
            <a:solidFill>
              <a:srgbClr val="DDE2ED"/>
            </a:solidFill>
            <a:prstDash val="solid"/>
          </a:ln>
        </p:spPr>
      </p:sp>
      <p:sp>
        <p:nvSpPr>
          <p:cNvPr id="20" name="Text 18"/>
          <p:cNvSpPr/>
          <p:nvPr/>
        </p:nvSpPr>
        <p:spPr>
          <a:xfrm>
            <a:off x="768096" y="4343400"/>
            <a:ext cx="548640" cy="274320"/>
          </a:xfrm>
          <a:prstGeom prst="rect">
            <a:avLst/>
          </a:prstGeom>
          <a:noFill/>
          <a:ln/>
        </p:spPr>
        <p:txBody>
          <a:bodyPr wrap="square" lIns="0" tIns="0" rIns="0" bIns="0" rtlCol="0" anchor="ctr">
            <a:normAutofit/>
          </a:bodyPr>
          <a:lstStyle/>
          <a:p>
            <a:pPr indent="0" marL="0">
              <a:buNone/>
            </a:pPr>
            <a:r>
              <a:rPr lang="en-US" sz="1900" b="1" dirty="0">
                <a:solidFill>
                  <a:srgbClr val="7150E8"/>
                </a:solidFill>
                <a:latin typeface="Malgun Gothic" pitchFamily="34" charset="0"/>
                <a:ea typeface="Malgun Gothic" pitchFamily="34" charset="-122"/>
                <a:cs typeface="Malgun Gothic" pitchFamily="34" charset="-120"/>
              </a:rPr>
              <a:t>04</a:t>
            </a:r>
            <a:endParaRPr lang="en-US" sz="1900" dirty="0"/>
          </a:p>
        </p:txBody>
      </p:sp>
      <p:sp>
        <p:nvSpPr>
          <p:cNvPr id="21" name="Text 19"/>
          <p:cNvSpPr/>
          <p:nvPr/>
        </p:nvSpPr>
        <p:spPr>
          <a:xfrm>
            <a:off x="1554480" y="4343400"/>
            <a:ext cx="3291840" cy="283464"/>
          </a:xfrm>
          <a:prstGeom prst="rect">
            <a:avLst/>
          </a:prstGeom>
          <a:noFill/>
          <a:ln/>
        </p:spPr>
        <p:txBody>
          <a:bodyPr wrap="square" lIns="0" tIns="0" rIns="0" bIns="0" rtlCol="0" anchor="ctr">
            <a:normAutofit/>
          </a:bodyPr>
          <a:lstStyle/>
          <a:p>
            <a:pPr indent="0" marL="0">
              <a:buNone/>
            </a:pPr>
            <a:r>
              <a:rPr lang="en-US" sz="1700" b="1" dirty="0">
                <a:solidFill>
                  <a:srgbClr val="20243A"/>
                </a:solidFill>
                <a:latin typeface="Malgun Gothic" pitchFamily="34" charset="0"/>
                <a:ea typeface="Malgun Gothic" pitchFamily="34" charset="-122"/>
                <a:cs typeface="Malgun Gothic" pitchFamily="34" charset="-120"/>
              </a:rPr>
              <a:t>상용화·글로벌 준비</a:t>
            </a:r>
            <a:endParaRPr lang="en-US" sz="1700" dirty="0"/>
          </a:p>
        </p:txBody>
      </p:sp>
      <p:sp>
        <p:nvSpPr>
          <p:cNvPr id="22" name="Text 20"/>
          <p:cNvSpPr/>
          <p:nvPr/>
        </p:nvSpPr>
        <p:spPr>
          <a:xfrm>
            <a:off x="4937760" y="4361688"/>
            <a:ext cx="6400800" cy="274320"/>
          </a:xfrm>
          <a:prstGeom prst="rect">
            <a:avLst/>
          </a:prstGeom>
          <a:noFill/>
          <a:ln/>
        </p:spPr>
        <p:txBody>
          <a:bodyPr wrap="square" lIns="0" tIns="0" rIns="0" bIns="0" rtlCol="0" anchor="ctr">
            <a:normAutofit/>
          </a:bodyPr>
          <a:lstStyle/>
          <a:p>
            <a:pPr indent="0" marL="0">
              <a:buNone/>
            </a:pPr>
            <a:r>
              <a:rPr lang="en-US" sz="1400" dirty="0">
                <a:solidFill>
                  <a:srgbClr val="677087"/>
                </a:solidFill>
                <a:latin typeface="Malgun Gothic" pitchFamily="34" charset="0"/>
                <a:ea typeface="Malgun Gothic" pitchFamily="34" charset="-122"/>
                <a:cs typeface="Malgun Gothic" pitchFamily="34" charset="-120"/>
              </a:rPr>
              <a:t>보안 · 원가 · 운영 · 국가별 확장</a:t>
            </a:r>
            <a:endParaRPr lang="en-US" sz="1400" dirty="0"/>
          </a:p>
        </p:txBody>
      </p:sp>
      <p:sp>
        <p:nvSpPr>
          <p:cNvPr id="23" name="Shape 21"/>
          <p:cNvSpPr/>
          <p:nvPr/>
        </p:nvSpPr>
        <p:spPr>
          <a:xfrm>
            <a:off x="548640" y="4946904"/>
            <a:ext cx="11082528" cy="640080"/>
          </a:xfrm>
          <a:prstGeom prst="roundRect">
            <a:avLst>
              <a:gd name="adj" fmla="val 22857"/>
            </a:avLst>
          </a:prstGeom>
          <a:solidFill>
            <a:srgbClr val="FFFFFF"/>
          </a:solidFill>
          <a:ln w="7620">
            <a:solidFill>
              <a:srgbClr val="DDE2ED"/>
            </a:solidFill>
            <a:prstDash val="solid"/>
          </a:ln>
        </p:spPr>
      </p:sp>
      <p:sp>
        <p:nvSpPr>
          <p:cNvPr id="24" name="Text 22"/>
          <p:cNvSpPr/>
          <p:nvPr/>
        </p:nvSpPr>
        <p:spPr>
          <a:xfrm>
            <a:off x="768096" y="5111496"/>
            <a:ext cx="548640" cy="274320"/>
          </a:xfrm>
          <a:prstGeom prst="rect">
            <a:avLst/>
          </a:prstGeom>
          <a:noFill/>
          <a:ln/>
        </p:spPr>
        <p:txBody>
          <a:bodyPr wrap="square" lIns="0" tIns="0" rIns="0" bIns="0" rtlCol="0" anchor="ctr">
            <a:normAutofit/>
          </a:bodyPr>
          <a:lstStyle/>
          <a:p>
            <a:pPr indent="0" marL="0">
              <a:buNone/>
            </a:pPr>
            <a:r>
              <a:rPr lang="en-US" sz="1900" b="1" dirty="0">
                <a:solidFill>
                  <a:srgbClr val="7150E8"/>
                </a:solidFill>
                <a:latin typeface="Malgun Gothic" pitchFamily="34" charset="0"/>
                <a:ea typeface="Malgun Gothic" pitchFamily="34" charset="-122"/>
                <a:cs typeface="Malgun Gothic" pitchFamily="34" charset="-120"/>
              </a:rPr>
              <a:t>05</a:t>
            </a:r>
            <a:endParaRPr lang="en-US" sz="1900" dirty="0"/>
          </a:p>
        </p:txBody>
      </p:sp>
      <p:sp>
        <p:nvSpPr>
          <p:cNvPr id="25" name="Text 23"/>
          <p:cNvSpPr/>
          <p:nvPr/>
        </p:nvSpPr>
        <p:spPr>
          <a:xfrm>
            <a:off x="1554480" y="5111496"/>
            <a:ext cx="3291840" cy="283464"/>
          </a:xfrm>
          <a:prstGeom prst="rect">
            <a:avLst/>
          </a:prstGeom>
          <a:noFill/>
          <a:ln/>
        </p:spPr>
        <p:txBody>
          <a:bodyPr wrap="square" lIns="0" tIns="0" rIns="0" bIns="0" rtlCol="0" anchor="ctr">
            <a:normAutofit/>
          </a:bodyPr>
          <a:lstStyle/>
          <a:p>
            <a:pPr indent="0" marL="0">
              <a:buNone/>
            </a:pPr>
            <a:r>
              <a:rPr lang="en-US" sz="1700" b="1" dirty="0">
                <a:solidFill>
                  <a:srgbClr val="20243A"/>
                </a:solidFill>
                <a:latin typeface="Malgun Gothic" pitchFamily="34" charset="0"/>
                <a:ea typeface="Malgun Gothic" pitchFamily="34" charset="-122"/>
                <a:cs typeface="Malgun Gothic" pitchFamily="34" charset="-120"/>
              </a:rPr>
              <a:t>실행 의사결정</a:t>
            </a:r>
            <a:endParaRPr lang="en-US" sz="1700" dirty="0"/>
          </a:p>
        </p:txBody>
      </p:sp>
      <p:sp>
        <p:nvSpPr>
          <p:cNvPr id="26" name="Text 24"/>
          <p:cNvSpPr/>
          <p:nvPr/>
        </p:nvSpPr>
        <p:spPr>
          <a:xfrm>
            <a:off x="4937760" y="5129784"/>
            <a:ext cx="6400800" cy="274320"/>
          </a:xfrm>
          <a:prstGeom prst="rect">
            <a:avLst/>
          </a:prstGeom>
          <a:noFill/>
          <a:ln/>
        </p:spPr>
        <p:txBody>
          <a:bodyPr wrap="square" lIns="0" tIns="0" rIns="0" bIns="0" rtlCol="0" anchor="ctr">
            <a:normAutofit/>
          </a:bodyPr>
          <a:lstStyle/>
          <a:p>
            <a:pPr indent="0" marL="0">
              <a:buNone/>
            </a:pPr>
            <a:r>
              <a:rPr lang="en-US" sz="1400" dirty="0">
                <a:solidFill>
                  <a:srgbClr val="677087"/>
                </a:solidFill>
                <a:latin typeface="Malgun Gothic" pitchFamily="34" charset="0"/>
                <a:ea typeface="Malgun Gothic" pitchFamily="34" charset="-122"/>
                <a:cs typeface="Malgun Gothic" pitchFamily="34" charset="-120"/>
              </a:rPr>
              <a:t>출시 지표 · 단계별 계획 · 우선 투자</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548640" y="274320"/>
            <a:ext cx="10058400" cy="228600"/>
          </a:xfrm>
          <a:prstGeom prst="rect">
            <a:avLst/>
          </a:prstGeom>
          <a:noFill/>
          <a:ln/>
        </p:spPr>
        <p:txBody>
          <a:bodyPr wrap="square" lIns="0" tIns="0" rIns="0" bIns="0" rtlCol="0" anchor="ctr">
            <a:normAutofit/>
          </a:bodyPr>
          <a:lstStyle/>
          <a:p>
            <a:pPr indent="0" marL="0">
              <a:buNone/>
            </a:pPr>
            <a:r>
              <a:rPr lang="en-US" sz="900" b="1" spc="160" kern="0" dirty="0">
                <a:solidFill>
                  <a:srgbClr val="7150E8"/>
                </a:solidFill>
                <a:latin typeface="Malgun Gothic" pitchFamily="34" charset="0"/>
                <a:ea typeface="Malgun Gothic" pitchFamily="34" charset="-122"/>
                <a:cs typeface="Malgun Gothic" pitchFamily="34" charset="-120"/>
              </a:rPr>
              <a:t>01 / IMPLEMENTED SCOPE</a:t>
            </a:r>
            <a:endParaRPr lang="en-US" sz="900" dirty="0"/>
          </a:p>
        </p:txBody>
      </p:sp>
      <p:sp>
        <p:nvSpPr>
          <p:cNvPr id="3" name="Text 1"/>
          <p:cNvSpPr/>
          <p:nvPr/>
        </p:nvSpPr>
        <p:spPr>
          <a:xfrm>
            <a:off x="548640" y="758952"/>
            <a:ext cx="11082528" cy="795528"/>
          </a:xfrm>
          <a:prstGeom prst="rect">
            <a:avLst/>
          </a:prstGeom>
          <a:noFill/>
          <a:ln/>
        </p:spPr>
        <p:txBody>
          <a:bodyPr wrap="square" lIns="0" tIns="0" rIns="0" bIns="0" rtlCol="0" anchor="ctr">
            <a:normAutofit/>
          </a:bodyPr>
          <a:lstStyle/>
          <a:p>
            <a:pPr indent="0" marL="0">
              <a:buNone/>
            </a:pPr>
            <a:r>
              <a:rPr lang="en-US" sz="2700" b="1" dirty="0">
                <a:solidFill>
                  <a:srgbClr val="20243A"/>
                </a:solidFill>
                <a:latin typeface="Malgun Gothic" pitchFamily="34" charset="0"/>
                <a:ea typeface="Malgun Gothic" pitchFamily="34" charset="-122"/>
                <a:cs typeface="Malgun Gothic" pitchFamily="34" charset="-120"/>
              </a:rPr>
              <a:t>현재 자산은 존재하지만, 플랫폼별 완성도는 다르다</a:t>
            </a:r>
            <a:endParaRPr lang="en-US" sz="2700" dirty="0"/>
          </a:p>
        </p:txBody>
      </p:sp>
      <p:sp>
        <p:nvSpPr>
          <p:cNvPr id="4" name="Shape 2"/>
          <p:cNvSpPr/>
          <p:nvPr/>
        </p:nvSpPr>
        <p:spPr>
          <a:xfrm>
            <a:off x="548640" y="1682496"/>
            <a:ext cx="11064240" cy="0"/>
          </a:xfrm>
          <a:prstGeom prst="line">
            <a:avLst/>
          </a:prstGeom>
          <a:noFill/>
          <a:ln w="12700">
            <a:solidFill>
              <a:srgbClr val="DDE2ED"/>
            </a:solidFill>
            <a:prstDash val="solid"/>
          </a:ln>
        </p:spPr>
      </p:sp>
      <p:sp>
        <p:nvSpPr>
          <p:cNvPr id="5" name="Text 3"/>
          <p:cNvSpPr/>
          <p:nvPr/>
        </p:nvSpPr>
        <p:spPr>
          <a:xfrm>
            <a:off x="548640" y="6519672"/>
            <a:ext cx="8869680" cy="164592"/>
          </a:xfrm>
          <a:prstGeom prst="rect">
            <a:avLst/>
          </a:prstGeom>
          <a:noFill/>
          <a:ln/>
        </p:spPr>
        <p:txBody>
          <a:bodyPr wrap="square" lIns="0" tIns="0" rIns="0" bIns="0" rtlCol="0" anchor="ctr">
            <a:normAutofit/>
          </a:bodyPr>
          <a:lstStyle/>
          <a:p>
            <a:pPr indent="0" marL="0">
              <a:buNone/>
            </a:pPr>
            <a:r>
              <a:rPr lang="en-US" sz="800" dirty="0">
                <a:solidFill>
                  <a:srgbClr val="677087"/>
                </a:solidFill>
                <a:latin typeface="Malgun Gothic" pitchFamily="34" charset="0"/>
                <a:ea typeface="Malgun Gothic" pitchFamily="34" charset="-122"/>
                <a:cs typeface="Malgun Gothic" pitchFamily="34" charset="-120"/>
              </a:rPr>
              <a:t>CleanTouch  |  사업화 현황 진단  |  2026.10.15</a:t>
            </a:r>
            <a:endParaRPr lang="en-US" sz="800" dirty="0"/>
          </a:p>
        </p:txBody>
      </p:sp>
      <p:sp>
        <p:nvSpPr>
          <p:cNvPr id="6" name="Text 4"/>
          <p:cNvSpPr/>
          <p:nvPr/>
        </p:nvSpPr>
        <p:spPr>
          <a:xfrm>
            <a:off x="10698480" y="6501384"/>
            <a:ext cx="914400" cy="182880"/>
          </a:xfrm>
          <a:prstGeom prst="rect">
            <a:avLst/>
          </a:prstGeom>
          <a:noFill/>
          <a:ln/>
        </p:spPr>
        <p:txBody>
          <a:bodyPr wrap="square" lIns="0" tIns="0" rIns="0" bIns="0" rtlCol="0" anchor="ctr">
            <a:normAutofit/>
          </a:bodyPr>
          <a:lstStyle/>
          <a:p>
            <a:pPr algn="r" indent="0" marL="0">
              <a:buNone/>
            </a:pPr>
            <a:r>
              <a:rPr lang="en-US" sz="800" dirty="0">
                <a:solidFill>
                  <a:srgbClr val="677087"/>
                </a:solidFill>
                <a:latin typeface="Malgun Gothic" pitchFamily="34" charset="0"/>
                <a:ea typeface="Malgun Gothic" pitchFamily="34" charset="-122"/>
                <a:cs typeface="Malgun Gothic" pitchFamily="34" charset="-120"/>
              </a:rPr>
              <a:t>04 / 24</a:t>
            </a:r>
            <a:endParaRPr lang="en-US" sz="800" dirty="0"/>
          </a:p>
        </p:txBody>
      </p:sp>
      <p:sp>
        <p:nvSpPr>
          <p:cNvPr id="7" name="Shape 5"/>
          <p:cNvSpPr/>
          <p:nvPr/>
        </p:nvSpPr>
        <p:spPr>
          <a:xfrm>
            <a:off x="548640" y="1901952"/>
            <a:ext cx="1874520" cy="614172"/>
          </a:xfrm>
          <a:prstGeom prst="rect">
            <a:avLst/>
          </a:prstGeom>
          <a:solidFill>
            <a:srgbClr val="171A2D"/>
          </a:solidFill>
          <a:ln w="12700">
            <a:solidFill>
              <a:srgbClr val="171A2D"/>
            </a:solidFill>
            <a:prstDash val="solid"/>
          </a:ln>
        </p:spPr>
      </p:sp>
      <p:sp>
        <p:nvSpPr>
          <p:cNvPr id="8" name="Text 6"/>
          <p:cNvSpPr/>
          <p:nvPr/>
        </p:nvSpPr>
        <p:spPr>
          <a:xfrm>
            <a:off x="685800" y="2011680"/>
            <a:ext cx="1600200" cy="431292"/>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영역</a:t>
            </a:r>
            <a:endParaRPr lang="en-US" sz="1400" dirty="0"/>
          </a:p>
        </p:txBody>
      </p:sp>
      <p:sp>
        <p:nvSpPr>
          <p:cNvPr id="9" name="Shape 7"/>
          <p:cNvSpPr/>
          <p:nvPr/>
        </p:nvSpPr>
        <p:spPr>
          <a:xfrm>
            <a:off x="2423160" y="1901952"/>
            <a:ext cx="4617720" cy="614172"/>
          </a:xfrm>
          <a:prstGeom prst="rect">
            <a:avLst/>
          </a:prstGeom>
          <a:solidFill>
            <a:srgbClr val="171A2D"/>
          </a:solidFill>
          <a:ln w="12700">
            <a:solidFill>
              <a:srgbClr val="171A2D"/>
            </a:solidFill>
            <a:prstDash val="solid"/>
          </a:ln>
        </p:spPr>
      </p:sp>
      <p:sp>
        <p:nvSpPr>
          <p:cNvPr id="10" name="Text 8"/>
          <p:cNvSpPr/>
          <p:nvPr/>
        </p:nvSpPr>
        <p:spPr>
          <a:xfrm>
            <a:off x="2560320" y="2011680"/>
            <a:ext cx="4343400" cy="431292"/>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확인된 현재 상태</a:t>
            </a:r>
            <a:endParaRPr lang="en-US" sz="1400" dirty="0"/>
          </a:p>
        </p:txBody>
      </p:sp>
      <p:sp>
        <p:nvSpPr>
          <p:cNvPr id="11" name="Shape 9"/>
          <p:cNvSpPr/>
          <p:nvPr/>
        </p:nvSpPr>
        <p:spPr>
          <a:xfrm>
            <a:off x="7040880" y="1901952"/>
            <a:ext cx="4572000" cy="614172"/>
          </a:xfrm>
          <a:prstGeom prst="rect">
            <a:avLst/>
          </a:prstGeom>
          <a:solidFill>
            <a:srgbClr val="171A2D"/>
          </a:solidFill>
          <a:ln w="12700">
            <a:solidFill>
              <a:srgbClr val="171A2D"/>
            </a:solidFill>
            <a:prstDash val="solid"/>
          </a:ln>
        </p:spPr>
      </p:sp>
      <p:sp>
        <p:nvSpPr>
          <p:cNvPr id="12" name="Text 10"/>
          <p:cNvSpPr/>
          <p:nvPr/>
        </p:nvSpPr>
        <p:spPr>
          <a:xfrm>
            <a:off x="7178040" y="2011680"/>
            <a:ext cx="4297680" cy="431292"/>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상용화 전 남은 일</a:t>
            </a:r>
            <a:endParaRPr lang="en-US" sz="1400" dirty="0"/>
          </a:p>
        </p:txBody>
      </p:sp>
      <p:sp>
        <p:nvSpPr>
          <p:cNvPr id="13" name="Shape 11"/>
          <p:cNvSpPr/>
          <p:nvPr/>
        </p:nvSpPr>
        <p:spPr>
          <a:xfrm>
            <a:off x="548640" y="2516124"/>
            <a:ext cx="1874520" cy="614172"/>
          </a:xfrm>
          <a:prstGeom prst="rect">
            <a:avLst/>
          </a:prstGeom>
          <a:solidFill>
            <a:srgbClr val="FFFFFF"/>
          </a:solidFill>
          <a:ln w="6350">
            <a:solidFill>
              <a:srgbClr val="DDE2ED"/>
            </a:solidFill>
            <a:prstDash val="solid"/>
          </a:ln>
        </p:spPr>
      </p:sp>
      <p:sp>
        <p:nvSpPr>
          <p:cNvPr id="14" name="Text 12"/>
          <p:cNvSpPr/>
          <p:nvPr/>
        </p:nvSpPr>
        <p:spPr>
          <a:xfrm>
            <a:off x="685800" y="2616708"/>
            <a:ext cx="1600200" cy="431292"/>
          </a:xfrm>
          <a:prstGeom prst="rect">
            <a:avLst/>
          </a:prstGeom>
          <a:noFill/>
          <a:ln/>
        </p:spPr>
        <p:txBody>
          <a:bodyPr wrap="square" lIns="0" tIns="0" rIns="0" bIns="0" rtlCol="0" anchor="ctr">
            <a:normAutofit/>
          </a:bodyPr>
          <a:lstStyle/>
          <a:p>
            <a:pPr indent="0" marL="0">
              <a:buNone/>
            </a:pPr>
            <a:r>
              <a:rPr lang="en-US" sz="1330" b="1" dirty="0">
                <a:solidFill>
                  <a:srgbClr val="7150E8"/>
                </a:solidFill>
                <a:latin typeface="Malgun Gothic" pitchFamily="34" charset="0"/>
                <a:ea typeface="Malgun Gothic" pitchFamily="34" charset="-122"/>
                <a:cs typeface="Malgun Gothic" pitchFamily="34" charset="-120"/>
              </a:rPr>
              <a:t>Windows</a:t>
            </a:r>
            <a:endParaRPr lang="en-US" sz="1330" dirty="0"/>
          </a:p>
        </p:txBody>
      </p:sp>
      <p:sp>
        <p:nvSpPr>
          <p:cNvPr id="15" name="Shape 13"/>
          <p:cNvSpPr/>
          <p:nvPr/>
        </p:nvSpPr>
        <p:spPr>
          <a:xfrm>
            <a:off x="2423160" y="2516124"/>
            <a:ext cx="4617720" cy="614172"/>
          </a:xfrm>
          <a:prstGeom prst="rect">
            <a:avLst/>
          </a:prstGeom>
          <a:solidFill>
            <a:srgbClr val="FFFFFF"/>
          </a:solidFill>
          <a:ln w="6350">
            <a:solidFill>
              <a:srgbClr val="DDE2ED"/>
            </a:solidFill>
            <a:prstDash val="solid"/>
          </a:ln>
        </p:spPr>
      </p:sp>
      <p:sp>
        <p:nvSpPr>
          <p:cNvPr id="16" name="Text 14"/>
          <p:cNvSpPr/>
          <p:nvPr/>
        </p:nvSpPr>
        <p:spPr>
          <a:xfrm>
            <a:off x="2560320" y="2616708"/>
            <a:ext cx="434340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0.1.61 설치형·포터블 / 위젯·선택·AI·음성</a:t>
            </a:r>
            <a:endParaRPr lang="en-US" sz="1330" dirty="0"/>
          </a:p>
        </p:txBody>
      </p:sp>
      <p:sp>
        <p:nvSpPr>
          <p:cNvPr id="17" name="Shape 15"/>
          <p:cNvSpPr/>
          <p:nvPr/>
        </p:nvSpPr>
        <p:spPr>
          <a:xfrm>
            <a:off x="7040880" y="2516124"/>
            <a:ext cx="4572000" cy="614172"/>
          </a:xfrm>
          <a:prstGeom prst="rect">
            <a:avLst/>
          </a:prstGeom>
          <a:solidFill>
            <a:srgbClr val="FFFFFF"/>
          </a:solidFill>
          <a:ln w="6350">
            <a:solidFill>
              <a:srgbClr val="DDE2ED"/>
            </a:solidFill>
            <a:prstDash val="solid"/>
          </a:ln>
        </p:spPr>
      </p:sp>
      <p:sp>
        <p:nvSpPr>
          <p:cNvPr id="18" name="Text 16"/>
          <p:cNvSpPr/>
          <p:nvPr/>
        </p:nvSpPr>
        <p:spPr>
          <a:xfrm>
            <a:off x="7178040" y="2616708"/>
            <a:ext cx="429768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상품 검색 신뢰도, 배포 서명·실사용 품질</a:t>
            </a:r>
            <a:endParaRPr lang="en-US" sz="1330" dirty="0"/>
          </a:p>
        </p:txBody>
      </p:sp>
      <p:sp>
        <p:nvSpPr>
          <p:cNvPr id="19" name="Shape 17"/>
          <p:cNvSpPr/>
          <p:nvPr/>
        </p:nvSpPr>
        <p:spPr>
          <a:xfrm>
            <a:off x="548640" y="3130296"/>
            <a:ext cx="1874520" cy="614172"/>
          </a:xfrm>
          <a:prstGeom prst="rect">
            <a:avLst/>
          </a:prstGeom>
          <a:solidFill>
            <a:srgbClr val="F8F9FC"/>
          </a:solidFill>
          <a:ln w="6350">
            <a:solidFill>
              <a:srgbClr val="DDE2ED"/>
            </a:solidFill>
            <a:prstDash val="solid"/>
          </a:ln>
        </p:spPr>
      </p:sp>
      <p:sp>
        <p:nvSpPr>
          <p:cNvPr id="20" name="Text 18"/>
          <p:cNvSpPr/>
          <p:nvPr/>
        </p:nvSpPr>
        <p:spPr>
          <a:xfrm>
            <a:off x="685800" y="3230880"/>
            <a:ext cx="1600200" cy="431292"/>
          </a:xfrm>
          <a:prstGeom prst="rect">
            <a:avLst/>
          </a:prstGeom>
          <a:noFill/>
          <a:ln/>
        </p:spPr>
        <p:txBody>
          <a:bodyPr wrap="square" lIns="0" tIns="0" rIns="0" bIns="0" rtlCol="0" anchor="ctr">
            <a:normAutofit/>
          </a:bodyPr>
          <a:lstStyle/>
          <a:p>
            <a:pPr indent="0" marL="0">
              <a:buNone/>
            </a:pPr>
            <a:r>
              <a:rPr lang="en-US" sz="1330" b="1" dirty="0">
                <a:solidFill>
                  <a:srgbClr val="7150E8"/>
                </a:solidFill>
                <a:latin typeface="Malgun Gothic" pitchFamily="34" charset="0"/>
                <a:ea typeface="Malgun Gothic" pitchFamily="34" charset="-122"/>
                <a:cs typeface="Malgun Gothic" pitchFamily="34" charset="-120"/>
              </a:rPr>
              <a:t>Android</a:t>
            </a:r>
            <a:endParaRPr lang="en-US" sz="1330" dirty="0"/>
          </a:p>
        </p:txBody>
      </p:sp>
      <p:sp>
        <p:nvSpPr>
          <p:cNvPr id="21" name="Shape 19"/>
          <p:cNvSpPr/>
          <p:nvPr/>
        </p:nvSpPr>
        <p:spPr>
          <a:xfrm>
            <a:off x="2423160" y="3130296"/>
            <a:ext cx="4617720" cy="614172"/>
          </a:xfrm>
          <a:prstGeom prst="rect">
            <a:avLst/>
          </a:prstGeom>
          <a:solidFill>
            <a:srgbClr val="F8F9FC"/>
          </a:solidFill>
          <a:ln w="6350">
            <a:solidFill>
              <a:srgbClr val="DDE2ED"/>
            </a:solidFill>
            <a:prstDash val="solid"/>
          </a:ln>
        </p:spPr>
      </p:sp>
      <p:sp>
        <p:nvSpPr>
          <p:cNvPr id="22" name="Text 20"/>
          <p:cNvSpPr/>
          <p:nvPr/>
        </p:nvSpPr>
        <p:spPr>
          <a:xfrm>
            <a:off x="2560320" y="3230880"/>
            <a:ext cx="434340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소스 버전 0.5.0 / 캡처·위젯·챗봇 구현</a:t>
            </a:r>
            <a:endParaRPr lang="en-US" sz="1330" dirty="0"/>
          </a:p>
        </p:txBody>
      </p:sp>
      <p:sp>
        <p:nvSpPr>
          <p:cNvPr id="23" name="Shape 21"/>
          <p:cNvSpPr/>
          <p:nvPr/>
        </p:nvSpPr>
        <p:spPr>
          <a:xfrm>
            <a:off x="7040880" y="3130296"/>
            <a:ext cx="4572000" cy="614172"/>
          </a:xfrm>
          <a:prstGeom prst="rect">
            <a:avLst/>
          </a:prstGeom>
          <a:solidFill>
            <a:srgbClr val="F8F9FC"/>
          </a:solidFill>
          <a:ln w="6350">
            <a:solidFill>
              <a:srgbClr val="DDE2ED"/>
            </a:solidFill>
            <a:prstDash val="solid"/>
          </a:ln>
        </p:spPr>
      </p:sp>
      <p:sp>
        <p:nvSpPr>
          <p:cNvPr id="24" name="Text 22"/>
          <p:cNvSpPr/>
          <p:nvPr/>
        </p:nvSpPr>
        <p:spPr>
          <a:xfrm>
            <a:off x="7178040" y="3230880"/>
            <a:ext cx="429768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PC 기능 동등성, A15 등 실기기 검증</a:t>
            </a:r>
            <a:endParaRPr lang="en-US" sz="1330" dirty="0"/>
          </a:p>
        </p:txBody>
      </p:sp>
      <p:sp>
        <p:nvSpPr>
          <p:cNvPr id="25" name="Shape 23"/>
          <p:cNvSpPr/>
          <p:nvPr/>
        </p:nvSpPr>
        <p:spPr>
          <a:xfrm>
            <a:off x="548640" y="3744468"/>
            <a:ext cx="1874520" cy="614172"/>
          </a:xfrm>
          <a:prstGeom prst="rect">
            <a:avLst/>
          </a:prstGeom>
          <a:solidFill>
            <a:srgbClr val="FFFFFF"/>
          </a:solidFill>
          <a:ln w="6350">
            <a:solidFill>
              <a:srgbClr val="DDE2ED"/>
            </a:solidFill>
            <a:prstDash val="solid"/>
          </a:ln>
        </p:spPr>
      </p:sp>
      <p:sp>
        <p:nvSpPr>
          <p:cNvPr id="26" name="Text 24"/>
          <p:cNvSpPr/>
          <p:nvPr/>
        </p:nvSpPr>
        <p:spPr>
          <a:xfrm>
            <a:off x="685800" y="3845052"/>
            <a:ext cx="1600200" cy="431292"/>
          </a:xfrm>
          <a:prstGeom prst="rect">
            <a:avLst/>
          </a:prstGeom>
          <a:noFill/>
          <a:ln/>
        </p:spPr>
        <p:txBody>
          <a:bodyPr wrap="square" lIns="0" tIns="0" rIns="0" bIns="0" rtlCol="0" anchor="ctr">
            <a:normAutofit/>
          </a:bodyPr>
          <a:lstStyle/>
          <a:p>
            <a:pPr indent="0" marL="0">
              <a:buNone/>
            </a:pPr>
            <a:r>
              <a:rPr lang="en-US" sz="1330" b="1" dirty="0">
                <a:solidFill>
                  <a:srgbClr val="7150E8"/>
                </a:solidFill>
                <a:latin typeface="Malgun Gothic" pitchFamily="34" charset="0"/>
                <a:ea typeface="Malgun Gothic" pitchFamily="34" charset="-122"/>
                <a:cs typeface="Malgun Gothic" pitchFamily="34" charset="-120"/>
              </a:rPr>
              <a:t>웹·SDK·Studio</a:t>
            </a:r>
            <a:endParaRPr lang="en-US" sz="1330" dirty="0"/>
          </a:p>
        </p:txBody>
      </p:sp>
      <p:sp>
        <p:nvSpPr>
          <p:cNvPr id="27" name="Shape 25"/>
          <p:cNvSpPr/>
          <p:nvPr/>
        </p:nvSpPr>
        <p:spPr>
          <a:xfrm>
            <a:off x="2423160" y="3744468"/>
            <a:ext cx="4617720" cy="614172"/>
          </a:xfrm>
          <a:prstGeom prst="rect">
            <a:avLst/>
          </a:prstGeom>
          <a:solidFill>
            <a:srgbClr val="FFFFFF"/>
          </a:solidFill>
          <a:ln w="6350">
            <a:solidFill>
              <a:srgbClr val="DDE2ED"/>
            </a:solidFill>
            <a:prstDash val="solid"/>
          </a:ln>
        </p:spPr>
      </p:sp>
      <p:sp>
        <p:nvSpPr>
          <p:cNvPr id="28" name="Text 26"/>
          <p:cNvSpPr/>
          <p:nvPr/>
        </p:nvSpPr>
        <p:spPr>
          <a:xfrm>
            <a:off x="2560320" y="3845052"/>
            <a:ext cx="434340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React/TS 프로토타입 / 시간별 상품 태그·이벤트</a:t>
            </a:r>
            <a:endParaRPr lang="en-US" sz="1330" dirty="0"/>
          </a:p>
        </p:txBody>
      </p:sp>
      <p:sp>
        <p:nvSpPr>
          <p:cNvPr id="29" name="Shape 27"/>
          <p:cNvSpPr/>
          <p:nvPr/>
        </p:nvSpPr>
        <p:spPr>
          <a:xfrm>
            <a:off x="7040880" y="3744468"/>
            <a:ext cx="4572000" cy="614172"/>
          </a:xfrm>
          <a:prstGeom prst="rect">
            <a:avLst/>
          </a:prstGeom>
          <a:solidFill>
            <a:srgbClr val="FFFFFF"/>
          </a:solidFill>
          <a:ln w="6350">
            <a:solidFill>
              <a:srgbClr val="DDE2ED"/>
            </a:solidFill>
            <a:prstDash val="solid"/>
          </a:ln>
        </p:spPr>
      </p:sp>
      <p:sp>
        <p:nvSpPr>
          <p:cNvPr id="30" name="Text 28"/>
          <p:cNvSpPr/>
          <p:nvPr/>
        </p:nvSpPr>
        <p:spPr>
          <a:xfrm>
            <a:off x="7178040" y="3845052"/>
            <a:ext cx="429768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실제 카탈로그·권한·운영 DB 연동</a:t>
            </a:r>
            <a:endParaRPr lang="en-US" sz="1330" dirty="0"/>
          </a:p>
        </p:txBody>
      </p:sp>
      <p:sp>
        <p:nvSpPr>
          <p:cNvPr id="31" name="Shape 29"/>
          <p:cNvSpPr/>
          <p:nvPr/>
        </p:nvSpPr>
        <p:spPr>
          <a:xfrm>
            <a:off x="548640" y="4358640"/>
            <a:ext cx="1874520" cy="614172"/>
          </a:xfrm>
          <a:prstGeom prst="rect">
            <a:avLst/>
          </a:prstGeom>
          <a:solidFill>
            <a:srgbClr val="F8F9FC"/>
          </a:solidFill>
          <a:ln w="6350">
            <a:solidFill>
              <a:srgbClr val="DDE2ED"/>
            </a:solidFill>
            <a:prstDash val="solid"/>
          </a:ln>
        </p:spPr>
      </p:sp>
      <p:sp>
        <p:nvSpPr>
          <p:cNvPr id="32" name="Text 30"/>
          <p:cNvSpPr/>
          <p:nvPr/>
        </p:nvSpPr>
        <p:spPr>
          <a:xfrm>
            <a:off x="685800" y="4459224"/>
            <a:ext cx="1600200" cy="431292"/>
          </a:xfrm>
          <a:prstGeom prst="rect">
            <a:avLst/>
          </a:prstGeom>
          <a:noFill/>
          <a:ln/>
        </p:spPr>
        <p:txBody>
          <a:bodyPr wrap="square" lIns="0" tIns="0" rIns="0" bIns="0" rtlCol="0" anchor="ctr">
            <a:normAutofit/>
          </a:bodyPr>
          <a:lstStyle/>
          <a:p>
            <a:pPr indent="0" marL="0">
              <a:buNone/>
            </a:pPr>
            <a:r>
              <a:rPr lang="en-US" sz="1330" b="1" dirty="0">
                <a:solidFill>
                  <a:srgbClr val="7150E8"/>
                </a:solidFill>
                <a:latin typeface="Malgun Gothic" pitchFamily="34" charset="0"/>
                <a:ea typeface="Malgun Gothic" pitchFamily="34" charset="-122"/>
                <a:cs typeface="Malgun Gothic" pitchFamily="34" charset="-120"/>
              </a:rPr>
              <a:t>AI·검색 API</a:t>
            </a:r>
            <a:endParaRPr lang="en-US" sz="1330" dirty="0"/>
          </a:p>
        </p:txBody>
      </p:sp>
      <p:sp>
        <p:nvSpPr>
          <p:cNvPr id="33" name="Shape 31"/>
          <p:cNvSpPr/>
          <p:nvPr/>
        </p:nvSpPr>
        <p:spPr>
          <a:xfrm>
            <a:off x="2423160" y="4358640"/>
            <a:ext cx="4617720" cy="614172"/>
          </a:xfrm>
          <a:prstGeom prst="rect">
            <a:avLst/>
          </a:prstGeom>
          <a:solidFill>
            <a:srgbClr val="F8F9FC"/>
          </a:solidFill>
          <a:ln w="6350">
            <a:solidFill>
              <a:srgbClr val="DDE2ED"/>
            </a:solidFill>
            <a:prstDash val="solid"/>
          </a:ln>
        </p:spPr>
      </p:sp>
      <p:sp>
        <p:nvSpPr>
          <p:cNvPr id="34" name="Text 32"/>
          <p:cNvSpPr/>
          <p:nvPr/>
        </p:nvSpPr>
        <p:spPr>
          <a:xfrm>
            <a:off x="2560320" y="4459224"/>
            <a:ext cx="434340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Gemini 중계 / 영상 이미지·상품·장소·Live</a:t>
            </a:r>
            <a:endParaRPr lang="en-US" sz="1330" dirty="0"/>
          </a:p>
        </p:txBody>
      </p:sp>
      <p:sp>
        <p:nvSpPr>
          <p:cNvPr id="35" name="Shape 33"/>
          <p:cNvSpPr/>
          <p:nvPr/>
        </p:nvSpPr>
        <p:spPr>
          <a:xfrm>
            <a:off x="7040880" y="4358640"/>
            <a:ext cx="4572000" cy="614172"/>
          </a:xfrm>
          <a:prstGeom prst="rect">
            <a:avLst/>
          </a:prstGeom>
          <a:solidFill>
            <a:srgbClr val="F8F9FC"/>
          </a:solidFill>
          <a:ln w="6350">
            <a:solidFill>
              <a:srgbClr val="DDE2ED"/>
            </a:solidFill>
            <a:prstDash val="solid"/>
          </a:ln>
        </p:spPr>
      </p:sp>
      <p:sp>
        <p:nvSpPr>
          <p:cNvPr id="36" name="Text 34"/>
          <p:cNvSpPr/>
          <p:nvPr/>
        </p:nvSpPr>
        <p:spPr>
          <a:xfrm>
            <a:off x="7178040" y="4459224"/>
            <a:ext cx="429768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판매 데이터 공급, 쿼터·장애·비용 제어</a:t>
            </a:r>
            <a:endParaRPr lang="en-US" sz="1330" dirty="0"/>
          </a:p>
        </p:txBody>
      </p:sp>
      <p:sp>
        <p:nvSpPr>
          <p:cNvPr id="37" name="Shape 35"/>
          <p:cNvSpPr/>
          <p:nvPr/>
        </p:nvSpPr>
        <p:spPr>
          <a:xfrm>
            <a:off x="548640" y="4972812"/>
            <a:ext cx="1874520" cy="614172"/>
          </a:xfrm>
          <a:prstGeom prst="rect">
            <a:avLst/>
          </a:prstGeom>
          <a:solidFill>
            <a:srgbClr val="FFFFFF"/>
          </a:solidFill>
          <a:ln w="6350">
            <a:solidFill>
              <a:srgbClr val="DDE2ED"/>
            </a:solidFill>
            <a:prstDash val="solid"/>
          </a:ln>
        </p:spPr>
      </p:sp>
      <p:sp>
        <p:nvSpPr>
          <p:cNvPr id="38" name="Text 36"/>
          <p:cNvSpPr/>
          <p:nvPr/>
        </p:nvSpPr>
        <p:spPr>
          <a:xfrm>
            <a:off x="685800" y="5073396"/>
            <a:ext cx="1600200" cy="431292"/>
          </a:xfrm>
          <a:prstGeom prst="rect">
            <a:avLst/>
          </a:prstGeom>
          <a:noFill/>
          <a:ln/>
        </p:spPr>
        <p:txBody>
          <a:bodyPr wrap="square" lIns="0" tIns="0" rIns="0" bIns="0" rtlCol="0" anchor="ctr">
            <a:normAutofit/>
          </a:bodyPr>
          <a:lstStyle/>
          <a:p>
            <a:pPr indent="0" marL="0">
              <a:buNone/>
            </a:pPr>
            <a:r>
              <a:rPr lang="en-US" sz="1330" b="1" dirty="0">
                <a:solidFill>
                  <a:srgbClr val="7150E8"/>
                </a:solidFill>
                <a:latin typeface="Malgun Gothic" pitchFamily="34" charset="0"/>
                <a:ea typeface="Malgun Gothic" pitchFamily="34" charset="-122"/>
                <a:cs typeface="Malgun Gothic" pitchFamily="34" charset="-120"/>
              </a:rPr>
              <a:t>구독·기업·MCP</a:t>
            </a:r>
            <a:endParaRPr lang="en-US" sz="1330" dirty="0"/>
          </a:p>
        </p:txBody>
      </p:sp>
      <p:sp>
        <p:nvSpPr>
          <p:cNvPr id="39" name="Shape 37"/>
          <p:cNvSpPr/>
          <p:nvPr/>
        </p:nvSpPr>
        <p:spPr>
          <a:xfrm>
            <a:off x="2423160" y="4972812"/>
            <a:ext cx="4617720" cy="614172"/>
          </a:xfrm>
          <a:prstGeom prst="rect">
            <a:avLst/>
          </a:prstGeom>
          <a:solidFill>
            <a:srgbClr val="FFFFFF"/>
          </a:solidFill>
          <a:ln w="6350">
            <a:solidFill>
              <a:srgbClr val="DDE2ED"/>
            </a:solidFill>
            <a:prstDash val="solid"/>
          </a:ln>
        </p:spPr>
      </p:sp>
      <p:sp>
        <p:nvSpPr>
          <p:cNvPr id="40" name="Text 38"/>
          <p:cNvSpPr/>
          <p:nvPr/>
        </p:nvSpPr>
        <p:spPr>
          <a:xfrm>
            <a:off x="2560320" y="5073396"/>
            <a:ext cx="434340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정식 결제·테넌트·MCP 구현은 확인되지 않음</a:t>
            </a:r>
            <a:endParaRPr lang="en-US" sz="1330" dirty="0"/>
          </a:p>
        </p:txBody>
      </p:sp>
      <p:sp>
        <p:nvSpPr>
          <p:cNvPr id="41" name="Shape 39"/>
          <p:cNvSpPr/>
          <p:nvPr/>
        </p:nvSpPr>
        <p:spPr>
          <a:xfrm>
            <a:off x="7040880" y="4972812"/>
            <a:ext cx="4572000" cy="614172"/>
          </a:xfrm>
          <a:prstGeom prst="rect">
            <a:avLst/>
          </a:prstGeom>
          <a:solidFill>
            <a:srgbClr val="FFFFFF"/>
          </a:solidFill>
          <a:ln w="6350">
            <a:solidFill>
              <a:srgbClr val="DDE2ED"/>
            </a:solidFill>
            <a:prstDash val="solid"/>
          </a:ln>
        </p:spPr>
      </p:sp>
      <p:sp>
        <p:nvSpPr>
          <p:cNvPr id="42" name="Text 40"/>
          <p:cNvSpPr/>
          <p:nvPr/>
        </p:nvSpPr>
        <p:spPr>
          <a:xfrm>
            <a:off x="7178040" y="5073396"/>
            <a:ext cx="429768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별도의 공통 서비스 계층 구축 필요</a:t>
            </a:r>
            <a:endParaRPr lang="en-US" sz="1330" dirty="0"/>
          </a:p>
        </p:txBody>
      </p:sp>
      <p:sp>
        <p:nvSpPr>
          <p:cNvPr id="43" name="Shape 41"/>
          <p:cNvSpPr/>
          <p:nvPr/>
        </p:nvSpPr>
        <p:spPr>
          <a:xfrm>
            <a:off x="548640" y="5824728"/>
            <a:ext cx="11082528" cy="438912"/>
          </a:xfrm>
          <a:prstGeom prst="roundRect">
            <a:avLst>
              <a:gd name="adj" fmla="val 33333"/>
            </a:avLst>
          </a:prstGeom>
          <a:solidFill>
            <a:srgbClr val="EEE9FD"/>
          </a:solidFill>
          <a:ln w="7620">
            <a:solidFill>
              <a:srgbClr val="EEE9FD"/>
            </a:solidFill>
            <a:prstDash val="solid"/>
          </a:ln>
        </p:spPr>
      </p:sp>
      <p:sp>
        <p:nvSpPr>
          <p:cNvPr id="44" name="Text 42"/>
          <p:cNvSpPr/>
          <p:nvPr/>
        </p:nvSpPr>
        <p:spPr>
          <a:xfrm>
            <a:off x="731520" y="5916168"/>
            <a:ext cx="10698480" cy="237744"/>
          </a:xfrm>
          <a:prstGeom prst="rect">
            <a:avLst/>
          </a:prstGeom>
          <a:noFill/>
          <a:ln/>
        </p:spPr>
        <p:txBody>
          <a:bodyPr wrap="square" lIns="0" tIns="0" rIns="0" bIns="0" rtlCol="0" anchor="ctr">
            <a:normAutofit/>
          </a:bodyPr>
          <a:lstStyle/>
          <a:p>
            <a:pPr indent="0" marL="0">
              <a:buNone/>
            </a:pPr>
            <a:r>
              <a:rPr lang="en-US" sz="1140" b="1" dirty="0">
                <a:solidFill>
                  <a:srgbClr val="7150E8"/>
                </a:solidFill>
                <a:latin typeface="Malgun Gothic" pitchFamily="34" charset="0"/>
                <a:ea typeface="Malgun Gothic" pitchFamily="34" charset="-122"/>
                <a:cs typeface="Malgun Gothic" pitchFamily="34" charset="-120"/>
              </a:rPr>
              <a:t>설치 가능한 앱이 있다는 사실과, 고객에게 판매할 준비가 됐다는 사실은 다르다.</a:t>
            </a:r>
            <a:endParaRPr lang="en-US" sz="11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548640" y="274320"/>
            <a:ext cx="10058400" cy="228600"/>
          </a:xfrm>
          <a:prstGeom prst="rect">
            <a:avLst/>
          </a:prstGeom>
          <a:noFill/>
          <a:ln/>
        </p:spPr>
        <p:txBody>
          <a:bodyPr wrap="square" lIns="0" tIns="0" rIns="0" bIns="0" rtlCol="0" anchor="ctr">
            <a:normAutofit/>
          </a:bodyPr>
          <a:lstStyle/>
          <a:p>
            <a:pPr indent="0" marL="0">
              <a:buNone/>
            </a:pPr>
            <a:r>
              <a:rPr lang="en-US" sz="900" b="1" spc="160" kern="0" dirty="0">
                <a:solidFill>
                  <a:srgbClr val="7150E8"/>
                </a:solidFill>
                <a:latin typeface="Malgun Gothic" pitchFamily="34" charset="0"/>
                <a:ea typeface="Malgun Gothic" pitchFamily="34" charset="-122"/>
                <a:cs typeface="Malgun Gothic" pitchFamily="34" charset="-120"/>
              </a:rPr>
              <a:t>01 / CURRENT DATA FLOW</a:t>
            </a:r>
            <a:endParaRPr lang="en-US" sz="900" dirty="0"/>
          </a:p>
        </p:txBody>
      </p:sp>
      <p:sp>
        <p:nvSpPr>
          <p:cNvPr id="3" name="Text 1"/>
          <p:cNvSpPr/>
          <p:nvPr/>
        </p:nvSpPr>
        <p:spPr>
          <a:xfrm>
            <a:off x="548640" y="758952"/>
            <a:ext cx="11082528" cy="795528"/>
          </a:xfrm>
          <a:prstGeom prst="rect">
            <a:avLst/>
          </a:prstGeom>
          <a:noFill/>
          <a:ln/>
        </p:spPr>
        <p:txBody>
          <a:bodyPr wrap="square" lIns="0" tIns="0" rIns="0" bIns="0" rtlCol="0" anchor="ctr">
            <a:normAutofit/>
          </a:bodyPr>
          <a:lstStyle/>
          <a:p>
            <a:pPr indent="0" marL="0">
              <a:buNone/>
            </a:pPr>
            <a:r>
              <a:rPr lang="en-US" sz="2700" b="1" dirty="0">
                <a:solidFill>
                  <a:srgbClr val="20243A"/>
                </a:solidFill>
                <a:latin typeface="Malgun Gothic" pitchFamily="34" charset="0"/>
                <a:ea typeface="Malgun Gothic" pitchFamily="34" charset="-122"/>
                <a:cs typeface="Malgun Gothic" pitchFamily="34" charset="-120"/>
              </a:rPr>
              <a:t>현재 흐름은 “화면 이해 → 탐색 지원”에 가깝다</a:t>
            </a:r>
            <a:endParaRPr lang="en-US" sz="2700" dirty="0"/>
          </a:p>
        </p:txBody>
      </p:sp>
      <p:sp>
        <p:nvSpPr>
          <p:cNvPr id="4" name="Shape 2"/>
          <p:cNvSpPr/>
          <p:nvPr/>
        </p:nvSpPr>
        <p:spPr>
          <a:xfrm>
            <a:off x="548640" y="1682496"/>
            <a:ext cx="11064240" cy="0"/>
          </a:xfrm>
          <a:prstGeom prst="line">
            <a:avLst/>
          </a:prstGeom>
          <a:noFill/>
          <a:ln w="12700">
            <a:solidFill>
              <a:srgbClr val="DDE2ED"/>
            </a:solidFill>
            <a:prstDash val="solid"/>
          </a:ln>
        </p:spPr>
      </p:sp>
      <p:sp>
        <p:nvSpPr>
          <p:cNvPr id="5" name="Text 3"/>
          <p:cNvSpPr/>
          <p:nvPr/>
        </p:nvSpPr>
        <p:spPr>
          <a:xfrm>
            <a:off x="548640" y="6519672"/>
            <a:ext cx="8869680" cy="164592"/>
          </a:xfrm>
          <a:prstGeom prst="rect">
            <a:avLst/>
          </a:prstGeom>
          <a:noFill/>
          <a:ln/>
        </p:spPr>
        <p:txBody>
          <a:bodyPr wrap="square" lIns="0" tIns="0" rIns="0" bIns="0" rtlCol="0" anchor="ctr">
            <a:normAutofit/>
          </a:bodyPr>
          <a:lstStyle/>
          <a:p>
            <a:pPr indent="0" marL="0">
              <a:buNone/>
            </a:pPr>
            <a:r>
              <a:rPr lang="en-US" sz="800" dirty="0">
                <a:solidFill>
                  <a:srgbClr val="677087"/>
                </a:solidFill>
                <a:latin typeface="Malgun Gothic" pitchFamily="34" charset="0"/>
                <a:ea typeface="Malgun Gothic" pitchFamily="34" charset="-122"/>
                <a:cs typeface="Malgun Gothic" pitchFamily="34" charset="-120"/>
              </a:rPr>
              <a:t>CleanTouch  |  사업화 현황 진단  |  2026.10.15</a:t>
            </a:r>
            <a:endParaRPr lang="en-US" sz="800" dirty="0"/>
          </a:p>
        </p:txBody>
      </p:sp>
      <p:sp>
        <p:nvSpPr>
          <p:cNvPr id="6" name="Text 4"/>
          <p:cNvSpPr/>
          <p:nvPr/>
        </p:nvSpPr>
        <p:spPr>
          <a:xfrm>
            <a:off x="10698480" y="6501384"/>
            <a:ext cx="914400" cy="182880"/>
          </a:xfrm>
          <a:prstGeom prst="rect">
            <a:avLst/>
          </a:prstGeom>
          <a:noFill/>
          <a:ln/>
        </p:spPr>
        <p:txBody>
          <a:bodyPr wrap="square" lIns="0" tIns="0" rIns="0" bIns="0" rtlCol="0" anchor="ctr">
            <a:normAutofit/>
          </a:bodyPr>
          <a:lstStyle/>
          <a:p>
            <a:pPr algn="r" indent="0" marL="0">
              <a:buNone/>
            </a:pPr>
            <a:r>
              <a:rPr lang="en-US" sz="800" dirty="0">
                <a:solidFill>
                  <a:srgbClr val="677087"/>
                </a:solidFill>
                <a:latin typeface="Malgun Gothic" pitchFamily="34" charset="0"/>
                <a:ea typeface="Malgun Gothic" pitchFamily="34" charset="-122"/>
                <a:cs typeface="Malgun Gothic" pitchFamily="34" charset="-120"/>
              </a:rPr>
              <a:t>05 / 24</a:t>
            </a:r>
            <a:endParaRPr lang="en-US" sz="800" dirty="0"/>
          </a:p>
        </p:txBody>
      </p:sp>
      <p:sp>
        <p:nvSpPr>
          <p:cNvPr id="7" name="Shape 5"/>
          <p:cNvSpPr/>
          <p:nvPr/>
        </p:nvSpPr>
        <p:spPr>
          <a:xfrm>
            <a:off x="548640" y="1938528"/>
            <a:ext cx="2048256" cy="1536192"/>
          </a:xfrm>
          <a:prstGeom prst="roundRect">
            <a:avLst>
              <a:gd name="adj" fmla="val 9524"/>
            </a:avLst>
          </a:prstGeom>
          <a:solidFill>
            <a:srgbClr val="FFFFFF"/>
          </a:solidFill>
          <a:ln w="7620">
            <a:solidFill>
              <a:srgbClr val="DDE2ED"/>
            </a:solidFill>
            <a:prstDash val="solid"/>
          </a:ln>
        </p:spPr>
      </p:sp>
      <p:sp>
        <p:nvSpPr>
          <p:cNvPr id="8" name="Text 6"/>
          <p:cNvSpPr/>
          <p:nvPr/>
        </p:nvSpPr>
        <p:spPr>
          <a:xfrm>
            <a:off x="685800" y="2139696"/>
            <a:ext cx="1773936" cy="347472"/>
          </a:xfrm>
          <a:prstGeom prst="rect">
            <a:avLst/>
          </a:prstGeom>
          <a:noFill/>
          <a:ln/>
        </p:spPr>
        <p:txBody>
          <a:bodyPr wrap="square" lIns="0" tIns="0" rIns="0" bIns="0" rtlCol="0" anchor="ctr">
            <a:normAutofit/>
          </a:bodyPr>
          <a:lstStyle/>
          <a:p>
            <a:pPr algn="ctr" indent="0" marL="0">
              <a:buNone/>
            </a:pPr>
            <a:r>
              <a:rPr lang="en-US" sz="1600" b="1" dirty="0">
                <a:solidFill>
                  <a:srgbClr val="7150E8"/>
                </a:solidFill>
                <a:latin typeface="Malgun Gothic" pitchFamily="34" charset="0"/>
                <a:ea typeface="Malgun Gothic" pitchFamily="34" charset="-122"/>
                <a:cs typeface="Malgun Gothic" pitchFamily="34" charset="-120"/>
              </a:rPr>
              <a:t>기기</a:t>
            </a:r>
            <a:endParaRPr lang="en-US" sz="1600" dirty="0"/>
          </a:p>
        </p:txBody>
      </p:sp>
      <p:sp>
        <p:nvSpPr>
          <p:cNvPr id="9" name="Text 7"/>
          <p:cNvSpPr/>
          <p:nvPr/>
        </p:nvSpPr>
        <p:spPr>
          <a:xfrm>
            <a:off x="685800" y="2679192"/>
            <a:ext cx="1773936" cy="530352"/>
          </a:xfrm>
          <a:prstGeom prst="rect">
            <a:avLst/>
          </a:prstGeom>
          <a:noFill/>
          <a:ln/>
        </p:spPr>
        <p:txBody>
          <a:bodyPr wrap="square" lIns="0" tIns="0" rIns="0" bIns="0" rtlCol="0" anchor="ctr">
            <a:normAutofit/>
          </a:bodyPr>
          <a:lstStyle/>
          <a:p>
            <a:pPr algn="ctr" indent="0" marL="0">
              <a:buNone/>
            </a:pPr>
            <a:r>
              <a:rPr lang="en-US" sz="1300" dirty="0">
                <a:solidFill>
                  <a:srgbClr val="20243A"/>
                </a:solidFill>
                <a:latin typeface="Malgun Gothic" pitchFamily="34" charset="0"/>
                <a:ea typeface="Malgun Gothic" pitchFamily="34" charset="-122"/>
                <a:cs typeface="Malgun Gothic" pitchFamily="34" charset="-120"/>
              </a:rPr>
              <a:t>화면 권한</a:t>
            </a:r>
            <a:endParaRPr lang="en-US" sz="1300" dirty="0"/>
          </a:p>
          <a:p>
            <a:pPr algn="ctr" indent="0" marL="0">
              <a:buNone/>
            </a:pPr>
            <a:r>
              <a:rPr lang="en-US" sz="1300" dirty="0">
                <a:solidFill>
                  <a:srgbClr val="20243A"/>
                </a:solidFill>
                <a:latin typeface="Malgun Gothic" pitchFamily="34" charset="0"/>
                <a:ea typeface="Malgun Gothic" pitchFamily="34" charset="-122"/>
                <a:cs typeface="Malgun Gothic" pitchFamily="34" charset="-120"/>
              </a:rPr>
              <a:t>영역 선택·마스킹</a:t>
            </a:r>
            <a:endParaRPr lang="en-US" sz="1300" dirty="0"/>
          </a:p>
        </p:txBody>
      </p:sp>
      <p:sp>
        <p:nvSpPr>
          <p:cNvPr id="10" name="Text 8"/>
          <p:cNvSpPr/>
          <p:nvPr/>
        </p:nvSpPr>
        <p:spPr>
          <a:xfrm>
            <a:off x="2606040" y="2505456"/>
            <a:ext cx="192024" cy="320040"/>
          </a:xfrm>
          <a:prstGeom prst="rect">
            <a:avLst/>
          </a:prstGeom>
          <a:noFill/>
          <a:ln/>
        </p:spPr>
        <p:txBody>
          <a:bodyPr wrap="square" lIns="0" tIns="0" rIns="0" bIns="0" rtlCol="0" anchor="ctr">
            <a:normAutofit/>
          </a:bodyPr>
          <a:lstStyle/>
          <a:p>
            <a:pPr algn="ctr" indent="0" marL="0">
              <a:buNone/>
            </a:pPr>
            <a:r>
              <a:rPr lang="en-US" sz="2200" dirty="0">
                <a:solidFill>
                  <a:srgbClr val="677087"/>
                </a:solidFill>
                <a:latin typeface="Malgun Gothic" pitchFamily="34" charset="0"/>
                <a:ea typeface="Malgun Gothic" pitchFamily="34" charset="-122"/>
                <a:cs typeface="Malgun Gothic" pitchFamily="34" charset="-120"/>
              </a:rPr>
              <a:t>›</a:t>
            </a:r>
            <a:endParaRPr lang="en-US" sz="2200" dirty="0"/>
          </a:p>
        </p:txBody>
      </p:sp>
      <p:sp>
        <p:nvSpPr>
          <p:cNvPr id="11" name="Shape 9"/>
          <p:cNvSpPr/>
          <p:nvPr/>
        </p:nvSpPr>
        <p:spPr>
          <a:xfrm>
            <a:off x="2807208" y="1938528"/>
            <a:ext cx="2048256" cy="1536192"/>
          </a:xfrm>
          <a:prstGeom prst="roundRect">
            <a:avLst>
              <a:gd name="adj" fmla="val 9524"/>
            </a:avLst>
          </a:prstGeom>
          <a:solidFill>
            <a:srgbClr val="FFFFFF"/>
          </a:solidFill>
          <a:ln w="7620">
            <a:solidFill>
              <a:srgbClr val="DDE2ED"/>
            </a:solidFill>
            <a:prstDash val="solid"/>
          </a:ln>
        </p:spPr>
      </p:sp>
      <p:sp>
        <p:nvSpPr>
          <p:cNvPr id="12" name="Text 10"/>
          <p:cNvSpPr/>
          <p:nvPr/>
        </p:nvSpPr>
        <p:spPr>
          <a:xfrm>
            <a:off x="2944368" y="2139696"/>
            <a:ext cx="1773936" cy="347472"/>
          </a:xfrm>
          <a:prstGeom prst="rect">
            <a:avLst/>
          </a:prstGeom>
          <a:noFill/>
          <a:ln/>
        </p:spPr>
        <p:txBody>
          <a:bodyPr wrap="square" lIns="0" tIns="0" rIns="0" bIns="0" rtlCol="0" anchor="ctr">
            <a:normAutofit/>
          </a:bodyPr>
          <a:lstStyle/>
          <a:p>
            <a:pPr algn="ctr" indent="0" marL="0">
              <a:buNone/>
            </a:pPr>
            <a:r>
              <a:rPr lang="en-US" sz="1600" b="1" dirty="0">
                <a:solidFill>
                  <a:srgbClr val="7150E8"/>
                </a:solidFill>
                <a:latin typeface="Malgun Gothic" pitchFamily="34" charset="0"/>
                <a:ea typeface="Malgun Gothic" pitchFamily="34" charset="-122"/>
                <a:cs typeface="Malgun Gothic" pitchFamily="34" charset="-120"/>
              </a:rPr>
              <a:t>기기 내 처리</a:t>
            </a:r>
            <a:endParaRPr lang="en-US" sz="1600" dirty="0"/>
          </a:p>
        </p:txBody>
      </p:sp>
      <p:sp>
        <p:nvSpPr>
          <p:cNvPr id="13" name="Text 11"/>
          <p:cNvSpPr/>
          <p:nvPr/>
        </p:nvSpPr>
        <p:spPr>
          <a:xfrm>
            <a:off x="2944368" y="2679192"/>
            <a:ext cx="1773936" cy="530352"/>
          </a:xfrm>
          <a:prstGeom prst="rect">
            <a:avLst/>
          </a:prstGeom>
          <a:noFill/>
          <a:ln/>
        </p:spPr>
        <p:txBody>
          <a:bodyPr wrap="square" lIns="0" tIns="0" rIns="0" bIns="0" rtlCol="0" anchor="ctr">
            <a:normAutofit/>
          </a:bodyPr>
          <a:lstStyle/>
          <a:p>
            <a:pPr algn="ctr" indent="0" marL="0">
              <a:buNone/>
            </a:pPr>
            <a:r>
              <a:rPr lang="en-US" sz="1300" dirty="0">
                <a:solidFill>
                  <a:srgbClr val="20243A"/>
                </a:solidFill>
                <a:latin typeface="Malgun Gothic" pitchFamily="34" charset="0"/>
                <a:ea typeface="Malgun Gothic" pitchFamily="34" charset="-122"/>
                <a:cs typeface="Malgun Gothic" pitchFamily="34" charset="-120"/>
              </a:rPr>
              <a:t>대표 이미지 선별</a:t>
            </a:r>
            <a:endParaRPr lang="en-US" sz="1300" dirty="0"/>
          </a:p>
          <a:p>
            <a:pPr algn="ctr" indent="0" marL="0">
              <a:buNone/>
            </a:pPr>
            <a:r>
              <a:rPr lang="en-US" sz="1300" dirty="0">
                <a:solidFill>
                  <a:srgbClr val="20243A"/>
                </a:solidFill>
                <a:latin typeface="Malgun Gothic" pitchFamily="34" charset="0"/>
                <a:ea typeface="Malgun Gothic" pitchFamily="34" charset="-122"/>
                <a:cs typeface="Malgun Gothic" pitchFamily="34" charset="-120"/>
              </a:rPr>
              <a:t>대화·사진 로컬 보관</a:t>
            </a:r>
            <a:endParaRPr lang="en-US" sz="1300" dirty="0"/>
          </a:p>
        </p:txBody>
      </p:sp>
      <p:sp>
        <p:nvSpPr>
          <p:cNvPr id="14" name="Text 12"/>
          <p:cNvSpPr/>
          <p:nvPr/>
        </p:nvSpPr>
        <p:spPr>
          <a:xfrm>
            <a:off x="4864608" y="2505456"/>
            <a:ext cx="192024" cy="320040"/>
          </a:xfrm>
          <a:prstGeom prst="rect">
            <a:avLst/>
          </a:prstGeom>
          <a:noFill/>
          <a:ln/>
        </p:spPr>
        <p:txBody>
          <a:bodyPr wrap="square" lIns="0" tIns="0" rIns="0" bIns="0" rtlCol="0" anchor="ctr">
            <a:normAutofit/>
          </a:bodyPr>
          <a:lstStyle/>
          <a:p>
            <a:pPr algn="ctr" indent="0" marL="0">
              <a:buNone/>
            </a:pPr>
            <a:r>
              <a:rPr lang="en-US" sz="2200" dirty="0">
                <a:solidFill>
                  <a:srgbClr val="677087"/>
                </a:solidFill>
                <a:latin typeface="Malgun Gothic" pitchFamily="34" charset="0"/>
                <a:ea typeface="Malgun Gothic" pitchFamily="34" charset="-122"/>
                <a:cs typeface="Malgun Gothic" pitchFamily="34" charset="-120"/>
              </a:rPr>
              <a:t>›</a:t>
            </a:r>
            <a:endParaRPr lang="en-US" sz="2200" dirty="0"/>
          </a:p>
        </p:txBody>
      </p:sp>
      <p:sp>
        <p:nvSpPr>
          <p:cNvPr id="15" name="Shape 13"/>
          <p:cNvSpPr/>
          <p:nvPr/>
        </p:nvSpPr>
        <p:spPr>
          <a:xfrm>
            <a:off x="5065776" y="1938528"/>
            <a:ext cx="2048256" cy="1536192"/>
          </a:xfrm>
          <a:prstGeom prst="roundRect">
            <a:avLst>
              <a:gd name="adj" fmla="val 9524"/>
            </a:avLst>
          </a:prstGeom>
          <a:solidFill>
            <a:srgbClr val="FFFFFF"/>
          </a:solidFill>
          <a:ln w="7620">
            <a:solidFill>
              <a:srgbClr val="DDE2ED"/>
            </a:solidFill>
            <a:prstDash val="solid"/>
          </a:ln>
        </p:spPr>
      </p:sp>
      <p:sp>
        <p:nvSpPr>
          <p:cNvPr id="16" name="Text 14"/>
          <p:cNvSpPr/>
          <p:nvPr/>
        </p:nvSpPr>
        <p:spPr>
          <a:xfrm>
            <a:off x="5202936" y="2139696"/>
            <a:ext cx="1773936" cy="347472"/>
          </a:xfrm>
          <a:prstGeom prst="rect">
            <a:avLst/>
          </a:prstGeom>
          <a:noFill/>
          <a:ln/>
        </p:spPr>
        <p:txBody>
          <a:bodyPr wrap="square" lIns="0" tIns="0" rIns="0" bIns="0" rtlCol="0" anchor="ctr">
            <a:normAutofit/>
          </a:bodyPr>
          <a:lstStyle/>
          <a:p>
            <a:pPr algn="ctr" indent="0" marL="0">
              <a:buNone/>
            </a:pPr>
            <a:r>
              <a:rPr lang="en-US" sz="1600" b="1" dirty="0">
                <a:solidFill>
                  <a:srgbClr val="7150E8"/>
                </a:solidFill>
                <a:latin typeface="Malgun Gothic" pitchFamily="34" charset="0"/>
                <a:ea typeface="Malgun Gothic" pitchFamily="34" charset="-122"/>
                <a:cs typeface="Malgun Gothic" pitchFamily="34" charset="-120"/>
              </a:rPr>
              <a:t>중계 API</a:t>
            </a:r>
            <a:endParaRPr lang="en-US" sz="1600" dirty="0"/>
          </a:p>
        </p:txBody>
      </p:sp>
      <p:sp>
        <p:nvSpPr>
          <p:cNvPr id="17" name="Text 15"/>
          <p:cNvSpPr/>
          <p:nvPr/>
        </p:nvSpPr>
        <p:spPr>
          <a:xfrm>
            <a:off x="5202936" y="2679192"/>
            <a:ext cx="1773936" cy="530352"/>
          </a:xfrm>
          <a:prstGeom prst="rect">
            <a:avLst/>
          </a:prstGeom>
          <a:noFill/>
          <a:ln/>
        </p:spPr>
        <p:txBody>
          <a:bodyPr wrap="square" lIns="0" tIns="0" rIns="0" bIns="0" rtlCol="0" anchor="ctr">
            <a:normAutofit/>
          </a:bodyPr>
          <a:lstStyle/>
          <a:p>
            <a:pPr algn="ctr" indent="0" marL="0">
              <a:buNone/>
            </a:pPr>
            <a:r>
              <a:rPr lang="en-US" sz="1300" dirty="0">
                <a:solidFill>
                  <a:srgbClr val="20243A"/>
                </a:solidFill>
                <a:latin typeface="Malgun Gothic" pitchFamily="34" charset="0"/>
                <a:ea typeface="Malgun Gothic" pitchFamily="34" charset="-122"/>
                <a:cs typeface="Malgun Gothic" pitchFamily="34" charset="-120"/>
              </a:rPr>
              <a:t>Netlify/Express</a:t>
            </a:r>
            <a:endParaRPr lang="en-US" sz="1300" dirty="0"/>
          </a:p>
          <a:p>
            <a:pPr algn="ctr" indent="0" marL="0">
              <a:buNone/>
            </a:pPr>
            <a:r>
              <a:rPr lang="en-US" sz="1300" dirty="0">
                <a:solidFill>
                  <a:srgbClr val="20243A"/>
                </a:solidFill>
                <a:latin typeface="Malgun Gothic" pitchFamily="34" charset="0"/>
                <a:ea typeface="Malgun Gothic" pitchFamily="34" charset="-122"/>
                <a:cs typeface="Malgun Gothic" pitchFamily="34" charset="-120"/>
              </a:rPr>
              <a:t>요청 검사·메모리 제한</a:t>
            </a:r>
            <a:endParaRPr lang="en-US" sz="1300" dirty="0"/>
          </a:p>
        </p:txBody>
      </p:sp>
      <p:sp>
        <p:nvSpPr>
          <p:cNvPr id="18" name="Text 16"/>
          <p:cNvSpPr/>
          <p:nvPr/>
        </p:nvSpPr>
        <p:spPr>
          <a:xfrm>
            <a:off x="7123176" y="2505456"/>
            <a:ext cx="192024" cy="320040"/>
          </a:xfrm>
          <a:prstGeom prst="rect">
            <a:avLst/>
          </a:prstGeom>
          <a:noFill/>
          <a:ln/>
        </p:spPr>
        <p:txBody>
          <a:bodyPr wrap="square" lIns="0" tIns="0" rIns="0" bIns="0" rtlCol="0" anchor="ctr">
            <a:normAutofit/>
          </a:bodyPr>
          <a:lstStyle/>
          <a:p>
            <a:pPr algn="ctr" indent="0" marL="0">
              <a:buNone/>
            </a:pPr>
            <a:r>
              <a:rPr lang="en-US" sz="2200" dirty="0">
                <a:solidFill>
                  <a:srgbClr val="677087"/>
                </a:solidFill>
                <a:latin typeface="Malgun Gothic" pitchFamily="34" charset="0"/>
                <a:ea typeface="Malgun Gothic" pitchFamily="34" charset="-122"/>
                <a:cs typeface="Malgun Gothic" pitchFamily="34" charset="-120"/>
              </a:rPr>
              <a:t>›</a:t>
            </a:r>
            <a:endParaRPr lang="en-US" sz="2200" dirty="0"/>
          </a:p>
        </p:txBody>
      </p:sp>
      <p:sp>
        <p:nvSpPr>
          <p:cNvPr id="19" name="Shape 17"/>
          <p:cNvSpPr/>
          <p:nvPr/>
        </p:nvSpPr>
        <p:spPr>
          <a:xfrm>
            <a:off x="7324344" y="1938528"/>
            <a:ext cx="2048256" cy="1536192"/>
          </a:xfrm>
          <a:prstGeom prst="roundRect">
            <a:avLst>
              <a:gd name="adj" fmla="val 9524"/>
            </a:avLst>
          </a:prstGeom>
          <a:solidFill>
            <a:srgbClr val="FFFFFF"/>
          </a:solidFill>
          <a:ln w="7620">
            <a:solidFill>
              <a:srgbClr val="DDE2ED"/>
            </a:solidFill>
            <a:prstDash val="solid"/>
          </a:ln>
        </p:spPr>
      </p:sp>
      <p:sp>
        <p:nvSpPr>
          <p:cNvPr id="20" name="Text 18"/>
          <p:cNvSpPr/>
          <p:nvPr/>
        </p:nvSpPr>
        <p:spPr>
          <a:xfrm>
            <a:off x="7461504" y="2139696"/>
            <a:ext cx="1773936" cy="347472"/>
          </a:xfrm>
          <a:prstGeom prst="rect">
            <a:avLst/>
          </a:prstGeom>
          <a:noFill/>
          <a:ln/>
        </p:spPr>
        <p:txBody>
          <a:bodyPr wrap="square" lIns="0" tIns="0" rIns="0" bIns="0" rtlCol="0" anchor="ctr">
            <a:normAutofit/>
          </a:bodyPr>
          <a:lstStyle/>
          <a:p>
            <a:pPr algn="ctr" indent="0" marL="0">
              <a:buNone/>
            </a:pPr>
            <a:r>
              <a:rPr lang="en-US" sz="1600" b="1" dirty="0">
                <a:solidFill>
                  <a:srgbClr val="7150E8"/>
                </a:solidFill>
                <a:latin typeface="Malgun Gothic" pitchFamily="34" charset="0"/>
                <a:ea typeface="Malgun Gothic" pitchFamily="34" charset="-122"/>
                <a:cs typeface="Malgun Gothic" pitchFamily="34" charset="-120"/>
              </a:rPr>
              <a:t>외부 AI·검색</a:t>
            </a:r>
            <a:endParaRPr lang="en-US" sz="1600" dirty="0"/>
          </a:p>
        </p:txBody>
      </p:sp>
      <p:sp>
        <p:nvSpPr>
          <p:cNvPr id="21" name="Text 19"/>
          <p:cNvSpPr/>
          <p:nvPr/>
        </p:nvSpPr>
        <p:spPr>
          <a:xfrm>
            <a:off x="7461504" y="2679192"/>
            <a:ext cx="1773936" cy="530352"/>
          </a:xfrm>
          <a:prstGeom prst="rect">
            <a:avLst/>
          </a:prstGeom>
          <a:noFill/>
          <a:ln/>
        </p:spPr>
        <p:txBody>
          <a:bodyPr wrap="square" lIns="0" tIns="0" rIns="0" bIns="0" rtlCol="0" anchor="ctr">
            <a:normAutofit/>
          </a:bodyPr>
          <a:lstStyle/>
          <a:p>
            <a:pPr algn="ctr" indent="0" marL="0">
              <a:buNone/>
            </a:pPr>
            <a:r>
              <a:rPr lang="en-US" sz="1300" dirty="0">
                <a:solidFill>
                  <a:srgbClr val="20243A"/>
                </a:solidFill>
                <a:latin typeface="Malgun Gothic" pitchFamily="34" charset="0"/>
                <a:ea typeface="Malgun Gothic" pitchFamily="34" charset="-122"/>
                <a:cs typeface="Malgun Gothic" pitchFamily="34" charset="-120"/>
              </a:rPr>
              <a:t>Gemini·판매 사진 비교</a:t>
            </a:r>
            <a:endParaRPr lang="en-US" sz="1300" dirty="0"/>
          </a:p>
          <a:p>
            <a:pPr algn="ctr" indent="0" marL="0">
              <a:buNone/>
            </a:pPr>
            <a:r>
              <a:rPr lang="en-US" sz="1300" dirty="0">
                <a:solidFill>
                  <a:srgbClr val="20243A"/>
                </a:solidFill>
                <a:latin typeface="Malgun Gothic" pitchFamily="34" charset="0"/>
                <a:ea typeface="Malgun Gothic" pitchFamily="34" charset="-122"/>
                <a:cs typeface="Malgun Gothic" pitchFamily="34" charset="-120"/>
              </a:rPr>
              <a:t>Lens 웹 연결</a:t>
            </a:r>
            <a:endParaRPr lang="en-US" sz="1300" dirty="0"/>
          </a:p>
        </p:txBody>
      </p:sp>
      <p:sp>
        <p:nvSpPr>
          <p:cNvPr id="22" name="Text 20"/>
          <p:cNvSpPr/>
          <p:nvPr/>
        </p:nvSpPr>
        <p:spPr>
          <a:xfrm>
            <a:off x="9381744" y="2505456"/>
            <a:ext cx="192024" cy="320040"/>
          </a:xfrm>
          <a:prstGeom prst="rect">
            <a:avLst/>
          </a:prstGeom>
          <a:noFill/>
          <a:ln/>
        </p:spPr>
        <p:txBody>
          <a:bodyPr wrap="square" lIns="0" tIns="0" rIns="0" bIns="0" rtlCol="0" anchor="ctr">
            <a:normAutofit/>
          </a:bodyPr>
          <a:lstStyle/>
          <a:p>
            <a:pPr algn="ctr" indent="0" marL="0">
              <a:buNone/>
            </a:pPr>
            <a:r>
              <a:rPr lang="en-US" sz="2200" dirty="0">
                <a:solidFill>
                  <a:srgbClr val="677087"/>
                </a:solidFill>
                <a:latin typeface="Malgun Gothic" pitchFamily="34" charset="0"/>
                <a:ea typeface="Malgun Gothic" pitchFamily="34" charset="-122"/>
                <a:cs typeface="Malgun Gothic" pitchFamily="34" charset="-120"/>
              </a:rPr>
              <a:t>›</a:t>
            </a:r>
            <a:endParaRPr lang="en-US" sz="2200" dirty="0"/>
          </a:p>
        </p:txBody>
      </p:sp>
      <p:sp>
        <p:nvSpPr>
          <p:cNvPr id="23" name="Shape 21"/>
          <p:cNvSpPr/>
          <p:nvPr/>
        </p:nvSpPr>
        <p:spPr>
          <a:xfrm>
            <a:off x="9582912" y="1938528"/>
            <a:ext cx="2048256" cy="1536192"/>
          </a:xfrm>
          <a:prstGeom prst="roundRect">
            <a:avLst>
              <a:gd name="adj" fmla="val 9524"/>
            </a:avLst>
          </a:prstGeom>
          <a:solidFill>
            <a:srgbClr val="EEE9FD"/>
          </a:solidFill>
          <a:ln w="7620">
            <a:solidFill>
              <a:srgbClr val="DDE2ED"/>
            </a:solidFill>
            <a:prstDash val="solid"/>
          </a:ln>
        </p:spPr>
      </p:sp>
      <p:sp>
        <p:nvSpPr>
          <p:cNvPr id="24" name="Text 22"/>
          <p:cNvSpPr/>
          <p:nvPr/>
        </p:nvSpPr>
        <p:spPr>
          <a:xfrm>
            <a:off x="9720072" y="2139696"/>
            <a:ext cx="1773936" cy="347472"/>
          </a:xfrm>
          <a:prstGeom prst="rect">
            <a:avLst/>
          </a:prstGeom>
          <a:noFill/>
          <a:ln/>
        </p:spPr>
        <p:txBody>
          <a:bodyPr wrap="square" lIns="0" tIns="0" rIns="0" bIns="0" rtlCol="0" anchor="ctr">
            <a:normAutofit/>
          </a:bodyPr>
          <a:lstStyle/>
          <a:p>
            <a:pPr algn="ctr" indent="0" marL="0">
              <a:buNone/>
            </a:pPr>
            <a:r>
              <a:rPr lang="en-US" sz="1600" b="1" dirty="0">
                <a:solidFill>
                  <a:srgbClr val="7150E8"/>
                </a:solidFill>
                <a:latin typeface="Malgun Gothic" pitchFamily="34" charset="0"/>
                <a:ea typeface="Malgun Gothic" pitchFamily="34" charset="-122"/>
                <a:cs typeface="Malgun Gothic" pitchFamily="34" charset="-120"/>
              </a:rPr>
              <a:t>사용자 결과</a:t>
            </a:r>
            <a:endParaRPr lang="en-US" sz="1600" dirty="0"/>
          </a:p>
        </p:txBody>
      </p:sp>
      <p:sp>
        <p:nvSpPr>
          <p:cNvPr id="25" name="Text 23"/>
          <p:cNvSpPr/>
          <p:nvPr/>
        </p:nvSpPr>
        <p:spPr>
          <a:xfrm>
            <a:off x="9720072" y="2679192"/>
            <a:ext cx="1773936" cy="530352"/>
          </a:xfrm>
          <a:prstGeom prst="rect">
            <a:avLst/>
          </a:prstGeom>
          <a:noFill/>
          <a:ln/>
        </p:spPr>
        <p:txBody>
          <a:bodyPr wrap="square" lIns="0" tIns="0" rIns="0" bIns="0" rtlCol="0" anchor="ctr">
            <a:normAutofit/>
          </a:bodyPr>
          <a:lstStyle/>
          <a:p>
            <a:pPr algn="ctr" indent="0" marL="0">
              <a:buNone/>
            </a:pPr>
            <a:r>
              <a:rPr lang="en-US" sz="1300" dirty="0">
                <a:solidFill>
                  <a:srgbClr val="20243A"/>
                </a:solidFill>
                <a:latin typeface="Malgun Gothic" pitchFamily="34" charset="0"/>
                <a:ea typeface="Malgun Gothic" pitchFamily="34" charset="-122"/>
                <a:cs typeface="Malgun Gothic" pitchFamily="34" charset="-120"/>
              </a:rPr>
              <a:t>추정 상품명·후보</a:t>
            </a:r>
            <a:endParaRPr lang="en-US" sz="1300" dirty="0"/>
          </a:p>
          <a:p>
            <a:pPr algn="ctr" indent="0" marL="0">
              <a:buNone/>
            </a:pPr>
            <a:r>
              <a:rPr lang="en-US" sz="1300" dirty="0">
                <a:solidFill>
                  <a:srgbClr val="20243A"/>
                </a:solidFill>
                <a:latin typeface="Malgun Gothic" pitchFamily="34" charset="0"/>
                <a:ea typeface="Malgun Gothic" pitchFamily="34" charset="-122"/>
                <a:cs typeface="Malgun Gothic" pitchFamily="34" charset="-120"/>
              </a:rPr>
              <a:t>키워드/외부 링크</a:t>
            </a:r>
            <a:endParaRPr lang="en-US" sz="1300" dirty="0"/>
          </a:p>
        </p:txBody>
      </p:sp>
      <p:sp>
        <p:nvSpPr>
          <p:cNvPr id="26" name="Shape 24"/>
          <p:cNvSpPr/>
          <p:nvPr/>
        </p:nvSpPr>
        <p:spPr>
          <a:xfrm>
            <a:off x="548640" y="3730752"/>
            <a:ext cx="5413248" cy="1764792"/>
          </a:xfrm>
          <a:prstGeom prst="roundRect">
            <a:avLst>
              <a:gd name="adj" fmla="val 8290"/>
            </a:avLst>
          </a:prstGeom>
          <a:solidFill>
            <a:srgbClr val="FFFFFF"/>
          </a:solidFill>
          <a:ln w="7620">
            <a:solidFill>
              <a:srgbClr val="DDE2ED"/>
            </a:solidFill>
            <a:prstDash val="solid"/>
          </a:ln>
        </p:spPr>
      </p:sp>
      <p:sp>
        <p:nvSpPr>
          <p:cNvPr id="27" name="Shape 25"/>
          <p:cNvSpPr/>
          <p:nvPr/>
        </p:nvSpPr>
        <p:spPr>
          <a:xfrm>
            <a:off x="713232" y="3941064"/>
            <a:ext cx="41148" cy="1344168"/>
          </a:xfrm>
          <a:prstGeom prst="rect">
            <a:avLst/>
          </a:prstGeom>
          <a:solidFill>
            <a:srgbClr val="7150E8"/>
          </a:solidFill>
          <a:ln w="12700">
            <a:solidFill>
              <a:srgbClr val="7150E8">
                <a:alpha val="0"/>
              </a:srgbClr>
            </a:solidFill>
            <a:prstDash val="solid"/>
          </a:ln>
        </p:spPr>
      </p:sp>
      <p:sp>
        <p:nvSpPr>
          <p:cNvPr id="28" name="Text 26"/>
          <p:cNvSpPr/>
          <p:nvPr/>
        </p:nvSpPr>
        <p:spPr>
          <a:xfrm>
            <a:off x="914400" y="3931920"/>
            <a:ext cx="4773168" cy="338328"/>
          </a:xfrm>
          <a:prstGeom prst="rect">
            <a:avLst/>
          </a:prstGeom>
          <a:noFill/>
          <a:ln/>
        </p:spPr>
        <p:txBody>
          <a:bodyPr wrap="square" lIns="0" tIns="0" rIns="0" bIns="0" rtlCol="0" anchor="ctr">
            <a:normAutofit/>
          </a:bodyPr>
          <a:lstStyle/>
          <a:p>
            <a:pPr indent="0" marL="0">
              <a:buNone/>
            </a:pPr>
            <a:r>
              <a:rPr lang="en-US" sz="1700" b="1" dirty="0">
                <a:solidFill>
                  <a:srgbClr val="7150E8"/>
                </a:solidFill>
                <a:latin typeface="Malgun Gothic" pitchFamily="34" charset="0"/>
                <a:ea typeface="Malgun Gothic" pitchFamily="34" charset="-122"/>
                <a:cs typeface="Malgun Gothic" pitchFamily="34" charset="-120"/>
              </a:rPr>
              <a:t>재사용 가능한 자산</a:t>
            </a:r>
            <a:endParaRPr lang="en-US" sz="1700" dirty="0"/>
          </a:p>
        </p:txBody>
      </p:sp>
      <p:sp>
        <p:nvSpPr>
          <p:cNvPr id="29" name="Text 27"/>
          <p:cNvSpPr/>
          <p:nvPr/>
        </p:nvSpPr>
        <p:spPr>
          <a:xfrm>
            <a:off x="914400" y="4507992"/>
            <a:ext cx="4718304" cy="822960"/>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입력 권한 · 작은 위젯 · 사진 업로드 · 대화 이력 · 기기 내 전처리</a:t>
            </a:r>
            <a:endParaRPr lang="en-US" sz="1500" dirty="0"/>
          </a:p>
        </p:txBody>
      </p:sp>
      <p:sp>
        <p:nvSpPr>
          <p:cNvPr id="30" name="Shape 28"/>
          <p:cNvSpPr/>
          <p:nvPr/>
        </p:nvSpPr>
        <p:spPr>
          <a:xfrm>
            <a:off x="6217920" y="3730752"/>
            <a:ext cx="5413248" cy="1764792"/>
          </a:xfrm>
          <a:prstGeom prst="roundRect">
            <a:avLst>
              <a:gd name="adj" fmla="val 8290"/>
            </a:avLst>
          </a:prstGeom>
          <a:solidFill>
            <a:srgbClr val="FFFFFF"/>
          </a:solidFill>
          <a:ln w="7620">
            <a:solidFill>
              <a:srgbClr val="DDE2ED"/>
            </a:solidFill>
            <a:prstDash val="solid"/>
          </a:ln>
        </p:spPr>
      </p:sp>
      <p:sp>
        <p:nvSpPr>
          <p:cNvPr id="31" name="Shape 29"/>
          <p:cNvSpPr/>
          <p:nvPr/>
        </p:nvSpPr>
        <p:spPr>
          <a:xfrm>
            <a:off x="6382512" y="3941064"/>
            <a:ext cx="41148" cy="1344168"/>
          </a:xfrm>
          <a:prstGeom prst="rect">
            <a:avLst/>
          </a:prstGeom>
          <a:solidFill>
            <a:srgbClr val="147D7A"/>
          </a:solidFill>
          <a:ln w="12700">
            <a:solidFill>
              <a:srgbClr val="147D7A">
                <a:alpha val="0"/>
              </a:srgbClr>
            </a:solidFill>
            <a:prstDash val="solid"/>
          </a:ln>
        </p:spPr>
      </p:sp>
      <p:sp>
        <p:nvSpPr>
          <p:cNvPr id="32" name="Text 30"/>
          <p:cNvSpPr/>
          <p:nvPr/>
        </p:nvSpPr>
        <p:spPr>
          <a:xfrm>
            <a:off x="6583680" y="3931920"/>
            <a:ext cx="4773168" cy="338328"/>
          </a:xfrm>
          <a:prstGeom prst="rect">
            <a:avLst/>
          </a:prstGeom>
          <a:noFill/>
          <a:ln/>
        </p:spPr>
        <p:txBody>
          <a:bodyPr wrap="square" lIns="0" tIns="0" rIns="0" bIns="0" rtlCol="0" anchor="ctr">
            <a:normAutofit/>
          </a:bodyPr>
          <a:lstStyle/>
          <a:p>
            <a:pPr indent="0" marL="0">
              <a:buNone/>
            </a:pPr>
            <a:r>
              <a:rPr lang="en-US" sz="1700" b="1" dirty="0">
                <a:solidFill>
                  <a:srgbClr val="147D7A"/>
                </a:solidFill>
                <a:latin typeface="Malgun Gothic" pitchFamily="34" charset="0"/>
                <a:ea typeface="Malgun Gothic" pitchFamily="34" charset="-122"/>
                <a:cs typeface="Malgun Gothic" pitchFamily="34" charset="-120"/>
              </a:rPr>
              <a:t>아직 없는 중심축</a:t>
            </a:r>
            <a:endParaRPr lang="en-US" sz="1700" dirty="0"/>
          </a:p>
        </p:txBody>
      </p:sp>
      <p:sp>
        <p:nvSpPr>
          <p:cNvPr id="33" name="Text 31"/>
          <p:cNvSpPr/>
          <p:nvPr/>
        </p:nvSpPr>
        <p:spPr>
          <a:xfrm>
            <a:off x="6583680" y="4507992"/>
            <a:ext cx="4718304" cy="822960"/>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정식 상품 카탈로그 · 고객별 인증/사용량 · 구매 결과 검증 · 운영 지표</a:t>
            </a:r>
            <a:endParaRPr lang="en-US" sz="1500" dirty="0"/>
          </a:p>
        </p:txBody>
      </p:sp>
      <p:sp>
        <p:nvSpPr>
          <p:cNvPr id="34" name="Shape 32"/>
          <p:cNvSpPr/>
          <p:nvPr/>
        </p:nvSpPr>
        <p:spPr>
          <a:xfrm>
            <a:off x="548640" y="5824728"/>
            <a:ext cx="11082528" cy="438912"/>
          </a:xfrm>
          <a:prstGeom prst="roundRect">
            <a:avLst>
              <a:gd name="adj" fmla="val 33333"/>
            </a:avLst>
          </a:prstGeom>
          <a:solidFill>
            <a:srgbClr val="EEE9FD"/>
          </a:solidFill>
          <a:ln w="7620">
            <a:solidFill>
              <a:srgbClr val="EEE9FD"/>
            </a:solidFill>
            <a:prstDash val="solid"/>
          </a:ln>
        </p:spPr>
      </p:sp>
      <p:sp>
        <p:nvSpPr>
          <p:cNvPr id="35" name="Text 33"/>
          <p:cNvSpPr/>
          <p:nvPr/>
        </p:nvSpPr>
        <p:spPr>
          <a:xfrm>
            <a:off x="731520" y="5916168"/>
            <a:ext cx="10698480" cy="237744"/>
          </a:xfrm>
          <a:prstGeom prst="rect">
            <a:avLst/>
          </a:prstGeom>
          <a:noFill/>
          <a:ln/>
        </p:spPr>
        <p:txBody>
          <a:bodyPr wrap="square" lIns="0" tIns="0" rIns="0" bIns="0" rtlCol="0" anchor="ctr">
            <a:normAutofit/>
          </a:bodyPr>
          <a:lstStyle/>
          <a:p>
            <a:pPr indent="0" marL="0">
              <a:buNone/>
            </a:pPr>
            <a:r>
              <a:rPr lang="en-US" sz="1140" b="1" dirty="0">
                <a:solidFill>
                  <a:srgbClr val="7150E8"/>
                </a:solidFill>
                <a:latin typeface="Malgun Gothic" pitchFamily="34" charset="0"/>
                <a:ea typeface="Malgun Gothic" pitchFamily="34" charset="-122"/>
                <a:cs typeface="Malgun Gothic" pitchFamily="34" charset="-120"/>
              </a:rPr>
              <a:t>화면 캡처는 로컬 작업이며, AI 호출·외부 검색을 할 때 네트워크와 비용이 발생한다.</a:t>
            </a:r>
            <a:endParaRPr lang="en-US" sz="11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548640" y="274320"/>
            <a:ext cx="10058400" cy="228600"/>
          </a:xfrm>
          <a:prstGeom prst="rect">
            <a:avLst/>
          </a:prstGeom>
          <a:noFill/>
          <a:ln/>
        </p:spPr>
        <p:txBody>
          <a:bodyPr wrap="square" lIns="0" tIns="0" rIns="0" bIns="0" rtlCol="0" anchor="ctr">
            <a:normAutofit/>
          </a:bodyPr>
          <a:lstStyle/>
          <a:p>
            <a:pPr indent="0" marL="0">
              <a:buNone/>
            </a:pPr>
            <a:r>
              <a:rPr lang="en-US" sz="900" b="1" spc="160" kern="0" dirty="0">
                <a:solidFill>
                  <a:srgbClr val="7150E8"/>
                </a:solidFill>
                <a:latin typeface="Malgun Gothic" pitchFamily="34" charset="0"/>
                <a:ea typeface="Malgun Gothic" pitchFamily="34" charset="-122"/>
                <a:cs typeface="Malgun Gothic" pitchFamily="34" charset="-120"/>
              </a:rPr>
              <a:t>01 / EVIDENCE &amp; LIMITS</a:t>
            </a:r>
            <a:endParaRPr lang="en-US" sz="900" dirty="0"/>
          </a:p>
        </p:txBody>
      </p:sp>
      <p:sp>
        <p:nvSpPr>
          <p:cNvPr id="3" name="Text 1"/>
          <p:cNvSpPr/>
          <p:nvPr/>
        </p:nvSpPr>
        <p:spPr>
          <a:xfrm>
            <a:off x="548640" y="758952"/>
            <a:ext cx="11082528" cy="795528"/>
          </a:xfrm>
          <a:prstGeom prst="rect">
            <a:avLst/>
          </a:prstGeom>
          <a:noFill/>
          <a:ln/>
        </p:spPr>
        <p:txBody>
          <a:bodyPr wrap="square" lIns="0" tIns="0" rIns="0" bIns="0" rtlCol="0" anchor="ctr">
            <a:normAutofit/>
          </a:bodyPr>
          <a:lstStyle/>
          <a:p>
            <a:pPr indent="0" marL="0">
              <a:buNone/>
            </a:pPr>
            <a:r>
              <a:rPr lang="en-US" sz="2700" b="1" dirty="0">
                <a:solidFill>
                  <a:srgbClr val="20243A"/>
                </a:solidFill>
                <a:latin typeface="Malgun Gothic" pitchFamily="34" charset="0"/>
                <a:ea typeface="Malgun Gothic" pitchFamily="34" charset="-122"/>
                <a:cs typeface="Malgun Gothic" pitchFamily="34" charset="-120"/>
              </a:rPr>
              <a:t>좋아진 수집 성능을 상품 정확도로 해석하면 안 된다</a:t>
            </a:r>
            <a:endParaRPr lang="en-US" sz="2700" dirty="0"/>
          </a:p>
        </p:txBody>
      </p:sp>
      <p:sp>
        <p:nvSpPr>
          <p:cNvPr id="4" name="Shape 2"/>
          <p:cNvSpPr/>
          <p:nvPr/>
        </p:nvSpPr>
        <p:spPr>
          <a:xfrm>
            <a:off x="548640" y="1682496"/>
            <a:ext cx="11064240" cy="0"/>
          </a:xfrm>
          <a:prstGeom prst="line">
            <a:avLst/>
          </a:prstGeom>
          <a:noFill/>
          <a:ln w="12700">
            <a:solidFill>
              <a:srgbClr val="DDE2ED"/>
            </a:solidFill>
            <a:prstDash val="solid"/>
          </a:ln>
        </p:spPr>
      </p:sp>
      <p:sp>
        <p:nvSpPr>
          <p:cNvPr id="5" name="Text 3"/>
          <p:cNvSpPr/>
          <p:nvPr/>
        </p:nvSpPr>
        <p:spPr>
          <a:xfrm>
            <a:off x="548640" y="6519672"/>
            <a:ext cx="8869680" cy="164592"/>
          </a:xfrm>
          <a:prstGeom prst="rect">
            <a:avLst/>
          </a:prstGeom>
          <a:noFill/>
          <a:ln/>
        </p:spPr>
        <p:txBody>
          <a:bodyPr wrap="square" lIns="0" tIns="0" rIns="0" bIns="0" rtlCol="0" anchor="ctr">
            <a:normAutofit/>
          </a:bodyPr>
          <a:lstStyle/>
          <a:p>
            <a:pPr indent="0" marL="0">
              <a:buNone/>
            </a:pPr>
            <a:r>
              <a:rPr lang="en-US" sz="800" dirty="0">
                <a:solidFill>
                  <a:srgbClr val="677087"/>
                </a:solidFill>
                <a:latin typeface="Malgun Gothic" pitchFamily="34" charset="0"/>
                <a:ea typeface="Malgun Gothic" pitchFamily="34" charset="-122"/>
                <a:cs typeface="Malgun Gothic" pitchFamily="34" charset="-120"/>
              </a:rPr>
              <a:t>CleanTouch  |  사업화 현황 진단  |  2026.10.15</a:t>
            </a:r>
            <a:endParaRPr lang="en-US" sz="800" dirty="0"/>
          </a:p>
        </p:txBody>
      </p:sp>
      <p:sp>
        <p:nvSpPr>
          <p:cNvPr id="6" name="Text 4"/>
          <p:cNvSpPr/>
          <p:nvPr/>
        </p:nvSpPr>
        <p:spPr>
          <a:xfrm>
            <a:off x="10698480" y="6501384"/>
            <a:ext cx="914400" cy="182880"/>
          </a:xfrm>
          <a:prstGeom prst="rect">
            <a:avLst/>
          </a:prstGeom>
          <a:noFill/>
          <a:ln/>
        </p:spPr>
        <p:txBody>
          <a:bodyPr wrap="square" lIns="0" tIns="0" rIns="0" bIns="0" rtlCol="0" anchor="ctr">
            <a:normAutofit/>
          </a:bodyPr>
          <a:lstStyle/>
          <a:p>
            <a:pPr algn="r" indent="0" marL="0">
              <a:buNone/>
            </a:pPr>
            <a:r>
              <a:rPr lang="en-US" sz="800" dirty="0">
                <a:solidFill>
                  <a:srgbClr val="677087"/>
                </a:solidFill>
                <a:latin typeface="Malgun Gothic" pitchFamily="34" charset="0"/>
                <a:ea typeface="Malgun Gothic" pitchFamily="34" charset="-122"/>
                <a:cs typeface="Malgun Gothic" pitchFamily="34" charset="-120"/>
              </a:rPr>
              <a:t>06 / 24</a:t>
            </a:r>
            <a:endParaRPr lang="en-US" sz="800" dirty="0"/>
          </a:p>
        </p:txBody>
      </p:sp>
      <p:sp>
        <p:nvSpPr>
          <p:cNvPr id="7" name="Shape 5"/>
          <p:cNvSpPr/>
          <p:nvPr/>
        </p:nvSpPr>
        <p:spPr>
          <a:xfrm>
            <a:off x="548640" y="1892808"/>
            <a:ext cx="3493008" cy="1417320"/>
          </a:xfrm>
          <a:prstGeom prst="roundRect">
            <a:avLst>
              <a:gd name="adj" fmla="val 10323"/>
            </a:avLst>
          </a:prstGeom>
          <a:solidFill>
            <a:srgbClr val="EEE9FD"/>
          </a:solidFill>
          <a:ln w="7620">
            <a:solidFill>
              <a:srgbClr val="EEE9FD"/>
            </a:solidFill>
            <a:prstDash val="solid"/>
          </a:ln>
        </p:spPr>
      </p:sp>
      <p:sp>
        <p:nvSpPr>
          <p:cNvPr id="8" name="Text 6"/>
          <p:cNvSpPr/>
          <p:nvPr/>
        </p:nvSpPr>
        <p:spPr>
          <a:xfrm>
            <a:off x="749808" y="2075688"/>
            <a:ext cx="3072384" cy="502920"/>
          </a:xfrm>
          <a:prstGeom prst="rect">
            <a:avLst/>
          </a:prstGeom>
          <a:noFill/>
          <a:ln/>
        </p:spPr>
        <p:txBody>
          <a:bodyPr wrap="square" lIns="0" tIns="0" rIns="0" bIns="0" rtlCol="0" anchor="ctr">
            <a:normAutofit/>
          </a:bodyPr>
          <a:lstStyle/>
          <a:p>
            <a:pPr indent="0" marL="0">
              <a:buNone/>
            </a:pPr>
            <a:r>
              <a:rPr lang="en-US" sz="3100" b="1" dirty="0">
                <a:solidFill>
                  <a:srgbClr val="7150E8"/>
                </a:solidFill>
                <a:latin typeface="Malgun Gothic" pitchFamily="34" charset="0"/>
                <a:ea typeface="Malgun Gothic" pitchFamily="34" charset="-122"/>
                <a:cs typeface="Malgun Gothic" pitchFamily="34" charset="-120"/>
              </a:rPr>
              <a:t>138</a:t>
            </a:r>
            <a:endParaRPr lang="en-US" sz="3100" dirty="0"/>
          </a:p>
        </p:txBody>
      </p:sp>
      <p:sp>
        <p:nvSpPr>
          <p:cNvPr id="9" name="Text 7"/>
          <p:cNvSpPr/>
          <p:nvPr/>
        </p:nvSpPr>
        <p:spPr>
          <a:xfrm>
            <a:off x="768096" y="2724912"/>
            <a:ext cx="3044952" cy="274320"/>
          </a:xfrm>
          <a:prstGeom prst="rect">
            <a:avLst/>
          </a:prstGeom>
          <a:noFill/>
          <a:ln/>
        </p:spPr>
        <p:txBody>
          <a:bodyPr wrap="square" lIns="0" tIns="0" rIns="0" bIns="0" rtlCol="0" anchor="ctr">
            <a:normAutofit/>
          </a:bodyPr>
          <a:lstStyle/>
          <a:p>
            <a:pPr indent="0" marL="0">
              <a:buNone/>
            </a:pPr>
            <a:r>
              <a:rPr lang="en-US" sz="1400" b="1" dirty="0">
                <a:solidFill>
                  <a:srgbClr val="20243A"/>
                </a:solidFill>
                <a:latin typeface="Malgun Gothic" pitchFamily="34" charset="0"/>
                <a:ea typeface="Malgun Gothic" pitchFamily="34" charset="-122"/>
                <a:cs typeface="Malgun Gothic" pitchFamily="34" charset="-120"/>
              </a:rPr>
              <a:t>Windows 단위 테스트</a:t>
            </a:r>
            <a:endParaRPr lang="en-US" sz="1400" dirty="0"/>
          </a:p>
        </p:txBody>
      </p:sp>
      <p:sp>
        <p:nvSpPr>
          <p:cNvPr id="10" name="Text 8"/>
          <p:cNvSpPr/>
          <p:nvPr/>
        </p:nvSpPr>
        <p:spPr>
          <a:xfrm>
            <a:off x="768096" y="3035808"/>
            <a:ext cx="3044952" cy="155448"/>
          </a:xfrm>
          <a:prstGeom prst="rect">
            <a:avLst/>
          </a:prstGeom>
          <a:noFill/>
          <a:ln/>
        </p:spPr>
        <p:txBody>
          <a:bodyPr wrap="square" lIns="0" tIns="0" rIns="0" bIns="0" rtlCol="0" anchor="ctr">
            <a:normAutofit/>
          </a:bodyPr>
          <a:lstStyle/>
          <a:p>
            <a:pPr indent="0" marL="0">
              <a:buNone/>
            </a:pPr>
            <a:r>
              <a:rPr lang="en-US" sz="900" dirty="0">
                <a:solidFill>
                  <a:srgbClr val="677087"/>
                </a:solidFill>
                <a:latin typeface="Malgun Gothic" pitchFamily="34" charset="0"/>
                <a:ea typeface="Malgun Gothic" pitchFamily="34" charset="-122"/>
                <a:cs typeface="Malgun Gothic" pitchFamily="34" charset="-120"/>
              </a:rPr>
              <a:t>최근 기록 기준</a:t>
            </a:r>
            <a:endParaRPr lang="en-US" sz="900" dirty="0"/>
          </a:p>
        </p:txBody>
      </p:sp>
      <p:sp>
        <p:nvSpPr>
          <p:cNvPr id="11" name="Shape 9"/>
          <p:cNvSpPr/>
          <p:nvPr/>
        </p:nvSpPr>
        <p:spPr>
          <a:xfrm>
            <a:off x="4343400" y="1892808"/>
            <a:ext cx="3493008" cy="1417320"/>
          </a:xfrm>
          <a:prstGeom prst="roundRect">
            <a:avLst>
              <a:gd name="adj" fmla="val 10323"/>
            </a:avLst>
          </a:prstGeom>
          <a:solidFill>
            <a:srgbClr val="EEE9FD"/>
          </a:solidFill>
          <a:ln w="7620">
            <a:solidFill>
              <a:srgbClr val="EEE9FD"/>
            </a:solidFill>
            <a:prstDash val="solid"/>
          </a:ln>
        </p:spPr>
      </p:sp>
      <p:sp>
        <p:nvSpPr>
          <p:cNvPr id="12" name="Text 10"/>
          <p:cNvSpPr/>
          <p:nvPr/>
        </p:nvSpPr>
        <p:spPr>
          <a:xfrm>
            <a:off x="4544568" y="2075688"/>
            <a:ext cx="3072384" cy="502920"/>
          </a:xfrm>
          <a:prstGeom prst="rect">
            <a:avLst/>
          </a:prstGeom>
          <a:noFill/>
          <a:ln/>
        </p:spPr>
        <p:txBody>
          <a:bodyPr wrap="square" lIns="0" tIns="0" rIns="0" bIns="0" rtlCol="0" anchor="ctr">
            <a:normAutofit/>
          </a:bodyPr>
          <a:lstStyle/>
          <a:p>
            <a:pPr indent="0" marL="0">
              <a:buNone/>
            </a:pPr>
            <a:r>
              <a:rPr lang="en-US" sz="3100" b="1" dirty="0">
                <a:solidFill>
                  <a:srgbClr val="7150E8"/>
                </a:solidFill>
                <a:latin typeface="Malgun Gothic" pitchFamily="34" charset="0"/>
                <a:ea typeface="Malgun Gothic" pitchFamily="34" charset="-122"/>
                <a:cs typeface="Malgun Gothic" pitchFamily="34" charset="-120"/>
              </a:rPr>
              <a:t>81</a:t>
            </a:r>
            <a:endParaRPr lang="en-US" sz="3100" dirty="0"/>
          </a:p>
        </p:txBody>
      </p:sp>
      <p:sp>
        <p:nvSpPr>
          <p:cNvPr id="13" name="Text 11"/>
          <p:cNvSpPr/>
          <p:nvPr/>
        </p:nvSpPr>
        <p:spPr>
          <a:xfrm>
            <a:off x="4562856" y="2724912"/>
            <a:ext cx="3044952" cy="274320"/>
          </a:xfrm>
          <a:prstGeom prst="rect">
            <a:avLst/>
          </a:prstGeom>
          <a:noFill/>
          <a:ln/>
        </p:spPr>
        <p:txBody>
          <a:bodyPr wrap="square" lIns="0" tIns="0" rIns="0" bIns="0" rtlCol="0" anchor="ctr">
            <a:normAutofit/>
          </a:bodyPr>
          <a:lstStyle/>
          <a:p>
            <a:pPr indent="0" marL="0">
              <a:buNone/>
            </a:pPr>
            <a:r>
              <a:rPr lang="en-US" sz="1400" b="1" dirty="0">
                <a:solidFill>
                  <a:srgbClr val="20243A"/>
                </a:solidFill>
                <a:latin typeface="Malgun Gothic" pitchFamily="34" charset="0"/>
                <a:ea typeface="Malgun Gothic" pitchFamily="34" charset="-122"/>
                <a:cs typeface="Malgun Gothic" pitchFamily="34" charset="-120"/>
              </a:rPr>
              <a:t>API 단위 테스트</a:t>
            </a:r>
            <a:endParaRPr lang="en-US" sz="1400" dirty="0"/>
          </a:p>
        </p:txBody>
      </p:sp>
      <p:sp>
        <p:nvSpPr>
          <p:cNvPr id="14" name="Text 12"/>
          <p:cNvSpPr/>
          <p:nvPr/>
        </p:nvSpPr>
        <p:spPr>
          <a:xfrm>
            <a:off x="4562856" y="3035808"/>
            <a:ext cx="3044952" cy="155448"/>
          </a:xfrm>
          <a:prstGeom prst="rect">
            <a:avLst/>
          </a:prstGeom>
          <a:noFill/>
          <a:ln/>
        </p:spPr>
        <p:txBody>
          <a:bodyPr wrap="square" lIns="0" tIns="0" rIns="0" bIns="0" rtlCol="0" anchor="ctr">
            <a:normAutofit/>
          </a:bodyPr>
          <a:lstStyle/>
          <a:p>
            <a:pPr indent="0" marL="0">
              <a:buNone/>
            </a:pPr>
            <a:r>
              <a:rPr lang="en-US" sz="900" dirty="0">
                <a:solidFill>
                  <a:srgbClr val="677087"/>
                </a:solidFill>
                <a:latin typeface="Malgun Gothic" pitchFamily="34" charset="0"/>
                <a:ea typeface="Malgun Gothic" pitchFamily="34" charset="-122"/>
                <a:cs typeface="Malgun Gothic" pitchFamily="34" charset="-120"/>
              </a:rPr>
              <a:t>미배포 구매 개선 포함</a:t>
            </a:r>
            <a:endParaRPr lang="en-US" sz="900" dirty="0"/>
          </a:p>
        </p:txBody>
      </p:sp>
      <p:sp>
        <p:nvSpPr>
          <p:cNvPr id="15" name="Shape 13"/>
          <p:cNvSpPr/>
          <p:nvPr/>
        </p:nvSpPr>
        <p:spPr>
          <a:xfrm>
            <a:off x="8138160" y="1892808"/>
            <a:ext cx="3493008" cy="1417320"/>
          </a:xfrm>
          <a:prstGeom prst="roundRect">
            <a:avLst>
              <a:gd name="adj" fmla="val 10323"/>
            </a:avLst>
          </a:prstGeom>
          <a:solidFill>
            <a:srgbClr val="EEE9FD"/>
          </a:solidFill>
          <a:ln w="7620">
            <a:solidFill>
              <a:srgbClr val="EEE9FD"/>
            </a:solidFill>
            <a:prstDash val="solid"/>
          </a:ln>
        </p:spPr>
      </p:sp>
      <p:sp>
        <p:nvSpPr>
          <p:cNvPr id="16" name="Text 14"/>
          <p:cNvSpPr/>
          <p:nvPr/>
        </p:nvSpPr>
        <p:spPr>
          <a:xfrm>
            <a:off x="8339328" y="2075688"/>
            <a:ext cx="3072384" cy="502920"/>
          </a:xfrm>
          <a:prstGeom prst="rect">
            <a:avLst/>
          </a:prstGeom>
          <a:noFill/>
          <a:ln/>
        </p:spPr>
        <p:txBody>
          <a:bodyPr wrap="square" lIns="0" tIns="0" rIns="0" bIns="0" rtlCol="0" anchor="ctr">
            <a:normAutofit/>
          </a:bodyPr>
          <a:lstStyle/>
          <a:p>
            <a:pPr indent="0" marL="0">
              <a:buNone/>
            </a:pPr>
            <a:r>
              <a:rPr lang="en-US" sz="3100" b="1" dirty="0">
                <a:solidFill>
                  <a:srgbClr val="7150E8"/>
                </a:solidFill>
                <a:latin typeface="Malgun Gothic" pitchFamily="34" charset="0"/>
                <a:ea typeface="Malgun Gothic" pitchFamily="34" charset="-122"/>
                <a:cs typeface="Malgun Gothic" pitchFamily="34" charset="-120"/>
              </a:rPr>
              <a:t>9장 / 30초</a:t>
            </a:r>
            <a:endParaRPr lang="en-US" sz="3100" dirty="0"/>
          </a:p>
        </p:txBody>
      </p:sp>
      <p:sp>
        <p:nvSpPr>
          <p:cNvPr id="17" name="Text 15"/>
          <p:cNvSpPr/>
          <p:nvPr/>
        </p:nvSpPr>
        <p:spPr>
          <a:xfrm>
            <a:off x="8357616" y="2724912"/>
            <a:ext cx="3044952" cy="274320"/>
          </a:xfrm>
          <a:prstGeom prst="rect">
            <a:avLst/>
          </a:prstGeom>
          <a:noFill/>
          <a:ln/>
        </p:spPr>
        <p:txBody>
          <a:bodyPr wrap="square" lIns="0" tIns="0" rIns="0" bIns="0" rtlCol="0" anchor="ctr">
            <a:normAutofit/>
          </a:bodyPr>
          <a:lstStyle/>
          <a:p>
            <a:pPr indent="0" marL="0">
              <a:buNone/>
            </a:pPr>
            <a:r>
              <a:rPr lang="en-US" sz="1400" b="1" dirty="0">
                <a:solidFill>
                  <a:srgbClr val="20243A"/>
                </a:solidFill>
                <a:latin typeface="Malgun Gothic" pitchFamily="34" charset="0"/>
                <a:ea typeface="Malgun Gothic" pitchFamily="34" charset="-122"/>
                <a:cs typeface="Malgun Gothic" pitchFamily="34" charset="-120"/>
              </a:rPr>
              <a:t>실제 영상 대표 이미지 추가</a:t>
            </a:r>
            <a:endParaRPr lang="en-US" sz="1400" dirty="0"/>
          </a:p>
        </p:txBody>
      </p:sp>
      <p:sp>
        <p:nvSpPr>
          <p:cNvPr id="18" name="Text 16"/>
          <p:cNvSpPr/>
          <p:nvPr/>
        </p:nvSpPr>
        <p:spPr>
          <a:xfrm>
            <a:off x="8357616" y="3035808"/>
            <a:ext cx="3044952" cy="155448"/>
          </a:xfrm>
          <a:prstGeom prst="rect">
            <a:avLst/>
          </a:prstGeom>
          <a:noFill/>
          <a:ln/>
        </p:spPr>
        <p:txBody>
          <a:bodyPr wrap="square" lIns="0" tIns="0" rIns="0" bIns="0" rtlCol="0" anchor="ctr">
            <a:normAutofit/>
          </a:bodyPr>
          <a:lstStyle/>
          <a:p>
            <a:pPr indent="0" marL="0">
              <a:buNone/>
            </a:pPr>
            <a:r>
              <a:rPr lang="en-US" sz="900" dirty="0">
                <a:solidFill>
                  <a:srgbClr val="677087"/>
                </a:solidFill>
                <a:latin typeface="Malgun Gothic" pitchFamily="34" charset="0"/>
                <a:ea typeface="Malgun Gothic" pitchFamily="34" charset="-122"/>
                <a:cs typeface="Malgun Gothic" pitchFamily="34" charset="-120"/>
              </a:rPr>
              <a:t>한 번의 관측값</a:t>
            </a:r>
            <a:endParaRPr lang="en-US" sz="900" dirty="0"/>
          </a:p>
        </p:txBody>
      </p:sp>
      <p:sp>
        <p:nvSpPr>
          <p:cNvPr id="19" name="Shape 17"/>
          <p:cNvSpPr/>
          <p:nvPr/>
        </p:nvSpPr>
        <p:spPr>
          <a:xfrm>
            <a:off x="548640" y="3611880"/>
            <a:ext cx="5413248" cy="1856232"/>
          </a:xfrm>
          <a:prstGeom prst="roundRect">
            <a:avLst>
              <a:gd name="adj" fmla="val 7882"/>
            </a:avLst>
          </a:prstGeom>
          <a:solidFill>
            <a:srgbClr val="FFFFFF"/>
          </a:solidFill>
          <a:ln w="7620">
            <a:solidFill>
              <a:srgbClr val="DDE2ED"/>
            </a:solidFill>
            <a:prstDash val="solid"/>
          </a:ln>
        </p:spPr>
      </p:sp>
      <p:sp>
        <p:nvSpPr>
          <p:cNvPr id="20" name="Shape 18"/>
          <p:cNvSpPr/>
          <p:nvPr/>
        </p:nvSpPr>
        <p:spPr>
          <a:xfrm>
            <a:off x="713232" y="3822192"/>
            <a:ext cx="41148" cy="1435608"/>
          </a:xfrm>
          <a:prstGeom prst="rect">
            <a:avLst/>
          </a:prstGeom>
          <a:solidFill>
            <a:srgbClr val="147D7A"/>
          </a:solidFill>
          <a:ln w="12700">
            <a:solidFill>
              <a:srgbClr val="147D7A">
                <a:alpha val="0"/>
              </a:srgbClr>
            </a:solidFill>
            <a:prstDash val="solid"/>
          </a:ln>
        </p:spPr>
      </p:sp>
      <p:sp>
        <p:nvSpPr>
          <p:cNvPr id="21" name="Text 19"/>
          <p:cNvSpPr/>
          <p:nvPr/>
        </p:nvSpPr>
        <p:spPr>
          <a:xfrm>
            <a:off x="914400" y="3813048"/>
            <a:ext cx="4773168" cy="338328"/>
          </a:xfrm>
          <a:prstGeom prst="rect">
            <a:avLst/>
          </a:prstGeom>
          <a:noFill/>
          <a:ln/>
        </p:spPr>
        <p:txBody>
          <a:bodyPr wrap="square" lIns="0" tIns="0" rIns="0" bIns="0" rtlCol="0" anchor="ctr">
            <a:normAutofit/>
          </a:bodyPr>
          <a:lstStyle/>
          <a:p>
            <a:pPr indent="0" marL="0">
              <a:buNone/>
            </a:pPr>
            <a:r>
              <a:rPr lang="en-US" sz="1700" b="1" dirty="0">
                <a:solidFill>
                  <a:srgbClr val="147D7A"/>
                </a:solidFill>
                <a:latin typeface="Malgun Gothic" pitchFamily="34" charset="0"/>
                <a:ea typeface="Malgun Gothic" pitchFamily="34" charset="-122"/>
                <a:cs typeface="Malgun Gothic" pitchFamily="34" charset="-120"/>
              </a:rPr>
              <a:t>확인된 개선</a:t>
            </a:r>
            <a:endParaRPr lang="en-US" sz="1700" dirty="0"/>
          </a:p>
        </p:txBody>
      </p:sp>
      <p:sp>
        <p:nvSpPr>
          <p:cNvPr id="22" name="Text 20"/>
          <p:cNvSpPr/>
          <p:nvPr/>
        </p:nvSpPr>
        <p:spPr>
          <a:xfrm>
            <a:off x="914400" y="4389120"/>
            <a:ext cx="4718304" cy="914400"/>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기존 85장을 대표 이미지 34장으로 정리</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전체화면 영역 감지·중복 제거·앞뒤 근거 보관</a:t>
            </a:r>
            <a:endParaRPr lang="en-US" sz="1500" dirty="0"/>
          </a:p>
        </p:txBody>
      </p:sp>
      <p:sp>
        <p:nvSpPr>
          <p:cNvPr id="23" name="Shape 21"/>
          <p:cNvSpPr/>
          <p:nvPr/>
        </p:nvSpPr>
        <p:spPr>
          <a:xfrm>
            <a:off x="6217920" y="3611880"/>
            <a:ext cx="5413248" cy="1856232"/>
          </a:xfrm>
          <a:prstGeom prst="roundRect">
            <a:avLst>
              <a:gd name="adj" fmla="val 7882"/>
            </a:avLst>
          </a:prstGeom>
          <a:solidFill>
            <a:srgbClr val="FFFFFF"/>
          </a:solidFill>
          <a:ln w="7620">
            <a:solidFill>
              <a:srgbClr val="DDE2ED"/>
            </a:solidFill>
            <a:prstDash val="solid"/>
          </a:ln>
        </p:spPr>
      </p:sp>
      <p:sp>
        <p:nvSpPr>
          <p:cNvPr id="24" name="Shape 22"/>
          <p:cNvSpPr/>
          <p:nvPr/>
        </p:nvSpPr>
        <p:spPr>
          <a:xfrm>
            <a:off x="6382512" y="3822192"/>
            <a:ext cx="41148" cy="1435608"/>
          </a:xfrm>
          <a:prstGeom prst="rect">
            <a:avLst/>
          </a:prstGeom>
          <a:solidFill>
            <a:srgbClr val="A84350"/>
          </a:solidFill>
          <a:ln w="12700">
            <a:solidFill>
              <a:srgbClr val="A84350">
                <a:alpha val="0"/>
              </a:srgbClr>
            </a:solidFill>
            <a:prstDash val="solid"/>
          </a:ln>
        </p:spPr>
      </p:sp>
      <p:sp>
        <p:nvSpPr>
          <p:cNvPr id="25" name="Text 23"/>
          <p:cNvSpPr/>
          <p:nvPr/>
        </p:nvSpPr>
        <p:spPr>
          <a:xfrm>
            <a:off x="6583680" y="3813048"/>
            <a:ext cx="4773168" cy="338328"/>
          </a:xfrm>
          <a:prstGeom prst="rect">
            <a:avLst/>
          </a:prstGeom>
          <a:noFill/>
          <a:ln/>
        </p:spPr>
        <p:txBody>
          <a:bodyPr wrap="square" lIns="0" tIns="0" rIns="0" bIns="0" rtlCol="0" anchor="ctr">
            <a:normAutofit/>
          </a:bodyPr>
          <a:lstStyle/>
          <a:p>
            <a:pPr indent="0" marL="0">
              <a:buNone/>
            </a:pPr>
            <a:r>
              <a:rPr lang="en-US" sz="1700" b="1" dirty="0">
                <a:solidFill>
                  <a:srgbClr val="A84350"/>
                </a:solidFill>
                <a:latin typeface="Malgun Gothic" pitchFamily="34" charset="0"/>
                <a:ea typeface="Malgun Gothic" pitchFamily="34" charset="-122"/>
                <a:cs typeface="Malgun Gothic" pitchFamily="34" charset="-120"/>
              </a:rPr>
              <a:t>입증되지 않은 핵심</a:t>
            </a:r>
            <a:endParaRPr lang="en-US" sz="1700" dirty="0"/>
          </a:p>
        </p:txBody>
      </p:sp>
      <p:sp>
        <p:nvSpPr>
          <p:cNvPr id="26" name="Text 24"/>
          <p:cNvSpPr/>
          <p:nvPr/>
        </p:nvSpPr>
        <p:spPr>
          <a:xfrm>
            <a:off x="6583680" y="4389120"/>
            <a:ext cx="4718304" cy="914400"/>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실사용 Top-1 동일 모델 정확도·구매 전환율</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판매처 검색은 실제 재검사에서 사용량 제한 발생</a:t>
            </a:r>
            <a:endParaRPr lang="en-US" sz="1500" dirty="0"/>
          </a:p>
        </p:txBody>
      </p:sp>
      <p:sp>
        <p:nvSpPr>
          <p:cNvPr id="27" name="Shape 25"/>
          <p:cNvSpPr/>
          <p:nvPr/>
        </p:nvSpPr>
        <p:spPr>
          <a:xfrm>
            <a:off x="548640" y="5824728"/>
            <a:ext cx="11082528" cy="438912"/>
          </a:xfrm>
          <a:prstGeom prst="roundRect">
            <a:avLst>
              <a:gd name="adj" fmla="val 33333"/>
            </a:avLst>
          </a:prstGeom>
          <a:solidFill>
            <a:srgbClr val="EEE9FD"/>
          </a:solidFill>
          <a:ln w="7620">
            <a:solidFill>
              <a:srgbClr val="EEE9FD"/>
            </a:solidFill>
            <a:prstDash val="solid"/>
          </a:ln>
        </p:spPr>
      </p:sp>
      <p:sp>
        <p:nvSpPr>
          <p:cNvPr id="28" name="Text 26"/>
          <p:cNvSpPr/>
          <p:nvPr/>
        </p:nvSpPr>
        <p:spPr>
          <a:xfrm>
            <a:off x="731520" y="5916168"/>
            <a:ext cx="10698480" cy="237744"/>
          </a:xfrm>
          <a:prstGeom prst="rect">
            <a:avLst/>
          </a:prstGeom>
          <a:noFill/>
          <a:ln/>
        </p:spPr>
        <p:txBody>
          <a:bodyPr wrap="square" lIns="0" tIns="0" rIns="0" bIns="0" rtlCol="0" anchor="ctr">
            <a:normAutofit/>
          </a:bodyPr>
          <a:lstStyle/>
          <a:p>
            <a:pPr indent="0" marL="0">
              <a:buNone/>
            </a:pPr>
            <a:r>
              <a:rPr lang="en-US" sz="1140" b="1" dirty="0">
                <a:solidFill>
                  <a:srgbClr val="7150E8"/>
                </a:solidFill>
                <a:latin typeface="Malgun Gothic" pitchFamily="34" charset="0"/>
                <a:ea typeface="Malgun Gothic" pitchFamily="34" charset="-122"/>
                <a:cs typeface="Malgun Gothic" pitchFamily="34" charset="-120"/>
              </a:rPr>
              <a:t>테스트 개수 ≠ AI 정확도. 성공 사례 하나 ≠ 전 상품·전 기기에서의 품질 보증.</a:t>
            </a:r>
            <a:endParaRPr lang="en-US" sz="114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548640" y="274320"/>
            <a:ext cx="10058400" cy="228600"/>
          </a:xfrm>
          <a:prstGeom prst="rect">
            <a:avLst/>
          </a:prstGeom>
          <a:noFill/>
          <a:ln/>
        </p:spPr>
        <p:txBody>
          <a:bodyPr wrap="square" lIns="0" tIns="0" rIns="0" bIns="0" rtlCol="0" anchor="ctr">
            <a:normAutofit/>
          </a:bodyPr>
          <a:lstStyle/>
          <a:p>
            <a:pPr indent="0" marL="0">
              <a:buNone/>
            </a:pPr>
            <a:r>
              <a:rPr lang="en-US" sz="900" b="1" spc="160" kern="0" dirty="0">
                <a:solidFill>
                  <a:srgbClr val="7150E8"/>
                </a:solidFill>
                <a:latin typeface="Malgun Gothic" pitchFamily="34" charset="0"/>
                <a:ea typeface="Malgun Gothic" pitchFamily="34" charset="-122"/>
                <a:cs typeface="Malgun Gothic" pitchFamily="34" charset="-120"/>
              </a:rPr>
              <a:t>01 / GAPS THAT BLOCK VALUE</a:t>
            </a:r>
            <a:endParaRPr lang="en-US" sz="900" dirty="0"/>
          </a:p>
        </p:txBody>
      </p:sp>
      <p:sp>
        <p:nvSpPr>
          <p:cNvPr id="3" name="Text 1"/>
          <p:cNvSpPr/>
          <p:nvPr/>
        </p:nvSpPr>
        <p:spPr>
          <a:xfrm>
            <a:off x="548640" y="758952"/>
            <a:ext cx="11082528" cy="795528"/>
          </a:xfrm>
          <a:prstGeom prst="rect">
            <a:avLst/>
          </a:prstGeom>
          <a:noFill/>
          <a:ln/>
        </p:spPr>
        <p:txBody>
          <a:bodyPr wrap="square" lIns="0" tIns="0" rIns="0" bIns="0" rtlCol="0" anchor="ctr">
            <a:normAutofit/>
          </a:bodyPr>
          <a:lstStyle/>
          <a:p>
            <a:pPr indent="0" marL="0">
              <a:buNone/>
            </a:pPr>
            <a:r>
              <a:rPr lang="en-US" sz="2700" b="1" dirty="0">
                <a:solidFill>
                  <a:srgbClr val="20243A"/>
                </a:solidFill>
                <a:latin typeface="Malgun Gothic" pitchFamily="34" charset="0"/>
                <a:ea typeface="Malgun Gothic" pitchFamily="34" charset="-122"/>
                <a:cs typeface="Malgun Gothic" pitchFamily="34" charset="-120"/>
              </a:rPr>
              <a:t>P0는 정확도·상품 데이터·결과 표현의 동시 개선</a:t>
            </a:r>
            <a:endParaRPr lang="en-US" sz="2700" dirty="0"/>
          </a:p>
        </p:txBody>
      </p:sp>
      <p:sp>
        <p:nvSpPr>
          <p:cNvPr id="4" name="Shape 2"/>
          <p:cNvSpPr/>
          <p:nvPr/>
        </p:nvSpPr>
        <p:spPr>
          <a:xfrm>
            <a:off x="548640" y="1682496"/>
            <a:ext cx="11064240" cy="0"/>
          </a:xfrm>
          <a:prstGeom prst="line">
            <a:avLst/>
          </a:prstGeom>
          <a:noFill/>
          <a:ln w="12700">
            <a:solidFill>
              <a:srgbClr val="DDE2ED"/>
            </a:solidFill>
            <a:prstDash val="solid"/>
          </a:ln>
        </p:spPr>
      </p:sp>
      <p:sp>
        <p:nvSpPr>
          <p:cNvPr id="5" name="Text 3"/>
          <p:cNvSpPr/>
          <p:nvPr/>
        </p:nvSpPr>
        <p:spPr>
          <a:xfrm>
            <a:off x="548640" y="6519672"/>
            <a:ext cx="8869680" cy="164592"/>
          </a:xfrm>
          <a:prstGeom prst="rect">
            <a:avLst/>
          </a:prstGeom>
          <a:noFill/>
          <a:ln/>
        </p:spPr>
        <p:txBody>
          <a:bodyPr wrap="square" lIns="0" tIns="0" rIns="0" bIns="0" rtlCol="0" anchor="ctr">
            <a:normAutofit/>
          </a:bodyPr>
          <a:lstStyle/>
          <a:p>
            <a:pPr indent="0" marL="0">
              <a:buNone/>
            </a:pPr>
            <a:r>
              <a:rPr lang="en-US" sz="800" dirty="0">
                <a:solidFill>
                  <a:srgbClr val="677087"/>
                </a:solidFill>
                <a:latin typeface="Malgun Gothic" pitchFamily="34" charset="0"/>
                <a:ea typeface="Malgun Gothic" pitchFamily="34" charset="-122"/>
                <a:cs typeface="Malgun Gothic" pitchFamily="34" charset="-120"/>
              </a:rPr>
              <a:t>CleanTouch  |  사업화 현황 진단  |  2026.10.15</a:t>
            </a:r>
            <a:endParaRPr lang="en-US" sz="800" dirty="0"/>
          </a:p>
        </p:txBody>
      </p:sp>
      <p:sp>
        <p:nvSpPr>
          <p:cNvPr id="6" name="Text 4"/>
          <p:cNvSpPr/>
          <p:nvPr/>
        </p:nvSpPr>
        <p:spPr>
          <a:xfrm>
            <a:off x="10698480" y="6501384"/>
            <a:ext cx="914400" cy="182880"/>
          </a:xfrm>
          <a:prstGeom prst="rect">
            <a:avLst/>
          </a:prstGeom>
          <a:noFill/>
          <a:ln/>
        </p:spPr>
        <p:txBody>
          <a:bodyPr wrap="square" lIns="0" tIns="0" rIns="0" bIns="0" rtlCol="0" anchor="ctr">
            <a:normAutofit/>
          </a:bodyPr>
          <a:lstStyle/>
          <a:p>
            <a:pPr algn="r" indent="0" marL="0">
              <a:buNone/>
            </a:pPr>
            <a:r>
              <a:rPr lang="en-US" sz="800" dirty="0">
                <a:solidFill>
                  <a:srgbClr val="677087"/>
                </a:solidFill>
                <a:latin typeface="Malgun Gothic" pitchFamily="34" charset="0"/>
                <a:ea typeface="Malgun Gothic" pitchFamily="34" charset="-122"/>
                <a:cs typeface="Malgun Gothic" pitchFamily="34" charset="-120"/>
              </a:rPr>
              <a:t>07 / 24</a:t>
            </a:r>
            <a:endParaRPr lang="en-US" sz="800" dirty="0"/>
          </a:p>
        </p:txBody>
      </p:sp>
      <p:sp>
        <p:nvSpPr>
          <p:cNvPr id="7" name="Shape 5"/>
          <p:cNvSpPr/>
          <p:nvPr/>
        </p:nvSpPr>
        <p:spPr>
          <a:xfrm>
            <a:off x="548640" y="1901952"/>
            <a:ext cx="5413248" cy="1700784"/>
          </a:xfrm>
          <a:prstGeom prst="roundRect">
            <a:avLst>
              <a:gd name="adj" fmla="val 8602"/>
            </a:avLst>
          </a:prstGeom>
          <a:solidFill>
            <a:srgbClr val="FFFFFF"/>
          </a:solidFill>
          <a:ln w="7620">
            <a:solidFill>
              <a:srgbClr val="DDE2ED"/>
            </a:solidFill>
            <a:prstDash val="solid"/>
          </a:ln>
        </p:spPr>
      </p:sp>
      <p:sp>
        <p:nvSpPr>
          <p:cNvPr id="8" name="Shape 6"/>
          <p:cNvSpPr/>
          <p:nvPr/>
        </p:nvSpPr>
        <p:spPr>
          <a:xfrm>
            <a:off x="713232" y="2112264"/>
            <a:ext cx="41148" cy="1280160"/>
          </a:xfrm>
          <a:prstGeom prst="rect">
            <a:avLst/>
          </a:prstGeom>
          <a:solidFill>
            <a:srgbClr val="7150E8"/>
          </a:solidFill>
          <a:ln w="12700">
            <a:solidFill>
              <a:srgbClr val="7150E8">
                <a:alpha val="0"/>
              </a:srgbClr>
            </a:solidFill>
            <a:prstDash val="solid"/>
          </a:ln>
        </p:spPr>
      </p:sp>
      <p:sp>
        <p:nvSpPr>
          <p:cNvPr id="9" name="Text 7"/>
          <p:cNvSpPr/>
          <p:nvPr/>
        </p:nvSpPr>
        <p:spPr>
          <a:xfrm>
            <a:off x="914400" y="2103120"/>
            <a:ext cx="4773168" cy="338328"/>
          </a:xfrm>
          <a:prstGeom prst="rect">
            <a:avLst/>
          </a:prstGeom>
          <a:noFill/>
          <a:ln/>
        </p:spPr>
        <p:txBody>
          <a:bodyPr wrap="square" lIns="0" tIns="0" rIns="0" bIns="0" rtlCol="0" anchor="ctr">
            <a:normAutofit/>
          </a:bodyPr>
          <a:lstStyle/>
          <a:p>
            <a:pPr indent="0" marL="0">
              <a:buNone/>
            </a:pPr>
            <a:r>
              <a:rPr lang="en-US" sz="1700" b="1" dirty="0">
                <a:solidFill>
                  <a:srgbClr val="7150E8"/>
                </a:solidFill>
                <a:latin typeface="Malgun Gothic" pitchFamily="34" charset="0"/>
                <a:ea typeface="Malgun Gothic" pitchFamily="34" charset="-122"/>
                <a:cs typeface="Malgun Gothic" pitchFamily="34" charset="-120"/>
              </a:rPr>
              <a:t>P0 · 상품 식별</a:t>
            </a:r>
            <a:endParaRPr lang="en-US" sz="1700" dirty="0"/>
          </a:p>
        </p:txBody>
      </p:sp>
      <p:sp>
        <p:nvSpPr>
          <p:cNvPr id="10" name="Text 8"/>
          <p:cNvSpPr/>
          <p:nvPr/>
        </p:nvSpPr>
        <p:spPr>
          <a:xfrm>
            <a:off x="914400" y="2679192"/>
            <a:ext cx="4718304" cy="758952"/>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색·종류만으로 모델을 확정할 수 없음</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선명한 전체 형태, 로고, 모델번호, 전후 맥락 필요</a:t>
            </a:r>
            <a:endParaRPr lang="en-US" sz="1500" dirty="0"/>
          </a:p>
        </p:txBody>
      </p:sp>
      <p:sp>
        <p:nvSpPr>
          <p:cNvPr id="11" name="Shape 9"/>
          <p:cNvSpPr/>
          <p:nvPr/>
        </p:nvSpPr>
        <p:spPr>
          <a:xfrm>
            <a:off x="6217920" y="1901952"/>
            <a:ext cx="5413248" cy="1700784"/>
          </a:xfrm>
          <a:prstGeom prst="roundRect">
            <a:avLst>
              <a:gd name="adj" fmla="val 8602"/>
            </a:avLst>
          </a:prstGeom>
          <a:solidFill>
            <a:srgbClr val="FFFFFF"/>
          </a:solidFill>
          <a:ln w="7620">
            <a:solidFill>
              <a:srgbClr val="DDE2ED"/>
            </a:solidFill>
            <a:prstDash val="solid"/>
          </a:ln>
        </p:spPr>
      </p:sp>
      <p:sp>
        <p:nvSpPr>
          <p:cNvPr id="12" name="Shape 10"/>
          <p:cNvSpPr/>
          <p:nvPr/>
        </p:nvSpPr>
        <p:spPr>
          <a:xfrm>
            <a:off x="6382512" y="2112264"/>
            <a:ext cx="41148" cy="1280160"/>
          </a:xfrm>
          <a:prstGeom prst="rect">
            <a:avLst/>
          </a:prstGeom>
          <a:solidFill>
            <a:srgbClr val="147D7A"/>
          </a:solidFill>
          <a:ln w="12700">
            <a:solidFill>
              <a:srgbClr val="147D7A">
                <a:alpha val="0"/>
              </a:srgbClr>
            </a:solidFill>
            <a:prstDash val="solid"/>
          </a:ln>
        </p:spPr>
      </p:sp>
      <p:sp>
        <p:nvSpPr>
          <p:cNvPr id="13" name="Text 11"/>
          <p:cNvSpPr/>
          <p:nvPr/>
        </p:nvSpPr>
        <p:spPr>
          <a:xfrm>
            <a:off x="6583680" y="2103120"/>
            <a:ext cx="4773168" cy="338328"/>
          </a:xfrm>
          <a:prstGeom prst="rect">
            <a:avLst/>
          </a:prstGeom>
          <a:noFill/>
          <a:ln/>
        </p:spPr>
        <p:txBody>
          <a:bodyPr wrap="square" lIns="0" tIns="0" rIns="0" bIns="0" rtlCol="0" anchor="ctr">
            <a:normAutofit/>
          </a:bodyPr>
          <a:lstStyle/>
          <a:p>
            <a:pPr indent="0" marL="0">
              <a:buNone/>
            </a:pPr>
            <a:r>
              <a:rPr lang="en-US" sz="1700" b="1" dirty="0">
                <a:solidFill>
                  <a:srgbClr val="147D7A"/>
                </a:solidFill>
                <a:latin typeface="Malgun Gothic" pitchFamily="34" charset="0"/>
                <a:ea typeface="Malgun Gothic" pitchFamily="34" charset="-122"/>
                <a:cs typeface="Malgun Gothic" pitchFamily="34" charset="-120"/>
              </a:rPr>
              <a:t>P0 · 검색 데이터</a:t>
            </a:r>
            <a:endParaRPr lang="en-US" sz="1700" dirty="0"/>
          </a:p>
        </p:txBody>
      </p:sp>
      <p:sp>
        <p:nvSpPr>
          <p:cNvPr id="14" name="Text 12"/>
          <p:cNvSpPr/>
          <p:nvPr/>
        </p:nvSpPr>
        <p:spPr>
          <a:xfrm>
            <a:off x="6583680" y="2679192"/>
            <a:ext cx="4718304" cy="758952"/>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실제 판매 SKU/옵션/URL이 없으면 검색어로 끝남</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제휴 피드·판매자 카탈로그·허용된 검색 공급 필요</a:t>
            </a:r>
            <a:endParaRPr lang="en-US" sz="1500" dirty="0"/>
          </a:p>
        </p:txBody>
      </p:sp>
      <p:sp>
        <p:nvSpPr>
          <p:cNvPr id="15" name="Shape 13"/>
          <p:cNvSpPr/>
          <p:nvPr/>
        </p:nvSpPr>
        <p:spPr>
          <a:xfrm>
            <a:off x="548640" y="3785616"/>
            <a:ext cx="5413248" cy="1700784"/>
          </a:xfrm>
          <a:prstGeom prst="roundRect">
            <a:avLst>
              <a:gd name="adj" fmla="val 8602"/>
            </a:avLst>
          </a:prstGeom>
          <a:solidFill>
            <a:srgbClr val="FFFFFF"/>
          </a:solidFill>
          <a:ln w="7620">
            <a:solidFill>
              <a:srgbClr val="DDE2ED"/>
            </a:solidFill>
            <a:prstDash val="solid"/>
          </a:ln>
        </p:spPr>
      </p:sp>
      <p:sp>
        <p:nvSpPr>
          <p:cNvPr id="16" name="Shape 14"/>
          <p:cNvSpPr/>
          <p:nvPr/>
        </p:nvSpPr>
        <p:spPr>
          <a:xfrm>
            <a:off x="713232" y="3995928"/>
            <a:ext cx="41148" cy="1280160"/>
          </a:xfrm>
          <a:prstGeom prst="rect">
            <a:avLst/>
          </a:prstGeom>
          <a:solidFill>
            <a:srgbClr val="7150E8"/>
          </a:solidFill>
          <a:ln w="12700">
            <a:solidFill>
              <a:srgbClr val="7150E8">
                <a:alpha val="0"/>
              </a:srgbClr>
            </a:solidFill>
            <a:prstDash val="solid"/>
          </a:ln>
        </p:spPr>
      </p:sp>
      <p:sp>
        <p:nvSpPr>
          <p:cNvPr id="17" name="Text 15"/>
          <p:cNvSpPr/>
          <p:nvPr/>
        </p:nvSpPr>
        <p:spPr>
          <a:xfrm>
            <a:off x="914400" y="3986784"/>
            <a:ext cx="4773168" cy="338328"/>
          </a:xfrm>
          <a:prstGeom prst="rect">
            <a:avLst/>
          </a:prstGeom>
          <a:noFill/>
          <a:ln/>
        </p:spPr>
        <p:txBody>
          <a:bodyPr wrap="square" lIns="0" tIns="0" rIns="0" bIns="0" rtlCol="0" anchor="ctr">
            <a:normAutofit/>
          </a:bodyPr>
          <a:lstStyle/>
          <a:p>
            <a:pPr indent="0" marL="0">
              <a:buNone/>
            </a:pPr>
            <a:r>
              <a:rPr lang="en-US" sz="1700" b="1" dirty="0">
                <a:solidFill>
                  <a:srgbClr val="7150E8"/>
                </a:solidFill>
                <a:latin typeface="Malgun Gothic" pitchFamily="34" charset="0"/>
                <a:ea typeface="Malgun Gothic" pitchFamily="34" charset="-122"/>
                <a:cs typeface="Malgun Gothic" pitchFamily="34" charset="-120"/>
              </a:rPr>
              <a:t>P0 · 결과의 정직성</a:t>
            </a:r>
            <a:endParaRPr lang="en-US" sz="1700" dirty="0"/>
          </a:p>
        </p:txBody>
      </p:sp>
      <p:sp>
        <p:nvSpPr>
          <p:cNvPr id="18" name="Text 16"/>
          <p:cNvSpPr/>
          <p:nvPr/>
        </p:nvSpPr>
        <p:spPr>
          <a:xfrm>
            <a:off x="914400" y="4562856"/>
            <a:ext cx="4718304" cy="758952"/>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같은 모델 근거 / 비슷한 외형 / 미확인 구분</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검색 실패를 구매 성공처럼 표시하지 않기</a:t>
            </a:r>
            <a:endParaRPr lang="en-US" sz="1500" dirty="0"/>
          </a:p>
        </p:txBody>
      </p:sp>
      <p:sp>
        <p:nvSpPr>
          <p:cNvPr id="19" name="Shape 17"/>
          <p:cNvSpPr/>
          <p:nvPr/>
        </p:nvSpPr>
        <p:spPr>
          <a:xfrm>
            <a:off x="6217920" y="3785616"/>
            <a:ext cx="5413248" cy="1700784"/>
          </a:xfrm>
          <a:prstGeom prst="roundRect">
            <a:avLst>
              <a:gd name="adj" fmla="val 8602"/>
            </a:avLst>
          </a:prstGeom>
          <a:solidFill>
            <a:srgbClr val="FFFFFF"/>
          </a:solidFill>
          <a:ln w="7620">
            <a:solidFill>
              <a:srgbClr val="DDE2ED"/>
            </a:solidFill>
            <a:prstDash val="solid"/>
          </a:ln>
        </p:spPr>
      </p:sp>
      <p:sp>
        <p:nvSpPr>
          <p:cNvPr id="20" name="Shape 18"/>
          <p:cNvSpPr/>
          <p:nvPr/>
        </p:nvSpPr>
        <p:spPr>
          <a:xfrm>
            <a:off x="6382512" y="3995928"/>
            <a:ext cx="41148" cy="1280160"/>
          </a:xfrm>
          <a:prstGeom prst="rect">
            <a:avLst/>
          </a:prstGeom>
          <a:solidFill>
            <a:srgbClr val="147D7A"/>
          </a:solidFill>
          <a:ln w="12700">
            <a:solidFill>
              <a:srgbClr val="147D7A">
                <a:alpha val="0"/>
              </a:srgbClr>
            </a:solidFill>
            <a:prstDash val="solid"/>
          </a:ln>
        </p:spPr>
      </p:sp>
      <p:sp>
        <p:nvSpPr>
          <p:cNvPr id="21" name="Text 19"/>
          <p:cNvSpPr/>
          <p:nvPr/>
        </p:nvSpPr>
        <p:spPr>
          <a:xfrm>
            <a:off x="6583680" y="3986784"/>
            <a:ext cx="4773168" cy="338328"/>
          </a:xfrm>
          <a:prstGeom prst="rect">
            <a:avLst/>
          </a:prstGeom>
          <a:noFill/>
          <a:ln/>
        </p:spPr>
        <p:txBody>
          <a:bodyPr wrap="square" lIns="0" tIns="0" rIns="0" bIns="0" rtlCol="0" anchor="ctr">
            <a:normAutofit/>
          </a:bodyPr>
          <a:lstStyle/>
          <a:p>
            <a:pPr indent="0" marL="0">
              <a:buNone/>
            </a:pPr>
            <a:r>
              <a:rPr lang="en-US" sz="1700" b="1" dirty="0">
                <a:solidFill>
                  <a:srgbClr val="147D7A"/>
                </a:solidFill>
                <a:latin typeface="Malgun Gothic" pitchFamily="34" charset="0"/>
                <a:ea typeface="Malgun Gothic" pitchFamily="34" charset="-122"/>
                <a:cs typeface="Malgun Gothic" pitchFamily="34" charset="-120"/>
              </a:rPr>
              <a:t>P1 · 제품 운영</a:t>
            </a:r>
            <a:endParaRPr lang="en-US" sz="1700" dirty="0"/>
          </a:p>
        </p:txBody>
      </p:sp>
      <p:sp>
        <p:nvSpPr>
          <p:cNvPr id="22" name="Text 20"/>
          <p:cNvSpPr/>
          <p:nvPr/>
        </p:nvSpPr>
        <p:spPr>
          <a:xfrm>
            <a:off x="6583680" y="4562856"/>
            <a:ext cx="4718304" cy="758952"/>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계정·권한·과금·분산 쿼터·장애 관측 미흡</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Android 실기기·버전/문서 정합성 검증 필요</a:t>
            </a:r>
            <a:endParaRPr lang="en-US" sz="1500" dirty="0"/>
          </a:p>
        </p:txBody>
      </p:sp>
      <p:sp>
        <p:nvSpPr>
          <p:cNvPr id="23" name="Shape 21"/>
          <p:cNvSpPr/>
          <p:nvPr/>
        </p:nvSpPr>
        <p:spPr>
          <a:xfrm>
            <a:off x="548640" y="5824728"/>
            <a:ext cx="11082528" cy="438912"/>
          </a:xfrm>
          <a:prstGeom prst="roundRect">
            <a:avLst>
              <a:gd name="adj" fmla="val 33333"/>
            </a:avLst>
          </a:prstGeom>
          <a:solidFill>
            <a:srgbClr val="EEE9FD"/>
          </a:solidFill>
          <a:ln w="7620">
            <a:solidFill>
              <a:srgbClr val="EEE9FD"/>
            </a:solidFill>
            <a:prstDash val="solid"/>
          </a:ln>
        </p:spPr>
      </p:sp>
      <p:sp>
        <p:nvSpPr>
          <p:cNvPr id="24" name="Text 22"/>
          <p:cNvSpPr/>
          <p:nvPr/>
        </p:nvSpPr>
        <p:spPr>
          <a:xfrm>
            <a:off x="731520" y="5916168"/>
            <a:ext cx="10698480" cy="237744"/>
          </a:xfrm>
          <a:prstGeom prst="rect">
            <a:avLst/>
          </a:prstGeom>
          <a:noFill/>
          <a:ln/>
        </p:spPr>
        <p:txBody>
          <a:bodyPr wrap="square" lIns="0" tIns="0" rIns="0" bIns="0" rtlCol="0" anchor="ctr">
            <a:normAutofit/>
          </a:bodyPr>
          <a:lstStyle/>
          <a:p>
            <a:pPr indent="0" marL="0">
              <a:buNone/>
            </a:pPr>
            <a:r>
              <a:rPr lang="en-US" sz="1140" b="1" dirty="0">
                <a:solidFill>
                  <a:srgbClr val="7150E8"/>
                </a:solidFill>
                <a:latin typeface="Malgun Gothic" pitchFamily="34" charset="0"/>
                <a:ea typeface="Malgun Gothic" pitchFamily="34" charset="-122"/>
                <a:cs typeface="Malgun Gothic" pitchFamily="34" charset="-120"/>
              </a:rPr>
              <a:t>직전 구매 개선 코드는 로컬 수정·테스트 단계. 최신 설치본·공개 서버에 반영됐다고 보지 않는다.</a:t>
            </a:r>
            <a:endParaRPr lang="en-US" sz="114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548640" y="274320"/>
            <a:ext cx="10058400" cy="228600"/>
          </a:xfrm>
          <a:prstGeom prst="rect">
            <a:avLst/>
          </a:prstGeom>
          <a:noFill/>
          <a:ln/>
        </p:spPr>
        <p:txBody>
          <a:bodyPr wrap="square" lIns="0" tIns="0" rIns="0" bIns="0" rtlCol="0" anchor="ctr">
            <a:normAutofit/>
          </a:bodyPr>
          <a:lstStyle/>
          <a:p>
            <a:pPr indent="0" marL="0">
              <a:buNone/>
            </a:pPr>
            <a:r>
              <a:rPr lang="en-US" sz="900" b="1" spc="160" kern="0" dirty="0">
                <a:solidFill>
                  <a:srgbClr val="7150E8"/>
                </a:solidFill>
                <a:latin typeface="Malgun Gothic" pitchFamily="34" charset="0"/>
                <a:ea typeface="Malgun Gothic" pitchFamily="34" charset="-122"/>
                <a:cs typeface="Malgun Gothic" pitchFamily="34" charset="-120"/>
              </a:rPr>
              <a:t>02 / TARGET PRODUCT ENGINE</a:t>
            </a:r>
            <a:endParaRPr lang="en-US" sz="900" dirty="0"/>
          </a:p>
        </p:txBody>
      </p:sp>
      <p:sp>
        <p:nvSpPr>
          <p:cNvPr id="3" name="Text 1"/>
          <p:cNvSpPr/>
          <p:nvPr/>
        </p:nvSpPr>
        <p:spPr>
          <a:xfrm>
            <a:off x="548640" y="758952"/>
            <a:ext cx="11082528" cy="795528"/>
          </a:xfrm>
          <a:prstGeom prst="rect">
            <a:avLst/>
          </a:prstGeom>
          <a:noFill/>
          <a:ln/>
        </p:spPr>
        <p:txBody>
          <a:bodyPr wrap="square" lIns="0" tIns="0" rIns="0" bIns="0" rtlCol="0" anchor="ctr">
            <a:normAutofit/>
          </a:bodyPr>
          <a:lstStyle/>
          <a:p>
            <a:pPr indent="0" marL="0">
              <a:buNone/>
            </a:pPr>
            <a:r>
              <a:rPr lang="en-US" sz="2700" b="1" dirty="0">
                <a:solidFill>
                  <a:srgbClr val="20243A"/>
                </a:solidFill>
                <a:latin typeface="Malgun Gothic" pitchFamily="34" charset="0"/>
                <a:ea typeface="Malgun Gothic" pitchFamily="34" charset="-122"/>
                <a:cs typeface="Malgun Gothic" pitchFamily="34" charset="-120"/>
              </a:rPr>
              <a:t>다음 엔진은 상품명 추정을 넘어, 같은 상품과 옵션을 찾아야 한다</a:t>
            </a:r>
            <a:endParaRPr lang="en-US" sz="2700" dirty="0"/>
          </a:p>
        </p:txBody>
      </p:sp>
      <p:sp>
        <p:nvSpPr>
          <p:cNvPr id="4" name="Shape 2"/>
          <p:cNvSpPr/>
          <p:nvPr/>
        </p:nvSpPr>
        <p:spPr>
          <a:xfrm>
            <a:off x="548640" y="1682496"/>
            <a:ext cx="11064240" cy="0"/>
          </a:xfrm>
          <a:prstGeom prst="line">
            <a:avLst/>
          </a:prstGeom>
          <a:noFill/>
          <a:ln w="12700">
            <a:solidFill>
              <a:srgbClr val="DDE2ED"/>
            </a:solidFill>
            <a:prstDash val="solid"/>
          </a:ln>
        </p:spPr>
      </p:sp>
      <p:sp>
        <p:nvSpPr>
          <p:cNvPr id="5" name="Text 3"/>
          <p:cNvSpPr/>
          <p:nvPr/>
        </p:nvSpPr>
        <p:spPr>
          <a:xfrm>
            <a:off x="548640" y="6519672"/>
            <a:ext cx="8869680" cy="164592"/>
          </a:xfrm>
          <a:prstGeom prst="rect">
            <a:avLst/>
          </a:prstGeom>
          <a:noFill/>
          <a:ln/>
        </p:spPr>
        <p:txBody>
          <a:bodyPr wrap="square" lIns="0" tIns="0" rIns="0" bIns="0" rtlCol="0" anchor="ctr">
            <a:normAutofit/>
          </a:bodyPr>
          <a:lstStyle/>
          <a:p>
            <a:pPr indent="0" marL="0">
              <a:buNone/>
            </a:pPr>
            <a:r>
              <a:rPr lang="en-US" sz="800" dirty="0">
                <a:solidFill>
                  <a:srgbClr val="677087"/>
                </a:solidFill>
                <a:latin typeface="Malgun Gothic" pitchFamily="34" charset="0"/>
                <a:ea typeface="Malgun Gothic" pitchFamily="34" charset="-122"/>
                <a:cs typeface="Malgun Gothic" pitchFamily="34" charset="-120"/>
              </a:rPr>
              <a:t>CleanTouch  |  사업화 현황 진단  |  2026.10.15</a:t>
            </a:r>
            <a:endParaRPr lang="en-US" sz="800" dirty="0"/>
          </a:p>
        </p:txBody>
      </p:sp>
      <p:sp>
        <p:nvSpPr>
          <p:cNvPr id="6" name="Text 4"/>
          <p:cNvSpPr/>
          <p:nvPr/>
        </p:nvSpPr>
        <p:spPr>
          <a:xfrm>
            <a:off x="10698480" y="6501384"/>
            <a:ext cx="914400" cy="182880"/>
          </a:xfrm>
          <a:prstGeom prst="rect">
            <a:avLst/>
          </a:prstGeom>
          <a:noFill/>
          <a:ln/>
        </p:spPr>
        <p:txBody>
          <a:bodyPr wrap="square" lIns="0" tIns="0" rIns="0" bIns="0" rtlCol="0" anchor="ctr">
            <a:normAutofit/>
          </a:bodyPr>
          <a:lstStyle/>
          <a:p>
            <a:pPr algn="r" indent="0" marL="0">
              <a:buNone/>
            </a:pPr>
            <a:r>
              <a:rPr lang="en-US" sz="800" dirty="0">
                <a:solidFill>
                  <a:srgbClr val="677087"/>
                </a:solidFill>
                <a:latin typeface="Malgun Gothic" pitchFamily="34" charset="0"/>
                <a:ea typeface="Malgun Gothic" pitchFamily="34" charset="-122"/>
                <a:cs typeface="Malgun Gothic" pitchFamily="34" charset="-120"/>
              </a:rPr>
              <a:t>08 / 24</a:t>
            </a:r>
            <a:endParaRPr lang="en-US" sz="800" dirty="0"/>
          </a:p>
        </p:txBody>
      </p:sp>
      <p:sp>
        <p:nvSpPr>
          <p:cNvPr id="7" name="Text 5"/>
          <p:cNvSpPr/>
          <p:nvPr/>
        </p:nvSpPr>
        <p:spPr>
          <a:xfrm>
            <a:off x="594360" y="6364224"/>
            <a:ext cx="10881360" cy="118872"/>
          </a:xfrm>
          <a:prstGeom prst="rect">
            <a:avLst/>
          </a:prstGeom>
          <a:noFill/>
          <a:ln/>
        </p:spPr>
        <p:txBody>
          <a:bodyPr wrap="square" lIns="0" tIns="0" rIns="0" bIns="0" rtlCol="0" anchor="ctr">
            <a:normAutofit/>
          </a:bodyPr>
          <a:lstStyle/>
          <a:p>
            <a:pPr indent="0" marL="0">
              <a:buNone/>
            </a:pPr>
            <a:r>
              <a:rPr lang="en-US" sz="700" dirty="0">
                <a:solidFill>
                  <a:srgbClr val="677087"/>
                </a:solidFill>
                <a:latin typeface="Malgun Gothic" pitchFamily="34" charset="0"/>
                <a:ea typeface="Malgun Gothic" pitchFamily="34" charset="-122"/>
                <a:cs typeface="Malgun Gothic" pitchFamily="34" charset="-120"/>
              </a:rPr>
              <a:t>S5 Google · Vision API Product Search</a:t>
            </a:r>
            <a:endParaRPr lang="en-US" sz="700" dirty="0"/>
          </a:p>
        </p:txBody>
      </p:sp>
      <p:sp>
        <p:nvSpPr>
          <p:cNvPr id="8" name="Shape 6"/>
          <p:cNvSpPr/>
          <p:nvPr/>
        </p:nvSpPr>
        <p:spPr>
          <a:xfrm>
            <a:off x="548640" y="1938528"/>
            <a:ext cx="2048256" cy="1536192"/>
          </a:xfrm>
          <a:prstGeom prst="roundRect">
            <a:avLst>
              <a:gd name="adj" fmla="val 9524"/>
            </a:avLst>
          </a:prstGeom>
          <a:solidFill>
            <a:srgbClr val="FFFFFF"/>
          </a:solidFill>
          <a:ln w="7620">
            <a:solidFill>
              <a:srgbClr val="DDE2ED"/>
            </a:solidFill>
            <a:prstDash val="solid"/>
          </a:ln>
        </p:spPr>
      </p:sp>
      <p:sp>
        <p:nvSpPr>
          <p:cNvPr id="9" name="Text 7"/>
          <p:cNvSpPr/>
          <p:nvPr/>
        </p:nvSpPr>
        <p:spPr>
          <a:xfrm>
            <a:off x="685800" y="2139696"/>
            <a:ext cx="1773936" cy="347472"/>
          </a:xfrm>
          <a:prstGeom prst="rect">
            <a:avLst/>
          </a:prstGeom>
          <a:noFill/>
          <a:ln/>
        </p:spPr>
        <p:txBody>
          <a:bodyPr wrap="square" lIns="0" tIns="0" rIns="0" bIns="0" rtlCol="0" anchor="ctr">
            <a:normAutofit/>
          </a:bodyPr>
          <a:lstStyle/>
          <a:p>
            <a:pPr algn="ctr" indent="0" marL="0">
              <a:buNone/>
            </a:pPr>
            <a:r>
              <a:rPr lang="en-US" sz="1600" b="1" dirty="0">
                <a:solidFill>
                  <a:srgbClr val="7150E8"/>
                </a:solidFill>
                <a:latin typeface="Malgun Gothic" pitchFamily="34" charset="0"/>
                <a:ea typeface="Malgun Gothic" pitchFamily="34" charset="-122"/>
                <a:cs typeface="Malgun Gothic" pitchFamily="34" charset="-120"/>
              </a:rPr>
              <a:t>관측 품질</a:t>
            </a:r>
            <a:endParaRPr lang="en-US" sz="1600" dirty="0"/>
          </a:p>
        </p:txBody>
      </p:sp>
      <p:sp>
        <p:nvSpPr>
          <p:cNvPr id="10" name="Text 8"/>
          <p:cNvSpPr/>
          <p:nvPr/>
        </p:nvSpPr>
        <p:spPr>
          <a:xfrm>
            <a:off x="685800" y="2679192"/>
            <a:ext cx="1773936" cy="530352"/>
          </a:xfrm>
          <a:prstGeom prst="rect">
            <a:avLst/>
          </a:prstGeom>
          <a:noFill/>
          <a:ln/>
        </p:spPr>
        <p:txBody>
          <a:bodyPr wrap="square" lIns="0" tIns="0" rIns="0" bIns="0" rtlCol="0" anchor="ctr">
            <a:normAutofit/>
          </a:bodyPr>
          <a:lstStyle/>
          <a:p>
            <a:pPr algn="ctr" indent="0" marL="0">
              <a:buNone/>
            </a:pPr>
            <a:r>
              <a:rPr lang="en-US" sz="1300" dirty="0">
                <a:solidFill>
                  <a:srgbClr val="20243A"/>
                </a:solidFill>
                <a:latin typeface="Malgun Gothic" pitchFamily="34" charset="0"/>
                <a:ea typeface="Malgun Gothic" pitchFamily="34" charset="-122"/>
                <a:cs typeface="Malgun Gothic" pitchFamily="34" charset="-120"/>
              </a:rPr>
              <a:t>선명한 컷·전체 형태</a:t>
            </a:r>
            <a:endParaRPr lang="en-US" sz="1300" dirty="0"/>
          </a:p>
          <a:p>
            <a:pPr algn="ctr" indent="0" marL="0">
              <a:buNone/>
            </a:pPr>
            <a:r>
              <a:rPr lang="en-US" sz="1300" dirty="0">
                <a:solidFill>
                  <a:srgbClr val="20243A"/>
                </a:solidFill>
                <a:latin typeface="Malgun Gothic" pitchFamily="34" charset="0"/>
                <a:ea typeface="Malgun Gothic" pitchFamily="34" charset="-122"/>
                <a:cs typeface="Malgun Gothic" pitchFamily="34" charset="-120"/>
              </a:rPr>
              <a:t>가림/반사·전후 검증</a:t>
            </a:r>
            <a:endParaRPr lang="en-US" sz="1300" dirty="0"/>
          </a:p>
        </p:txBody>
      </p:sp>
      <p:sp>
        <p:nvSpPr>
          <p:cNvPr id="11" name="Text 9"/>
          <p:cNvSpPr/>
          <p:nvPr/>
        </p:nvSpPr>
        <p:spPr>
          <a:xfrm>
            <a:off x="2606040" y="2505456"/>
            <a:ext cx="192024" cy="320040"/>
          </a:xfrm>
          <a:prstGeom prst="rect">
            <a:avLst/>
          </a:prstGeom>
          <a:noFill/>
          <a:ln/>
        </p:spPr>
        <p:txBody>
          <a:bodyPr wrap="square" lIns="0" tIns="0" rIns="0" bIns="0" rtlCol="0" anchor="ctr">
            <a:normAutofit/>
          </a:bodyPr>
          <a:lstStyle/>
          <a:p>
            <a:pPr algn="ctr" indent="0" marL="0">
              <a:buNone/>
            </a:pPr>
            <a:r>
              <a:rPr lang="en-US" sz="2200" dirty="0">
                <a:solidFill>
                  <a:srgbClr val="677087"/>
                </a:solidFill>
                <a:latin typeface="Malgun Gothic" pitchFamily="34" charset="0"/>
                <a:ea typeface="Malgun Gothic" pitchFamily="34" charset="-122"/>
                <a:cs typeface="Malgun Gothic" pitchFamily="34" charset="-120"/>
              </a:rPr>
              <a:t>›</a:t>
            </a:r>
            <a:endParaRPr lang="en-US" sz="2200" dirty="0"/>
          </a:p>
        </p:txBody>
      </p:sp>
      <p:sp>
        <p:nvSpPr>
          <p:cNvPr id="12" name="Shape 10"/>
          <p:cNvSpPr/>
          <p:nvPr/>
        </p:nvSpPr>
        <p:spPr>
          <a:xfrm>
            <a:off x="2807208" y="1938528"/>
            <a:ext cx="2048256" cy="1536192"/>
          </a:xfrm>
          <a:prstGeom prst="roundRect">
            <a:avLst>
              <a:gd name="adj" fmla="val 9524"/>
            </a:avLst>
          </a:prstGeom>
          <a:solidFill>
            <a:srgbClr val="FFFFFF"/>
          </a:solidFill>
          <a:ln w="7620">
            <a:solidFill>
              <a:srgbClr val="DDE2ED"/>
            </a:solidFill>
            <a:prstDash val="solid"/>
          </a:ln>
        </p:spPr>
      </p:sp>
      <p:sp>
        <p:nvSpPr>
          <p:cNvPr id="13" name="Text 11"/>
          <p:cNvSpPr/>
          <p:nvPr/>
        </p:nvSpPr>
        <p:spPr>
          <a:xfrm>
            <a:off x="2944368" y="2139696"/>
            <a:ext cx="1773936" cy="347472"/>
          </a:xfrm>
          <a:prstGeom prst="rect">
            <a:avLst/>
          </a:prstGeom>
          <a:noFill/>
          <a:ln/>
        </p:spPr>
        <p:txBody>
          <a:bodyPr wrap="square" lIns="0" tIns="0" rIns="0" bIns="0" rtlCol="0" anchor="ctr">
            <a:normAutofit/>
          </a:bodyPr>
          <a:lstStyle/>
          <a:p>
            <a:pPr algn="ctr" indent="0" marL="0">
              <a:buNone/>
            </a:pPr>
            <a:r>
              <a:rPr lang="en-US" sz="1600" b="1" dirty="0">
                <a:solidFill>
                  <a:srgbClr val="7150E8"/>
                </a:solidFill>
                <a:latin typeface="Malgun Gothic" pitchFamily="34" charset="0"/>
                <a:ea typeface="Malgun Gothic" pitchFamily="34" charset="-122"/>
                <a:cs typeface="Malgun Gothic" pitchFamily="34" charset="-120"/>
              </a:rPr>
              <a:t>식별 단서</a:t>
            </a:r>
            <a:endParaRPr lang="en-US" sz="1600" dirty="0"/>
          </a:p>
        </p:txBody>
      </p:sp>
      <p:sp>
        <p:nvSpPr>
          <p:cNvPr id="14" name="Text 12"/>
          <p:cNvSpPr/>
          <p:nvPr/>
        </p:nvSpPr>
        <p:spPr>
          <a:xfrm>
            <a:off x="2944368" y="2679192"/>
            <a:ext cx="1773936" cy="530352"/>
          </a:xfrm>
          <a:prstGeom prst="rect">
            <a:avLst/>
          </a:prstGeom>
          <a:noFill/>
          <a:ln/>
        </p:spPr>
        <p:txBody>
          <a:bodyPr wrap="square" lIns="0" tIns="0" rIns="0" bIns="0" rtlCol="0" anchor="ctr">
            <a:normAutofit/>
          </a:bodyPr>
          <a:lstStyle/>
          <a:p>
            <a:pPr algn="ctr" indent="0" marL="0">
              <a:buNone/>
            </a:pPr>
            <a:r>
              <a:rPr lang="en-US" sz="1300" dirty="0">
                <a:solidFill>
                  <a:srgbClr val="20243A"/>
                </a:solidFill>
                <a:latin typeface="Malgun Gothic" pitchFamily="34" charset="0"/>
                <a:ea typeface="Malgun Gothic" pitchFamily="34" charset="-122"/>
                <a:cs typeface="Malgun Gothic" pitchFamily="34" charset="-120"/>
              </a:rPr>
              <a:t>이미지 특징·문자 읽기</a:t>
            </a:r>
            <a:endParaRPr lang="en-US" sz="1300" dirty="0"/>
          </a:p>
          <a:p>
            <a:pPr algn="ctr" indent="0" marL="0">
              <a:buNone/>
            </a:pPr>
            <a:r>
              <a:rPr lang="en-US" sz="1300" dirty="0">
                <a:solidFill>
                  <a:srgbClr val="20243A"/>
                </a:solidFill>
                <a:latin typeface="Malgun Gothic" pitchFamily="34" charset="0"/>
                <a:ea typeface="Malgun Gothic" pitchFamily="34" charset="-122"/>
                <a:cs typeface="Malgun Gothic" pitchFamily="34" charset="-120"/>
              </a:rPr>
              <a:t>로고·모델번호</a:t>
            </a:r>
            <a:endParaRPr lang="en-US" sz="1300" dirty="0"/>
          </a:p>
        </p:txBody>
      </p:sp>
      <p:sp>
        <p:nvSpPr>
          <p:cNvPr id="15" name="Text 13"/>
          <p:cNvSpPr/>
          <p:nvPr/>
        </p:nvSpPr>
        <p:spPr>
          <a:xfrm>
            <a:off x="4864608" y="2505456"/>
            <a:ext cx="192024" cy="320040"/>
          </a:xfrm>
          <a:prstGeom prst="rect">
            <a:avLst/>
          </a:prstGeom>
          <a:noFill/>
          <a:ln/>
        </p:spPr>
        <p:txBody>
          <a:bodyPr wrap="square" lIns="0" tIns="0" rIns="0" bIns="0" rtlCol="0" anchor="ctr">
            <a:normAutofit/>
          </a:bodyPr>
          <a:lstStyle/>
          <a:p>
            <a:pPr algn="ctr" indent="0" marL="0">
              <a:buNone/>
            </a:pPr>
            <a:r>
              <a:rPr lang="en-US" sz="2200" dirty="0">
                <a:solidFill>
                  <a:srgbClr val="677087"/>
                </a:solidFill>
                <a:latin typeface="Malgun Gothic" pitchFamily="34" charset="0"/>
                <a:ea typeface="Malgun Gothic" pitchFamily="34" charset="-122"/>
                <a:cs typeface="Malgun Gothic" pitchFamily="34" charset="-120"/>
              </a:rPr>
              <a:t>›</a:t>
            </a:r>
            <a:endParaRPr lang="en-US" sz="2200" dirty="0"/>
          </a:p>
        </p:txBody>
      </p:sp>
      <p:sp>
        <p:nvSpPr>
          <p:cNvPr id="16" name="Shape 14"/>
          <p:cNvSpPr/>
          <p:nvPr/>
        </p:nvSpPr>
        <p:spPr>
          <a:xfrm>
            <a:off x="5065776" y="1938528"/>
            <a:ext cx="2048256" cy="1536192"/>
          </a:xfrm>
          <a:prstGeom prst="roundRect">
            <a:avLst>
              <a:gd name="adj" fmla="val 9524"/>
            </a:avLst>
          </a:prstGeom>
          <a:solidFill>
            <a:srgbClr val="FFFFFF"/>
          </a:solidFill>
          <a:ln w="7620">
            <a:solidFill>
              <a:srgbClr val="DDE2ED"/>
            </a:solidFill>
            <a:prstDash val="solid"/>
          </a:ln>
        </p:spPr>
      </p:sp>
      <p:sp>
        <p:nvSpPr>
          <p:cNvPr id="17" name="Text 15"/>
          <p:cNvSpPr/>
          <p:nvPr/>
        </p:nvSpPr>
        <p:spPr>
          <a:xfrm>
            <a:off x="5202936" y="2139696"/>
            <a:ext cx="1773936" cy="347472"/>
          </a:xfrm>
          <a:prstGeom prst="rect">
            <a:avLst/>
          </a:prstGeom>
          <a:noFill/>
          <a:ln/>
        </p:spPr>
        <p:txBody>
          <a:bodyPr wrap="square" lIns="0" tIns="0" rIns="0" bIns="0" rtlCol="0" anchor="ctr">
            <a:normAutofit/>
          </a:bodyPr>
          <a:lstStyle/>
          <a:p>
            <a:pPr algn="ctr" indent="0" marL="0">
              <a:buNone/>
            </a:pPr>
            <a:r>
              <a:rPr lang="en-US" sz="1600" b="1" dirty="0">
                <a:solidFill>
                  <a:srgbClr val="7150E8"/>
                </a:solidFill>
                <a:latin typeface="Malgun Gothic" pitchFamily="34" charset="0"/>
                <a:ea typeface="Malgun Gothic" pitchFamily="34" charset="-122"/>
                <a:cs typeface="Malgun Gothic" pitchFamily="34" charset="-120"/>
              </a:rPr>
              <a:t>후보 검색</a:t>
            </a:r>
            <a:endParaRPr lang="en-US" sz="1600" dirty="0"/>
          </a:p>
        </p:txBody>
      </p:sp>
      <p:sp>
        <p:nvSpPr>
          <p:cNvPr id="18" name="Text 16"/>
          <p:cNvSpPr/>
          <p:nvPr/>
        </p:nvSpPr>
        <p:spPr>
          <a:xfrm>
            <a:off x="5202936" y="2679192"/>
            <a:ext cx="1773936" cy="530352"/>
          </a:xfrm>
          <a:prstGeom prst="rect">
            <a:avLst/>
          </a:prstGeom>
          <a:noFill/>
          <a:ln/>
        </p:spPr>
        <p:txBody>
          <a:bodyPr wrap="square" lIns="0" tIns="0" rIns="0" bIns="0" rtlCol="0" anchor="ctr">
            <a:normAutofit/>
          </a:bodyPr>
          <a:lstStyle/>
          <a:p>
            <a:pPr algn="ctr" indent="0" marL="0">
              <a:buNone/>
            </a:pPr>
            <a:r>
              <a:rPr lang="en-US" sz="1300" dirty="0">
                <a:solidFill>
                  <a:srgbClr val="20243A"/>
                </a:solidFill>
                <a:latin typeface="Malgun Gothic" pitchFamily="34" charset="0"/>
                <a:ea typeface="Malgun Gothic" pitchFamily="34" charset="-122"/>
                <a:cs typeface="Malgun Gothic" pitchFamily="34" charset="-120"/>
              </a:rPr>
              <a:t>허가된 카탈로그</a:t>
            </a:r>
            <a:endParaRPr lang="en-US" sz="1300" dirty="0"/>
          </a:p>
          <a:p>
            <a:pPr algn="ctr" indent="0" marL="0">
              <a:buNone/>
            </a:pPr>
            <a:r>
              <a:rPr lang="en-US" sz="1300" dirty="0">
                <a:solidFill>
                  <a:srgbClr val="20243A"/>
                </a:solidFill>
                <a:latin typeface="Malgun Gothic" pitchFamily="34" charset="0"/>
                <a:ea typeface="Malgun Gothic" pitchFamily="34" charset="-122"/>
                <a:cs typeface="Malgun Gothic" pitchFamily="34" charset="-120"/>
              </a:rPr>
              <a:t>이미지+텍스트 검색</a:t>
            </a:r>
            <a:endParaRPr lang="en-US" sz="1300" dirty="0"/>
          </a:p>
        </p:txBody>
      </p:sp>
      <p:sp>
        <p:nvSpPr>
          <p:cNvPr id="19" name="Text 17"/>
          <p:cNvSpPr/>
          <p:nvPr/>
        </p:nvSpPr>
        <p:spPr>
          <a:xfrm>
            <a:off x="7123176" y="2505456"/>
            <a:ext cx="192024" cy="320040"/>
          </a:xfrm>
          <a:prstGeom prst="rect">
            <a:avLst/>
          </a:prstGeom>
          <a:noFill/>
          <a:ln/>
        </p:spPr>
        <p:txBody>
          <a:bodyPr wrap="square" lIns="0" tIns="0" rIns="0" bIns="0" rtlCol="0" anchor="ctr">
            <a:normAutofit/>
          </a:bodyPr>
          <a:lstStyle/>
          <a:p>
            <a:pPr algn="ctr" indent="0" marL="0">
              <a:buNone/>
            </a:pPr>
            <a:r>
              <a:rPr lang="en-US" sz="2200" dirty="0">
                <a:solidFill>
                  <a:srgbClr val="677087"/>
                </a:solidFill>
                <a:latin typeface="Malgun Gothic" pitchFamily="34" charset="0"/>
                <a:ea typeface="Malgun Gothic" pitchFamily="34" charset="-122"/>
                <a:cs typeface="Malgun Gothic" pitchFamily="34" charset="-120"/>
              </a:rPr>
              <a:t>›</a:t>
            </a:r>
            <a:endParaRPr lang="en-US" sz="2200" dirty="0"/>
          </a:p>
        </p:txBody>
      </p:sp>
      <p:sp>
        <p:nvSpPr>
          <p:cNvPr id="20" name="Shape 18"/>
          <p:cNvSpPr/>
          <p:nvPr/>
        </p:nvSpPr>
        <p:spPr>
          <a:xfrm>
            <a:off x="7324344" y="1938528"/>
            <a:ext cx="2048256" cy="1536192"/>
          </a:xfrm>
          <a:prstGeom prst="roundRect">
            <a:avLst>
              <a:gd name="adj" fmla="val 9524"/>
            </a:avLst>
          </a:prstGeom>
          <a:solidFill>
            <a:srgbClr val="FFFFFF"/>
          </a:solidFill>
          <a:ln w="7620">
            <a:solidFill>
              <a:srgbClr val="DDE2ED"/>
            </a:solidFill>
            <a:prstDash val="solid"/>
          </a:ln>
        </p:spPr>
      </p:sp>
      <p:sp>
        <p:nvSpPr>
          <p:cNvPr id="21" name="Text 19"/>
          <p:cNvSpPr/>
          <p:nvPr/>
        </p:nvSpPr>
        <p:spPr>
          <a:xfrm>
            <a:off x="7461504" y="2139696"/>
            <a:ext cx="1773936" cy="347472"/>
          </a:xfrm>
          <a:prstGeom prst="rect">
            <a:avLst/>
          </a:prstGeom>
          <a:noFill/>
          <a:ln/>
        </p:spPr>
        <p:txBody>
          <a:bodyPr wrap="square" lIns="0" tIns="0" rIns="0" bIns="0" rtlCol="0" anchor="ctr">
            <a:normAutofit/>
          </a:bodyPr>
          <a:lstStyle/>
          <a:p>
            <a:pPr algn="ctr" indent="0" marL="0">
              <a:buNone/>
            </a:pPr>
            <a:r>
              <a:rPr lang="en-US" sz="1600" b="1" dirty="0">
                <a:solidFill>
                  <a:srgbClr val="7150E8"/>
                </a:solidFill>
                <a:latin typeface="Malgun Gothic" pitchFamily="34" charset="0"/>
                <a:ea typeface="Malgun Gothic" pitchFamily="34" charset="-122"/>
                <a:cs typeface="Malgun Gothic" pitchFamily="34" charset="-120"/>
              </a:rPr>
              <a:t>재검증</a:t>
            </a:r>
            <a:endParaRPr lang="en-US" sz="1600" dirty="0"/>
          </a:p>
        </p:txBody>
      </p:sp>
      <p:sp>
        <p:nvSpPr>
          <p:cNvPr id="22" name="Text 20"/>
          <p:cNvSpPr/>
          <p:nvPr/>
        </p:nvSpPr>
        <p:spPr>
          <a:xfrm>
            <a:off x="7461504" y="2679192"/>
            <a:ext cx="1773936" cy="530352"/>
          </a:xfrm>
          <a:prstGeom prst="rect">
            <a:avLst/>
          </a:prstGeom>
          <a:noFill/>
          <a:ln/>
        </p:spPr>
        <p:txBody>
          <a:bodyPr wrap="square" lIns="0" tIns="0" rIns="0" bIns="0" rtlCol="0" anchor="ctr">
            <a:normAutofit/>
          </a:bodyPr>
          <a:lstStyle/>
          <a:p>
            <a:pPr algn="ctr" indent="0" marL="0">
              <a:buNone/>
            </a:pPr>
            <a:r>
              <a:rPr lang="en-US" sz="1300" dirty="0">
                <a:solidFill>
                  <a:srgbClr val="20243A"/>
                </a:solidFill>
                <a:latin typeface="Malgun Gothic" pitchFamily="34" charset="0"/>
                <a:ea typeface="Malgun Gothic" pitchFamily="34" charset="-122"/>
                <a:cs typeface="Malgun Gothic" pitchFamily="34" charset="-120"/>
              </a:rPr>
              <a:t>실제 판매 사진 대조</a:t>
            </a:r>
            <a:endParaRPr lang="en-US" sz="1300" dirty="0"/>
          </a:p>
          <a:p>
            <a:pPr algn="ctr" indent="0" marL="0">
              <a:buNone/>
            </a:pPr>
            <a:r>
              <a:rPr lang="en-US" sz="1300" dirty="0">
                <a:solidFill>
                  <a:srgbClr val="20243A"/>
                </a:solidFill>
                <a:latin typeface="Malgun Gothic" pitchFamily="34" charset="0"/>
                <a:ea typeface="Malgun Gothic" pitchFamily="34" charset="-122"/>
                <a:cs typeface="Malgun Gothic" pitchFamily="34" charset="-120"/>
              </a:rPr>
              <a:t>상품 코드·옵션·국가</a:t>
            </a:r>
            <a:endParaRPr lang="en-US" sz="1300" dirty="0"/>
          </a:p>
        </p:txBody>
      </p:sp>
      <p:sp>
        <p:nvSpPr>
          <p:cNvPr id="23" name="Text 21"/>
          <p:cNvSpPr/>
          <p:nvPr/>
        </p:nvSpPr>
        <p:spPr>
          <a:xfrm>
            <a:off x="9381744" y="2505456"/>
            <a:ext cx="192024" cy="320040"/>
          </a:xfrm>
          <a:prstGeom prst="rect">
            <a:avLst/>
          </a:prstGeom>
          <a:noFill/>
          <a:ln/>
        </p:spPr>
        <p:txBody>
          <a:bodyPr wrap="square" lIns="0" tIns="0" rIns="0" bIns="0" rtlCol="0" anchor="ctr">
            <a:normAutofit/>
          </a:bodyPr>
          <a:lstStyle/>
          <a:p>
            <a:pPr algn="ctr" indent="0" marL="0">
              <a:buNone/>
            </a:pPr>
            <a:r>
              <a:rPr lang="en-US" sz="2200" dirty="0">
                <a:solidFill>
                  <a:srgbClr val="677087"/>
                </a:solidFill>
                <a:latin typeface="Malgun Gothic" pitchFamily="34" charset="0"/>
                <a:ea typeface="Malgun Gothic" pitchFamily="34" charset="-122"/>
                <a:cs typeface="Malgun Gothic" pitchFamily="34" charset="-120"/>
              </a:rPr>
              <a:t>›</a:t>
            </a:r>
            <a:endParaRPr lang="en-US" sz="2200" dirty="0"/>
          </a:p>
        </p:txBody>
      </p:sp>
      <p:sp>
        <p:nvSpPr>
          <p:cNvPr id="24" name="Shape 22"/>
          <p:cNvSpPr/>
          <p:nvPr/>
        </p:nvSpPr>
        <p:spPr>
          <a:xfrm>
            <a:off x="9582912" y="1938528"/>
            <a:ext cx="2048256" cy="1536192"/>
          </a:xfrm>
          <a:prstGeom prst="roundRect">
            <a:avLst>
              <a:gd name="adj" fmla="val 9524"/>
            </a:avLst>
          </a:prstGeom>
          <a:solidFill>
            <a:srgbClr val="EEE9FD"/>
          </a:solidFill>
          <a:ln w="7620">
            <a:solidFill>
              <a:srgbClr val="DDE2ED"/>
            </a:solidFill>
            <a:prstDash val="solid"/>
          </a:ln>
        </p:spPr>
      </p:sp>
      <p:sp>
        <p:nvSpPr>
          <p:cNvPr id="25" name="Text 23"/>
          <p:cNvSpPr/>
          <p:nvPr/>
        </p:nvSpPr>
        <p:spPr>
          <a:xfrm>
            <a:off x="9720072" y="2139696"/>
            <a:ext cx="1773936" cy="347472"/>
          </a:xfrm>
          <a:prstGeom prst="rect">
            <a:avLst/>
          </a:prstGeom>
          <a:noFill/>
          <a:ln/>
        </p:spPr>
        <p:txBody>
          <a:bodyPr wrap="square" lIns="0" tIns="0" rIns="0" bIns="0" rtlCol="0" anchor="ctr">
            <a:normAutofit/>
          </a:bodyPr>
          <a:lstStyle/>
          <a:p>
            <a:pPr algn="ctr" indent="0" marL="0">
              <a:buNone/>
            </a:pPr>
            <a:r>
              <a:rPr lang="en-US" sz="1600" b="1" dirty="0">
                <a:solidFill>
                  <a:srgbClr val="7150E8"/>
                </a:solidFill>
                <a:latin typeface="Malgun Gothic" pitchFamily="34" charset="0"/>
                <a:ea typeface="Malgun Gothic" pitchFamily="34" charset="-122"/>
                <a:cs typeface="Malgun Gothic" pitchFamily="34" charset="-120"/>
              </a:rPr>
              <a:t>근거 있는 결과</a:t>
            </a:r>
            <a:endParaRPr lang="en-US" sz="1600" dirty="0"/>
          </a:p>
        </p:txBody>
      </p:sp>
      <p:sp>
        <p:nvSpPr>
          <p:cNvPr id="26" name="Text 24"/>
          <p:cNvSpPr/>
          <p:nvPr/>
        </p:nvSpPr>
        <p:spPr>
          <a:xfrm>
            <a:off x="9720072" y="2679192"/>
            <a:ext cx="1773936" cy="530352"/>
          </a:xfrm>
          <a:prstGeom prst="rect">
            <a:avLst/>
          </a:prstGeom>
          <a:noFill/>
          <a:ln/>
        </p:spPr>
        <p:txBody>
          <a:bodyPr wrap="square" lIns="0" tIns="0" rIns="0" bIns="0" rtlCol="0" anchor="ctr">
            <a:normAutofit/>
          </a:bodyPr>
          <a:lstStyle/>
          <a:p>
            <a:pPr algn="ctr" indent="0" marL="0">
              <a:buNone/>
            </a:pPr>
            <a:r>
              <a:rPr lang="en-US" sz="1300" dirty="0">
                <a:solidFill>
                  <a:srgbClr val="20243A"/>
                </a:solidFill>
                <a:latin typeface="Malgun Gothic" pitchFamily="34" charset="0"/>
                <a:ea typeface="Malgun Gothic" pitchFamily="34" charset="-122"/>
                <a:cs typeface="Malgun Gothic" pitchFamily="34" charset="-120"/>
              </a:rPr>
              <a:t>상세 URL + 확인 시각</a:t>
            </a:r>
            <a:endParaRPr lang="en-US" sz="1300" dirty="0"/>
          </a:p>
          <a:p>
            <a:pPr algn="ctr" indent="0" marL="0">
              <a:buNone/>
            </a:pPr>
            <a:r>
              <a:rPr lang="en-US" sz="1300" dirty="0">
                <a:solidFill>
                  <a:srgbClr val="20243A"/>
                </a:solidFill>
                <a:latin typeface="Malgun Gothic" pitchFamily="34" charset="0"/>
                <a:ea typeface="Malgun Gothic" pitchFamily="34" charset="-122"/>
                <a:cs typeface="Malgun Gothic" pitchFamily="34" charset="-120"/>
              </a:rPr>
              <a:t>동일/유사/미확인</a:t>
            </a:r>
            <a:endParaRPr lang="en-US" sz="1300" dirty="0"/>
          </a:p>
        </p:txBody>
      </p:sp>
      <p:sp>
        <p:nvSpPr>
          <p:cNvPr id="27" name="Shape 25"/>
          <p:cNvSpPr/>
          <p:nvPr/>
        </p:nvSpPr>
        <p:spPr>
          <a:xfrm>
            <a:off x="548640" y="3730752"/>
            <a:ext cx="5413248" cy="1764792"/>
          </a:xfrm>
          <a:prstGeom prst="roundRect">
            <a:avLst>
              <a:gd name="adj" fmla="val 8290"/>
            </a:avLst>
          </a:prstGeom>
          <a:solidFill>
            <a:srgbClr val="FFFFFF"/>
          </a:solidFill>
          <a:ln w="7620">
            <a:solidFill>
              <a:srgbClr val="DDE2ED"/>
            </a:solidFill>
            <a:prstDash val="solid"/>
          </a:ln>
        </p:spPr>
      </p:sp>
      <p:sp>
        <p:nvSpPr>
          <p:cNvPr id="28" name="Shape 26"/>
          <p:cNvSpPr/>
          <p:nvPr/>
        </p:nvSpPr>
        <p:spPr>
          <a:xfrm>
            <a:off x="713232" y="3941064"/>
            <a:ext cx="41148" cy="1344168"/>
          </a:xfrm>
          <a:prstGeom prst="rect">
            <a:avLst/>
          </a:prstGeom>
          <a:solidFill>
            <a:srgbClr val="7150E8"/>
          </a:solidFill>
          <a:ln w="12700">
            <a:solidFill>
              <a:srgbClr val="7150E8">
                <a:alpha val="0"/>
              </a:srgbClr>
            </a:solidFill>
            <a:prstDash val="solid"/>
          </a:ln>
        </p:spPr>
      </p:sp>
      <p:sp>
        <p:nvSpPr>
          <p:cNvPr id="29" name="Text 27"/>
          <p:cNvSpPr/>
          <p:nvPr/>
        </p:nvSpPr>
        <p:spPr>
          <a:xfrm>
            <a:off x="914400" y="3931920"/>
            <a:ext cx="4773168" cy="338328"/>
          </a:xfrm>
          <a:prstGeom prst="rect">
            <a:avLst/>
          </a:prstGeom>
          <a:noFill/>
          <a:ln/>
        </p:spPr>
        <p:txBody>
          <a:bodyPr wrap="square" lIns="0" tIns="0" rIns="0" bIns="0" rtlCol="0" anchor="ctr">
            <a:normAutofit/>
          </a:bodyPr>
          <a:lstStyle/>
          <a:p>
            <a:pPr indent="0" marL="0">
              <a:buNone/>
            </a:pPr>
            <a:r>
              <a:rPr lang="en-US" sz="1700" b="1" dirty="0">
                <a:solidFill>
                  <a:srgbClr val="7150E8"/>
                </a:solidFill>
                <a:latin typeface="Malgun Gothic" pitchFamily="34" charset="0"/>
                <a:ea typeface="Malgun Gothic" pitchFamily="34" charset="-122"/>
                <a:cs typeface="Malgun Gothic" pitchFamily="34" charset="-120"/>
              </a:rPr>
              <a:t>동일 모델 후보</a:t>
            </a:r>
            <a:endParaRPr lang="en-US" sz="1700" dirty="0"/>
          </a:p>
        </p:txBody>
      </p:sp>
      <p:sp>
        <p:nvSpPr>
          <p:cNvPr id="30" name="Text 28"/>
          <p:cNvSpPr/>
          <p:nvPr/>
        </p:nvSpPr>
        <p:spPr>
          <a:xfrm>
            <a:off x="914400" y="4507992"/>
            <a:ext cx="4718304" cy="822960"/>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제품 ID·브랜드·모델 식별자와 옵션 근거를 함께 제시</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사진 유사도만으로 “100% 동일”을 만들지 않음</a:t>
            </a:r>
            <a:endParaRPr lang="en-US" sz="1500" dirty="0"/>
          </a:p>
        </p:txBody>
      </p:sp>
      <p:sp>
        <p:nvSpPr>
          <p:cNvPr id="31" name="Shape 29"/>
          <p:cNvSpPr/>
          <p:nvPr/>
        </p:nvSpPr>
        <p:spPr>
          <a:xfrm>
            <a:off x="6217920" y="3730752"/>
            <a:ext cx="5413248" cy="1764792"/>
          </a:xfrm>
          <a:prstGeom prst="roundRect">
            <a:avLst>
              <a:gd name="adj" fmla="val 8290"/>
            </a:avLst>
          </a:prstGeom>
          <a:solidFill>
            <a:srgbClr val="FFFFFF"/>
          </a:solidFill>
          <a:ln w="7620">
            <a:solidFill>
              <a:srgbClr val="DDE2ED"/>
            </a:solidFill>
            <a:prstDash val="solid"/>
          </a:ln>
        </p:spPr>
      </p:sp>
      <p:sp>
        <p:nvSpPr>
          <p:cNvPr id="32" name="Shape 30"/>
          <p:cNvSpPr/>
          <p:nvPr/>
        </p:nvSpPr>
        <p:spPr>
          <a:xfrm>
            <a:off x="6382512" y="3941064"/>
            <a:ext cx="41148" cy="1344168"/>
          </a:xfrm>
          <a:prstGeom prst="rect">
            <a:avLst/>
          </a:prstGeom>
          <a:solidFill>
            <a:srgbClr val="147D7A"/>
          </a:solidFill>
          <a:ln w="12700">
            <a:solidFill>
              <a:srgbClr val="147D7A">
                <a:alpha val="0"/>
              </a:srgbClr>
            </a:solidFill>
            <a:prstDash val="solid"/>
          </a:ln>
        </p:spPr>
      </p:sp>
      <p:sp>
        <p:nvSpPr>
          <p:cNvPr id="33" name="Text 31"/>
          <p:cNvSpPr/>
          <p:nvPr/>
        </p:nvSpPr>
        <p:spPr>
          <a:xfrm>
            <a:off x="6583680" y="3931920"/>
            <a:ext cx="4773168" cy="338328"/>
          </a:xfrm>
          <a:prstGeom prst="rect">
            <a:avLst/>
          </a:prstGeom>
          <a:noFill/>
          <a:ln/>
        </p:spPr>
        <p:txBody>
          <a:bodyPr wrap="square" lIns="0" tIns="0" rIns="0" bIns="0" rtlCol="0" anchor="ctr">
            <a:normAutofit/>
          </a:bodyPr>
          <a:lstStyle/>
          <a:p>
            <a:pPr indent="0" marL="0">
              <a:buNone/>
            </a:pPr>
            <a:r>
              <a:rPr lang="en-US" sz="1700" b="1" dirty="0">
                <a:solidFill>
                  <a:srgbClr val="147D7A"/>
                </a:solidFill>
                <a:latin typeface="Malgun Gothic" pitchFamily="34" charset="0"/>
                <a:ea typeface="Malgun Gothic" pitchFamily="34" charset="-122"/>
                <a:cs typeface="Malgun Gothic" pitchFamily="34" charset="-120"/>
              </a:rPr>
              <a:t>판단 불가 시</a:t>
            </a:r>
            <a:endParaRPr lang="en-US" sz="1700" dirty="0"/>
          </a:p>
        </p:txBody>
      </p:sp>
      <p:sp>
        <p:nvSpPr>
          <p:cNvPr id="34" name="Text 32"/>
          <p:cNvSpPr/>
          <p:nvPr/>
        </p:nvSpPr>
        <p:spPr>
          <a:xfrm>
            <a:off x="6583680" y="4507992"/>
            <a:ext cx="4718304" cy="822960"/>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추가 컷·로고 확대를 요청하거나 미확인으로 종료</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다른 상품을 확신하며 추천하는 것보다 안전</a:t>
            </a:r>
            <a:endParaRPr lang="en-US" sz="1500" dirty="0"/>
          </a:p>
        </p:txBody>
      </p:sp>
      <p:sp>
        <p:nvSpPr>
          <p:cNvPr id="35" name="Shape 33"/>
          <p:cNvSpPr/>
          <p:nvPr/>
        </p:nvSpPr>
        <p:spPr>
          <a:xfrm>
            <a:off x="548640" y="5824728"/>
            <a:ext cx="11082528" cy="438912"/>
          </a:xfrm>
          <a:prstGeom prst="roundRect">
            <a:avLst>
              <a:gd name="adj" fmla="val 33333"/>
            </a:avLst>
          </a:prstGeom>
          <a:solidFill>
            <a:srgbClr val="EEE9FD"/>
          </a:solidFill>
          <a:ln w="7620">
            <a:solidFill>
              <a:srgbClr val="EEE9FD"/>
            </a:solidFill>
            <a:prstDash val="solid"/>
          </a:ln>
        </p:spPr>
      </p:sp>
      <p:sp>
        <p:nvSpPr>
          <p:cNvPr id="36" name="Text 34"/>
          <p:cNvSpPr/>
          <p:nvPr/>
        </p:nvSpPr>
        <p:spPr>
          <a:xfrm>
            <a:off x="731520" y="5916168"/>
            <a:ext cx="10698480" cy="237744"/>
          </a:xfrm>
          <a:prstGeom prst="rect">
            <a:avLst/>
          </a:prstGeom>
          <a:noFill/>
          <a:ln/>
        </p:spPr>
        <p:txBody>
          <a:bodyPr wrap="square" lIns="0" tIns="0" rIns="0" bIns="0" rtlCol="0" anchor="ctr">
            <a:normAutofit/>
          </a:bodyPr>
          <a:lstStyle/>
          <a:p>
            <a:pPr indent="0" marL="0">
              <a:buNone/>
            </a:pPr>
            <a:r>
              <a:rPr lang="en-US" sz="1140" b="1" dirty="0">
                <a:solidFill>
                  <a:srgbClr val="7150E8"/>
                </a:solidFill>
                <a:latin typeface="Malgun Gothic" pitchFamily="34" charset="0"/>
                <a:ea typeface="Malgun Gothic" pitchFamily="34" charset="-122"/>
                <a:cs typeface="Malgun Gothic" pitchFamily="34" charset="-120"/>
              </a:rPr>
              <a:t>권고 구조이며 현재 전체 구현 완료 상태가 아니다. 전 세계 모든 상품의 동일 모델 보장은 제외한다.</a:t>
            </a:r>
            <a:endParaRPr lang="en-US" sz="11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548640" y="274320"/>
            <a:ext cx="10058400" cy="228600"/>
          </a:xfrm>
          <a:prstGeom prst="rect">
            <a:avLst/>
          </a:prstGeom>
          <a:noFill/>
          <a:ln/>
        </p:spPr>
        <p:txBody>
          <a:bodyPr wrap="square" lIns="0" tIns="0" rIns="0" bIns="0" rtlCol="0" anchor="ctr">
            <a:normAutofit/>
          </a:bodyPr>
          <a:lstStyle/>
          <a:p>
            <a:pPr indent="0" marL="0">
              <a:buNone/>
            </a:pPr>
            <a:r>
              <a:rPr lang="en-US" sz="900" b="1" spc="160" kern="0" dirty="0">
                <a:solidFill>
                  <a:srgbClr val="7150E8"/>
                </a:solidFill>
                <a:latin typeface="Malgun Gothic" pitchFamily="34" charset="0"/>
                <a:ea typeface="Malgun Gothic" pitchFamily="34" charset="-122"/>
                <a:cs typeface="Malgun Gothic" pitchFamily="34" charset="-120"/>
              </a:rPr>
              <a:t>02 / TWO DATA ROUTES</a:t>
            </a:r>
            <a:endParaRPr lang="en-US" sz="900" dirty="0"/>
          </a:p>
        </p:txBody>
      </p:sp>
      <p:sp>
        <p:nvSpPr>
          <p:cNvPr id="3" name="Text 1"/>
          <p:cNvSpPr/>
          <p:nvPr/>
        </p:nvSpPr>
        <p:spPr>
          <a:xfrm>
            <a:off x="548640" y="758952"/>
            <a:ext cx="11082528" cy="795528"/>
          </a:xfrm>
          <a:prstGeom prst="rect">
            <a:avLst/>
          </a:prstGeom>
          <a:noFill/>
          <a:ln/>
        </p:spPr>
        <p:txBody>
          <a:bodyPr wrap="square" lIns="0" tIns="0" rIns="0" bIns="0" rtlCol="0" anchor="ctr">
            <a:normAutofit/>
          </a:bodyPr>
          <a:lstStyle/>
          <a:p>
            <a:pPr indent="0" marL="0">
              <a:buNone/>
            </a:pPr>
            <a:r>
              <a:rPr lang="en-US" sz="2700" b="1" dirty="0">
                <a:solidFill>
                  <a:srgbClr val="20243A"/>
                </a:solidFill>
                <a:latin typeface="Malgun Gothic" pitchFamily="34" charset="0"/>
                <a:ea typeface="Malgun Gothic" pitchFamily="34" charset="-122"/>
                <a:cs typeface="Malgun Gothic" pitchFamily="34" charset="-120"/>
              </a:rPr>
              <a:t>자사 영상은 태그로 정확하게, 외부 영상은 검색으로 탐색</a:t>
            </a:r>
            <a:endParaRPr lang="en-US" sz="2700" dirty="0"/>
          </a:p>
        </p:txBody>
      </p:sp>
      <p:sp>
        <p:nvSpPr>
          <p:cNvPr id="4" name="Shape 2"/>
          <p:cNvSpPr/>
          <p:nvPr/>
        </p:nvSpPr>
        <p:spPr>
          <a:xfrm>
            <a:off x="548640" y="1682496"/>
            <a:ext cx="11064240" cy="0"/>
          </a:xfrm>
          <a:prstGeom prst="line">
            <a:avLst/>
          </a:prstGeom>
          <a:noFill/>
          <a:ln w="12700">
            <a:solidFill>
              <a:srgbClr val="DDE2ED"/>
            </a:solidFill>
            <a:prstDash val="solid"/>
          </a:ln>
        </p:spPr>
      </p:sp>
      <p:sp>
        <p:nvSpPr>
          <p:cNvPr id="5" name="Text 3"/>
          <p:cNvSpPr/>
          <p:nvPr/>
        </p:nvSpPr>
        <p:spPr>
          <a:xfrm>
            <a:off x="548640" y="6519672"/>
            <a:ext cx="8869680" cy="164592"/>
          </a:xfrm>
          <a:prstGeom prst="rect">
            <a:avLst/>
          </a:prstGeom>
          <a:noFill/>
          <a:ln/>
        </p:spPr>
        <p:txBody>
          <a:bodyPr wrap="square" lIns="0" tIns="0" rIns="0" bIns="0" rtlCol="0" anchor="ctr">
            <a:normAutofit/>
          </a:bodyPr>
          <a:lstStyle/>
          <a:p>
            <a:pPr indent="0" marL="0">
              <a:buNone/>
            </a:pPr>
            <a:r>
              <a:rPr lang="en-US" sz="800" dirty="0">
                <a:solidFill>
                  <a:srgbClr val="677087"/>
                </a:solidFill>
                <a:latin typeface="Malgun Gothic" pitchFamily="34" charset="0"/>
                <a:ea typeface="Malgun Gothic" pitchFamily="34" charset="-122"/>
                <a:cs typeface="Malgun Gothic" pitchFamily="34" charset="-120"/>
              </a:rPr>
              <a:t>CleanTouch  |  사업화 현황 진단  |  2026.10.15</a:t>
            </a:r>
            <a:endParaRPr lang="en-US" sz="800" dirty="0"/>
          </a:p>
        </p:txBody>
      </p:sp>
      <p:sp>
        <p:nvSpPr>
          <p:cNvPr id="6" name="Text 4"/>
          <p:cNvSpPr/>
          <p:nvPr/>
        </p:nvSpPr>
        <p:spPr>
          <a:xfrm>
            <a:off x="10698480" y="6501384"/>
            <a:ext cx="914400" cy="182880"/>
          </a:xfrm>
          <a:prstGeom prst="rect">
            <a:avLst/>
          </a:prstGeom>
          <a:noFill/>
          <a:ln/>
        </p:spPr>
        <p:txBody>
          <a:bodyPr wrap="square" lIns="0" tIns="0" rIns="0" bIns="0" rtlCol="0" anchor="ctr">
            <a:normAutofit/>
          </a:bodyPr>
          <a:lstStyle/>
          <a:p>
            <a:pPr algn="r" indent="0" marL="0">
              <a:buNone/>
            </a:pPr>
            <a:r>
              <a:rPr lang="en-US" sz="800" dirty="0">
                <a:solidFill>
                  <a:srgbClr val="677087"/>
                </a:solidFill>
                <a:latin typeface="Malgun Gothic" pitchFamily="34" charset="0"/>
                <a:ea typeface="Malgun Gothic" pitchFamily="34" charset="-122"/>
                <a:cs typeface="Malgun Gothic" pitchFamily="34" charset="-120"/>
              </a:rPr>
              <a:t>09 / 24</a:t>
            </a:r>
            <a:endParaRPr lang="en-US" sz="800" dirty="0"/>
          </a:p>
        </p:txBody>
      </p:sp>
      <p:sp>
        <p:nvSpPr>
          <p:cNvPr id="7" name="Text 5"/>
          <p:cNvSpPr/>
          <p:nvPr/>
        </p:nvSpPr>
        <p:spPr>
          <a:xfrm>
            <a:off x="594360" y="6364224"/>
            <a:ext cx="10881360" cy="118872"/>
          </a:xfrm>
          <a:prstGeom prst="rect">
            <a:avLst/>
          </a:prstGeom>
          <a:noFill/>
          <a:ln/>
        </p:spPr>
        <p:txBody>
          <a:bodyPr wrap="square" lIns="0" tIns="0" rIns="0" bIns="0" rtlCol="0" anchor="ctr">
            <a:normAutofit/>
          </a:bodyPr>
          <a:lstStyle/>
          <a:p>
            <a:pPr indent="0" marL="0">
              <a:buNone/>
            </a:pPr>
            <a:r>
              <a:rPr lang="en-US" sz="700" dirty="0">
                <a:solidFill>
                  <a:srgbClr val="677087"/>
                </a:solidFill>
                <a:latin typeface="Malgun Gothic" pitchFamily="34" charset="0"/>
                <a:ea typeface="Malgun Gothic" pitchFamily="34" charset="-122"/>
                <a:cs typeface="Malgun Gothic" pitchFamily="34" charset="-120"/>
              </a:rPr>
              <a:t>S5 Google · Vision API Product Search  ·  S6 Google · Ecommerce product data / Lens</a:t>
            </a:r>
            <a:endParaRPr lang="en-US" sz="700" dirty="0"/>
          </a:p>
        </p:txBody>
      </p:sp>
      <p:sp>
        <p:nvSpPr>
          <p:cNvPr id="8" name="Shape 6"/>
          <p:cNvSpPr/>
          <p:nvPr/>
        </p:nvSpPr>
        <p:spPr>
          <a:xfrm>
            <a:off x="548640" y="1901952"/>
            <a:ext cx="5413248" cy="1700784"/>
          </a:xfrm>
          <a:prstGeom prst="roundRect">
            <a:avLst>
              <a:gd name="adj" fmla="val 8602"/>
            </a:avLst>
          </a:prstGeom>
          <a:solidFill>
            <a:srgbClr val="FFFFFF"/>
          </a:solidFill>
          <a:ln w="7620">
            <a:solidFill>
              <a:srgbClr val="DDE2ED"/>
            </a:solidFill>
            <a:prstDash val="solid"/>
          </a:ln>
        </p:spPr>
      </p:sp>
      <p:sp>
        <p:nvSpPr>
          <p:cNvPr id="9" name="Shape 7"/>
          <p:cNvSpPr/>
          <p:nvPr/>
        </p:nvSpPr>
        <p:spPr>
          <a:xfrm>
            <a:off x="713232" y="2112264"/>
            <a:ext cx="41148" cy="1280160"/>
          </a:xfrm>
          <a:prstGeom prst="rect">
            <a:avLst/>
          </a:prstGeom>
          <a:solidFill>
            <a:srgbClr val="7150E8"/>
          </a:solidFill>
          <a:ln w="12700">
            <a:solidFill>
              <a:srgbClr val="7150E8">
                <a:alpha val="0"/>
              </a:srgbClr>
            </a:solidFill>
            <a:prstDash val="solid"/>
          </a:ln>
        </p:spPr>
      </p:sp>
      <p:sp>
        <p:nvSpPr>
          <p:cNvPr id="10" name="Text 8"/>
          <p:cNvSpPr/>
          <p:nvPr/>
        </p:nvSpPr>
        <p:spPr>
          <a:xfrm>
            <a:off x="914400" y="2103120"/>
            <a:ext cx="4773168" cy="338328"/>
          </a:xfrm>
          <a:prstGeom prst="rect">
            <a:avLst/>
          </a:prstGeom>
          <a:noFill/>
          <a:ln/>
        </p:spPr>
        <p:txBody>
          <a:bodyPr wrap="square" lIns="0" tIns="0" rIns="0" bIns="0" rtlCol="0" anchor="ctr">
            <a:normAutofit/>
          </a:bodyPr>
          <a:lstStyle/>
          <a:p>
            <a:pPr indent="0" marL="0">
              <a:buNone/>
            </a:pPr>
            <a:r>
              <a:rPr lang="en-US" sz="1700" b="1" dirty="0">
                <a:solidFill>
                  <a:srgbClr val="7150E8"/>
                </a:solidFill>
                <a:latin typeface="Malgun Gothic" pitchFamily="34" charset="0"/>
                <a:ea typeface="Malgun Gothic" pitchFamily="34" charset="-122"/>
                <a:cs typeface="Malgun Gothic" pitchFamily="34" charset="-120"/>
              </a:rPr>
              <a:t>A · 판매자 소유 영상</a:t>
            </a:r>
            <a:endParaRPr lang="en-US" sz="1700" dirty="0"/>
          </a:p>
        </p:txBody>
      </p:sp>
      <p:sp>
        <p:nvSpPr>
          <p:cNvPr id="11" name="Text 9"/>
          <p:cNvSpPr/>
          <p:nvPr/>
        </p:nvSpPr>
        <p:spPr>
          <a:xfrm>
            <a:off x="914400" y="2679192"/>
            <a:ext cx="4718304" cy="758952"/>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상품 ID·등장 구간·좌표·구매 URL을 사전 연결</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이미 있는 웹 SDK/Studio 프로토타입 재사용</a:t>
            </a:r>
            <a:endParaRPr lang="en-US" sz="1500" dirty="0"/>
          </a:p>
        </p:txBody>
      </p:sp>
      <p:sp>
        <p:nvSpPr>
          <p:cNvPr id="12" name="Shape 10"/>
          <p:cNvSpPr/>
          <p:nvPr/>
        </p:nvSpPr>
        <p:spPr>
          <a:xfrm>
            <a:off x="6217920" y="1901952"/>
            <a:ext cx="5413248" cy="1700784"/>
          </a:xfrm>
          <a:prstGeom prst="roundRect">
            <a:avLst>
              <a:gd name="adj" fmla="val 8602"/>
            </a:avLst>
          </a:prstGeom>
          <a:solidFill>
            <a:srgbClr val="FFFFFF"/>
          </a:solidFill>
          <a:ln w="7620">
            <a:solidFill>
              <a:srgbClr val="DDE2ED"/>
            </a:solidFill>
            <a:prstDash val="solid"/>
          </a:ln>
        </p:spPr>
      </p:sp>
      <p:sp>
        <p:nvSpPr>
          <p:cNvPr id="13" name="Shape 11"/>
          <p:cNvSpPr/>
          <p:nvPr/>
        </p:nvSpPr>
        <p:spPr>
          <a:xfrm>
            <a:off x="6382512" y="2112264"/>
            <a:ext cx="41148" cy="1280160"/>
          </a:xfrm>
          <a:prstGeom prst="rect">
            <a:avLst/>
          </a:prstGeom>
          <a:solidFill>
            <a:srgbClr val="147D7A"/>
          </a:solidFill>
          <a:ln w="12700">
            <a:solidFill>
              <a:srgbClr val="147D7A">
                <a:alpha val="0"/>
              </a:srgbClr>
            </a:solidFill>
            <a:prstDash val="solid"/>
          </a:ln>
        </p:spPr>
      </p:sp>
      <p:sp>
        <p:nvSpPr>
          <p:cNvPr id="14" name="Text 12"/>
          <p:cNvSpPr/>
          <p:nvPr/>
        </p:nvSpPr>
        <p:spPr>
          <a:xfrm>
            <a:off x="6583680" y="2103120"/>
            <a:ext cx="4773168" cy="338328"/>
          </a:xfrm>
          <a:prstGeom prst="rect">
            <a:avLst/>
          </a:prstGeom>
          <a:noFill/>
          <a:ln/>
        </p:spPr>
        <p:txBody>
          <a:bodyPr wrap="square" lIns="0" tIns="0" rIns="0" bIns="0" rtlCol="0" anchor="ctr">
            <a:normAutofit/>
          </a:bodyPr>
          <a:lstStyle/>
          <a:p>
            <a:pPr indent="0" marL="0">
              <a:buNone/>
            </a:pPr>
            <a:r>
              <a:rPr lang="en-US" sz="1700" b="1" dirty="0">
                <a:solidFill>
                  <a:srgbClr val="147D7A"/>
                </a:solidFill>
                <a:latin typeface="Malgun Gothic" pitchFamily="34" charset="0"/>
                <a:ea typeface="Malgun Gothic" pitchFamily="34" charset="-122"/>
                <a:cs typeface="Malgun Gothic" pitchFamily="34" charset="-120"/>
              </a:rPr>
              <a:t>A의 가치와 조건</a:t>
            </a:r>
            <a:endParaRPr lang="en-US" sz="1700" dirty="0"/>
          </a:p>
        </p:txBody>
      </p:sp>
      <p:sp>
        <p:nvSpPr>
          <p:cNvPr id="15" name="Text 13"/>
          <p:cNvSpPr/>
          <p:nvPr/>
        </p:nvSpPr>
        <p:spPr>
          <a:xfrm>
            <a:off x="6583680" y="2679192"/>
            <a:ext cx="4718304" cy="758952"/>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제공한 상품 범위 안에서 구매 연결을 통제</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상품 등록·검수·품절/옵션 동기화는 필요</a:t>
            </a:r>
            <a:endParaRPr lang="en-US" sz="1500" dirty="0"/>
          </a:p>
        </p:txBody>
      </p:sp>
      <p:sp>
        <p:nvSpPr>
          <p:cNvPr id="16" name="Shape 14"/>
          <p:cNvSpPr/>
          <p:nvPr/>
        </p:nvSpPr>
        <p:spPr>
          <a:xfrm>
            <a:off x="548640" y="3785616"/>
            <a:ext cx="5413248" cy="1700784"/>
          </a:xfrm>
          <a:prstGeom prst="roundRect">
            <a:avLst>
              <a:gd name="adj" fmla="val 8602"/>
            </a:avLst>
          </a:prstGeom>
          <a:solidFill>
            <a:srgbClr val="FFFFFF"/>
          </a:solidFill>
          <a:ln w="7620">
            <a:solidFill>
              <a:srgbClr val="DDE2ED"/>
            </a:solidFill>
            <a:prstDash val="solid"/>
          </a:ln>
        </p:spPr>
      </p:sp>
      <p:sp>
        <p:nvSpPr>
          <p:cNvPr id="17" name="Shape 15"/>
          <p:cNvSpPr/>
          <p:nvPr/>
        </p:nvSpPr>
        <p:spPr>
          <a:xfrm>
            <a:off x="713232" y="3995928"/>
            <a:ext cx="41148" cy="1280160"/>
          </a:xfrm>
          <a:prstGeom prst="rect">
            <a:avLst/>
          </a:prstGeom>
          <a:solidFill>
            <a:srgbClr val="7150E8"/>
          </a:solidFill>
          <a:ln w="12700">
            <a:solidFill>
              <a:srgbClr val="7150E8">
                <a:alpha val="0"/>
              </a:srgbClr>
            </a:solidFill>
            <a:prstDash val="solid"/>
          </a:ln>
        </p:spPr>
      </p:sp>
      <p:sp>
        <p:nvSpPr>
          <p:cNvPr id="18" name="Text 16"/>
          <p:cNvSpPr/>
          <p:nvPr/>
        </p:nvSpPr>
        <p:spPr>
          <a:xfrm>
            <a:off x="914400" y="3986784"/>
            <a:ext cx="4773168" cy="338328"/>
          </a:xfrm>
          <a:prstGeom prst="rect">
            <a:avLst/>
          </a:prstGeom>
          <a:noFill/>
          <a:ln/>
        </p:spPr>
        <p:txBody>
          <a:bodyPr wrap="square" lIns="0" tIns="0" rIns="0" bIns="0" rtlCol="0" anchor="ctr">
            <a:normAutofit/>
          </a:bodyPr>
          <a:lstStyle/>
          <a:p>
            <a:pPr indent="0" marL="0">
              <a:buNone/>
            </a:pPr>
            <a:r>
              <a:rPr lang="en-US" sz="1700" b="1" dirty="0">
                <a:solidFill>
                  <a:srgbClr val="7150E8"/>
                </a:solidFill>
                <a:latin typeface="Malgun Gothic" pitchFamily="34" charset="0"/>
                <a:ea typeface="Malgun Gothic" pitchFamily="34" charset="-122"/>
                <a:cs typeface="Malgun Gothic" pitchFamily="34" charset="-120"/>
              </a:rPr>
              <a:t>B · 유튜브 등 외부 영상</a:t>
            </a:r>
            <a:endParaRPr lang="en-US" sz="1700" dirty="0"/>
          </a:p>
        </p:txBody>
      </p:sp>
      <p:sp>
        <p:nvSpPr>
          <p:cNvPr id="19" name="Text 17"/>
          <p:cNvSpPr/>
          <p:nvPr/>
        </p:nvSpPr>
        <p:spPr>
          <a:xfrm>
            <a:off x="914400" y="4562856"/>
            <a:ext cx="4718304" cy="758952"/>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화면 선택 → 후보 검색 → 사진·식별자 검증</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정답 미포함·비판매·커스텀 상품일 수 있음</a:t>
            </a:r>
            <a:endParaRPr lang="en-US" sz="1500" dirty="0"/>
          </a:p>
        </p:txBody>
      </p:sp>
      <p:sp>
        <p:nvSpPr>
          <p:cNvPr id="20" name="Shape 18"/>
          <p:cNvSpPr/>
          <p:nvPr/>
        </p:nvSpPr>
        <p:spPr>
          <a:xfrm>
            <a:off x="6217920" y="3785616"/>
            <a:ext cx="5413248" cy="1700784"/>
          </a:xfrm>
          <a:prstGeom prst="roundRect">
            <a:avLst>
              <a:gd name="adj" fmla="val 8602"/>
            </a:avLst>
          </a:prstGeom>
          <a:solidFill>
            <a:srgbClr val="FFFFFF"/>
          </a:solidFill>
          <a:ln w="7620">
            <a:solidFill>
              <a:srgbClr val="DDE2ED"/>
            </a:solidFill>
            <a:prstDash val="solid"/>
          </a:ln>
        </p:spPr>
      </p:sp>
      <p:sp>
        <p:nvSpPr>
          <p:cNvPr id="21" name="Shape 19"/>
          <p:cNvSpPr/>
          <p:nvPr/>
        </p:nvSpPr>
        <p:spPr>
          <a:xfrm>
            <a:off x="6382512" y="3995928"/>
            <a:ext cx="41148" cy="1280160"/>
          </a:xfrm>
          <a:prstGeom prst="rect">
            <a:avLst/>
          </a:prstGeom>
          <a:solidFill>
            <a:srgbClr val="147D7A"/>
          </a:solidFill>
          <a:ln w="12700">
            <a:solidFill>
              <a:srgbClr val="147D7A">
                <a:alpha val="0"/>
              </a:srgbClr>
            </a:solidFill>
            <a:prstDash val="solid"/>
          </a:ln>
        </p:spPr>
      </p:sp>
      <p:sp>
        <p:nvSpPr>
          <p:cNvPr id="22" name="Text 20"/>
          <p:cNvSpPr/>
          <p:nvPr/>
        </p:nvSpPr>
        <p:spPr>
          <a:xfrm>
            <a:off x="6583680" y="3986784"/>
            <a:ext cx="4773168" cy="338328"/>
          </a:xfrm>
          <a:prstGeom prst="rect">
            <a:avLst/>
          </a:prstGeom>
          <a:noFill/>
          <a:ln/>
        </p:spPr>
        <p:txBody>
          <a:bodyPr wrap="square" lIns="0" tIns="0" rIns="0" bIns="0" rtlCol="0" anchor="ctr">
            <a:normAutofit/>
          </a:bodyPr>
          <a:lstStyle/>
          <a:p>
            <a:pPr indent="0" marL="0">
              <a:buNone/>
            </a:pPr>
            <a:r>
              <a:rPr lang="en-US" sz="1700" b="1" dirty="0">
                <a:solidFill>
                  <a:srgbClr val="147D7A"/>
                </a:solidFill>
                <a:latin typeface="Malgun Gothic" pitchFamily="34" charset="0"/>
                <a:ea typeface="Malgun Gothic" pitchFamily="34" charset="-122"/>
                <a:cs typeface="Malgun Gothic" pitchFamily="34" charset="-120"/>
              </a:rPr>
              <a:t>데이터 계약이 제품 기능</a:t>
            </a:r>
            <a:endParaRPr lang="en-US" sz="1700" dirty="0"/>
          </a:p>
        </p:txBody>
      </p:sp>
      <p:sp>
        <p:nvSpPr>
          <p:cNvPr id="23" name="Text 21"/>
          <p:cNvSpPr/>
          <p:nvPr/>
        </p:nvSpPr>
        <p:spPr>
          <a:xfrm>
            <a:off x="6583680" y="4562856"/>
            <a:ext cx="4718304" cy="758952"/>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사진 사용·인덱싱·국가별 판매·딥링크 권한 확인</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Lens 웹 자동 업로드는 변경/확인 화면 의존</a:t>
            </a:r>
            <a:endParaRPr lang="en-US" sz="1500" dirty="0"/>
          </a:p>
        </p:txBody>
      </p:sp>
      <p:sp>
        <p:nvSpPr>
          <p:cNvPr id="24" name="Shape 22"/>
          <p:cNvSpPr/>
          <p:nvPr/>
        </p:nvSpPr>
        <p:spPr>
          <a:xfrm>
            <a:off x="548640" y="5824728"/>
            <a:ext cx="11082528" cy="438912"/>
          </a:xfrm>
          <a:prstGeom prst="roundRect">
            <a:avLst>
              <a:gd name="adj" fmla="val 33333"/>
            </a:avLst>
          </a:prstGeom>
          <a:solidFill>
            <a:srgbClr val="EEE9FD"/>
          </a:solidFill>
          <a:ln w="7620">
            <a:solidFill>
              <a:srgbClr val="EEE9FD"/>
            </a:solidFill>
            <a:prstDash val="solid"/>
          </a:ln>
        </p:spPr>
      </p:sp>
      <p:sp>
        <p:nvSpPr>
          <p:cNvPr id="25" name="Text 23"/>
          <p:cNvSpPr/>
          <p:nvPr/>
        </p:nvSpPr>
        <p:spPr>
          <a:xfrm>
            <a:off x="731520" y="5916168"/>
            <a:ext cx="10698480" cy="237744"/>
          </a:xfrm>
          <a:prstGeom prst="rect">
            <a:avLst/>
          </a:prstGeom>
          <a:noFill/>
          <a:ln/>
        </p:spPr>
        <p:txBody>
          <a:bodyPr wrap="square" lIns="0" tIns="0" rIns="0" bIns="0" rtlCol="0" anchor="ctr">
            <a:normAutofit/>
          </a:bodyPr>
          <a:lstStyle/>
          <a:p>
            <a:pPr indent="0" marL="0">
              <a:buNone/>
            </a:pPr>
            <a:r>
              <a:rPr lang="en-US" sz="1140" b="1" dirty="0">
                <a:solidFill>
                  <a:srgbClr val="7150E8"/>
                </a:solidFill>
                <a:latin typeface="Malgun Gothic" pitchFamily="34" charset="0"/>
                <a:ea typeface="Malgun Gothic" pitchFamily="34" charset="-122"/>
                <a:cs typeface="Malgun Gothic" pitchFamily="34" charset="-120"/>
              </a:rPr>
              <a:t>직접 관리하는 영상·카탈로그에서 첫 유료 가치를 입증하는 편이 현재 자산에 적합하다.</a:t>
            </a:r>
            <a:endParaRPr lang="en-US" sz="114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548640" y="274320"/>
            <a:ext cx="10058400" cy="228600"/>
          </a:xfrm>
          <a:prstGeom prst="rect">
            <a:avLst/>
          </a:prstGeom>
          <a:noFill/>
          <a:ln/>
        </p:spPr>
        <p:txBody>
          <a:bodyPr wrap="square" lIns="0" tIns="0" rIns="0" bIns="0" rtlCol="0" anchor="ctr">
            <a:normAutofit/>
          </a:bodyPr>
          <a:lstStyle/>
          <a:p>
            <a:pPr indent="0" marL="0">
              <a:buNone/>
            </a:pPr>
            <a:r>
              <a:rPr lang="en-US" sz="900" b="1" spc="160" kern="0" dirty="0">
                <a:solidFill>
                  <a:srgbClr val="7150E8"/>
                </a:solidFill>
                <a:latin typeface="Malgun Gothic" pitchFamily="34" charset="0"/>
                <a:ea typeface="Malgun Gothic" pitchFamily="34" charset="-122"/>
                <a:cs typeface="Malgun Gothic" pitchFamily="34" charset="-120"/>
              </a:rPr>
              <a:t>02 / CUSTOMER VALUE</a:t>
            </a:r>
            <a:endParaRPr lang="en-US" sz="900" dirty="0"/>
          </a:p>
        </p:txBody>
      </p:sp>
      <p:sp>
        <p:nvSpPr>
          <p:cNvPr id="3" name="Text 1"/>
          <p:cNvSpPr/>
          <p:nvPr/>
        </p:nvSpPr>
        <p:spPr>
          <a:xfrm>
            <a:off x="548640" y="758952"/>
            <a:ext cx="11082528" cy="795528"/>
          </a:xfrm>
          <a:prstGeom prst="rect">
            <a:avLst/>
          </a:prstGeom>
          <a:noFill/>
          <a:ln/>
        </p:spPr>
        <p:txBody>
          <a:bodyPr wrap="square" lIns="0" tIns="0" rIns="0" bIns="0" rtlCol="0" anchor="ctr">
            <a:normAutofit/>
          </a:bodyPr>
          <a:lstStyle/>
          <a:p>
            <a:pPr indent="0" marL="0">
              <a:buNone/>
            </a:pPr>
            <a:r>
              <a:rPr lang="en-US" sz="2700" b="1" dirty="0">
                <a:solidFill>
                  <a:srgbClr val="20243A"/>
                </a:solidFill>
                <a:latin typeface="Malgun Gothic" pitchFamily="34" charset="0"/>
                <a:ea typeface="Malgun Gothic" pitchFamily="34" charset="-122"/>
                <a:cs typeface="Malgun Gothic" pitchFamily="34" charset="-120"/>
              </a:rPr>
              <a:t>고객 규모가 아니라 해결하는 업무로 제안을 나눈다</a:t>
            </a:r>
            <a:endParaRPr lang="en-US" sz="2700" dirty="0"/>
          </a:p>
        </p:txBody>
      </p:sp>
      <p:sp>
        <p:nvSpPr>
          <p:cNvPr id="4" name="Shape 2"/>
          <p:cNvSpPr/>
          <p:nvPr/>
        </p:nvSpPr>
        <p:spPr>
          <a:xfrm>
            <a:off x="548640" y="1682496"/>
            <a:ext cx="11064240" cy="0"/>
          </a:xfrm>
          <a:prstGeom prst="line">
            <a:avLst/>
          </a:prstGeom>
          <a:noFill/>
          <a:ln w="12700">
            <a:solidFill>
              <a:srgbClr val="DDE2ED"/>
            </a:solidFill>
            <a:prstDash val="solid"/>
          </a:ln>
        </p:spPr>
      </p:sp>
      <p:sp>
        <p:nvSpPr>
          <p:cNvPr id="5" name="Text 3"/>
          <p:cNvSpPr/>
          <p:nvPr/>
        </p:nvSpPr>
        <p:spPr>
          <a:xfrm>
            <a:off x="548640" y="6519672"/>
            <a:ext cx="8869680" cy="164592"/>
          </a:xfrm>
          <a:prstGeom prst="rect">
            <a:avLst/>
          </a:prstGeom>
          <a:noFill/>
          <a:ln/>
        </p:spPr>
        <p:txBody>
          <a:bodyPr wrap="square" lIns="0" tIns="0" rIns="0" bIns="0" rtlCol="0" anchor="ctr">
            <a:normAutofit/>
          </a:bodyPr>
          <a:lstStyle/>
          <a:p>
            <a:pPr indent="0" marL="0">
              <a:buNone/>
            </a:pPr>
            <a:r>
              <a:rPr lang="en-US" sz="800" dirty="0">
                <a:solidFill>
                  <a:srgbClr val="677087"/>
                </a:solidFill>
                <a:latin typeface="Malgun Gothic" pitchFamily="34" charset="0"/>
                <a:ea typeface="Malgun Gothic" pitchFamily="34" charset="-122"/>
                <a:cs typeface="Malgun Gothic" pitchFamily="34" charset="-120"/>
              </a:rPr>
              <a:t>CleanTouch  |  사업화 현황 진단  |  2026.10.15</a:t>
            </a:r>
            <a:endParaRPr lang="en-US" sz="800" dirty="0"/>
          </a:p>
        </p:txBody>
      </p:sp>
      <p:sp>
        <p:nvSpPr>
          <p:cNvPr id="6" name="Text 4"/>
          <p:cNvSpPr/>
          <p:nvPr/>
        </p:nvSpPr>
        <p:spPr>
          <a:xfrm>
            <a:off x="10698480" y="6501384"/>
            <a:ext cx="914400" cy="182880"/>
          </a:xfrm>
          <a:prstGeom prst="rect">
            <a:avLst/>
          </a:prstGeom>
          <a:noFill/>
          <a:ln/>
        </p:spPr>
        <p:txBody>
          <a:bodyPr wrap="square" lIns="0" tIns="0" rIns="0" bIns="0" rtlCol="0" anchor="ctr">
            <a:normAutofit/>
          </a:bodyPr>
          <a:lstStyle/>
          <a:p>
            <a:pPr algn="r" indent="0" marL="0">
              <a:buNone/>
            </a:pPr>
            <a:r>
              <a:rPr lang="en-US" sz="800" dirty="0">
                <a:solidFill>
                  <a:srgbClr val="677087"/>
                </a:solidFill>
                <a:latin typeface="Malgun Gothic" pitchFamily="34" charset="0"/>
                <a:ea typeface="Malgun Gothic" pitchFamily="34" charset="-122"/>
                <a:cs typeface="Malgun Gothic" pitchFamily="34" charset="-120"/>
              </a:rPr>
              <a:t>10 / 24</a:t>
            </a:r>
            <a:endParaRPr lang="en-US" sz="800" dirty="0"/>
          </a:p>
        </p:txBody>
      </p:sp>
      <p:sp>
        <p:nvSpPr>
          <p:cNvPr id="7" name="Shape 5"/>
          <p:cNvSpPr/>
          <p:nvPr/>
        </p:nvSpPr>
        <p:spPr>
          <a:xfrm>
            <a:off x="548640" y="1901952"/>
            <a:ext cx="1874520" cy="614172"/>
          </a:xfrm>
          <a:prstGeom prst="rect">
            <a:avLst/>
          </a:prstGeom>
          <a:solidFill>
            <a:srgbClr val="171A2D"/>
          </a:solidFill>
          <a:ln w="12700">
            <a:solidFill>
              <a:srgbClr val="171A2D"/>
            </a:solidFill>
            <a:prstDash val="solid"/>
          </a:ln>
        </p:spPr>
      </p:sp>
      <p:sp>
        <p:nvSpPr>
          <p:cNvPr id="8" name="Text 6"/>
          <p:cNvSpPr/>
          <p:nvPr/>
        </p:nvSpPr>
        <p:spPr>
          <a:xfrm>
            <a:off x="685800" y="2011680"/>
            <a:ext cx="1600200" cy="431292"/>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고객</a:t>
            </a:r>
            <a:endParaRPr lang="en-US" sz="1400" dirty="0"/>
          </a:p>
        </p:txBody>
      </p:sp>
      <p:sp>
        <p:nvSpPr>
          <p:cNvPr id="9" name="Shape 7"/>
          <p:cNvSpPr/>
          <p:nvPr/>
        </p:nvSpPr>
        <p:spPr>
          <a:xfrm>
            <a:off x="2423160" y="1901952"/>
            <a:ext cx="4480560" cy="614172"/>
          </a:xfrm>
          <a:prstGeom prst="rect">
            <a:avLst/>
          </a:prstGeom>
          <a:solidFill>
            <a:srgbClr val="171A2D"/>
          </a:solidFill>
          <a:ln w="12700">
            <a:solidFill>
              <a:srgbClr val="171A2D"/>
            </a:solidFill>
            <a:prstDash val="solid"/>
          </a:ln>
        </p:spPr>
      </p:sp>
      <p:sp>
        <p:nvSpPr>
          <p:cNvPr id="10" name="Text 8"/>
          <p:cNvSpPr/>
          <p:nvPr/>
        </p:nvSpPr>
        <p:spPr>
          <a:xfrm>
            <a:off x="2560320" y="2011680"/>
            <a:ext cx="4206240" cy="431292"/>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어필할 핵심 가치</a:t>
            </a:r>
            <a:endParaRPr lang="en-US" sz="1400" dirty="0"/>
          </a:p>
        </p:txBody>
      </p:sp>
      <p:sp>
        <p:nvSpPr>
          <p:cNvPr id="11" name="Shape 9"/>
          <p:cNvSpPr/>
          <p:nvPr/>
        </p:nvSpPr>
        <p:spPr>
          <a:xfrm>
            <a:off x="6903720" y="1901952"/>
            <a:ext cx="4709160" cy="614172"/>
          </a:xfrm>
          <a:prstGeom prst="rect">
            <a:avLst/>
          </a:prstGeom>
          <a:solidFill>
            <a:srgbClr val="171A2D"/>
          </a:solidFill>
          <a:ln w="12700">
            <a:solidFill>
              <a:srgbClr val="171A2D"/>
            </a:solidFill>
            <a:prstDash val="solid"/>
          </a:ln>
        </p:spPr>
      </p:sp>
      <p:sp>
        <p:nvSpPr>
          <p:cNvPr id="12" name="Text 10"/>
          <p:cNvSpPr/>
          <p:nvPr/>
        </p:nvSpPr>
        <p:spPr>
          <a:xfrm>
            <a:off x="7040880" y="2011680"/>
            <a:ext cx="4434840" cy="431292"/>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필수 기능 / 검증할 지표</a:t>
            </a:r>
            <a:endParaRPr lang="en-US" sz="1400" dirty="0"/>
          </a:p>
        </p:txBody>
      </p:sp>
      <p:sp>
        <p:nvSpPr>
          <p:cNvPr id="13" name="Shape 11"/>
          <p:cNvSpPr/>
          <p:nvPr/>
        </p:nvSpPr>
        <p:spPr>
          <a:xfrm>
            <a:off x="548640" y="2516124"/>
            <a:ext cx="1874520" cy="614172"/>
          </a:xfrm>
          <a:prstGeom prst="rect">
            <a:avLst/>
          </a:prstGeom>
          <a:solidFill>
            <a:srgbClr val="FFFFFF"/>
          </a:solidFill>
          <a:ln w="6350">
            <a:solidFill>
              <a:srgbClr val="DDE2ED"/>
            </a:solidFill>
            <a:prstDash val="solid"/>
          </a:ln>
        </p:spPr>
      </p:sp>
      <p:sp>
        <p:nvSpPr>
          <p:cNvPr id="14" name="Text 12"/>
          <p:cNvSpPr/>
          <p:nvPr/>
        </p:nvSpPr>
        <p:spPr>
          <a:xfrm>
            <a:off x="685800" y="2616708"/>
            <a:ext cx="1600200" cy="431292"/>
          </a:xfrm>
          <a:prstGeom prst="rect">
            <a:avLst/>
          </a:prstGeom>
          <a:noFill/>
          <a:ln/>
        </p:spPr>
        <p:txBody>
          <a:bodyPr wrap="square" lIns="0" tIns="0" rIns="0" bIns="0" rtlCol="0" anchor="ctr">
            <a:normAutofit/>
          </a:bodyPr>
          <a:lstStyle/>
          <a:p>
            <a:pPr indent="0" marL="0">
              <a:buNone/>
            </a:pPr>
            <a:r>
              <a:rPr lang="en-US" sz="1330" b="1" dirty="0">
                <a:solidFill>
                  <a:srgbClr val="7150E8"/>
                </a:solidFill>
                <a:latin typeface="Malgun Gothic" pitchFamily="34" charset="0"/>
                <a:ea typeface="Malgun Gothic" pitchFamily="34" charset="-122"/>
                <a:cs typeface="Malgun Gothic" pitchFamily="34" charset="-120"/>
              </a:rPr>
              <a:t>일반 소비자</a:t>
            </a:r>
            <a:endParaRPr lang="en-US" sz="1330" dirty="0"/>
          </a:p>
        </p:txBody>
      </p:sp>
      <p:sp>
        <p:nvSpPr>
          <p:cNvPr id="15" name="Shape 13"/>
          <p:cNvSpPr/>
          <p:nvPr/>
        </p:nvSpPr>
        <p:spPr>
          <a:xfrm>
            <a:off x="2423160" y="2516124"/>
            <a:ext cx="4480560" cy="614172"/>
          </a:xfrm>
          <a:prstGeom prst="rect">
            <a:avLst/>
          </a:prstGeom>
          <a:solidFill>
            <a:srgbClr val="FFFFFF"/>
          </a:solidFill>
          <a:ln w="6350">
            <a:solidFill>
              <a:srgbClr val="DDE2ED"/>
            </a:solidFill>
            <a:prstDash val="solid"/>
          </a:ln>
        </p:spPr>
      </p:sp>
      <p:sp>
        <p:nvSpPr>
          <p:cNvPr id="16" name="Text 14"/>
          <p:cNvSpPr/>
          <p:nvPr/>
        </p:nvSpPr>
        <p:spPr>
          <a:xfrm>
            <a:off x="2560320" y="2616708"/>
            <a:ext cx="420624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보던 상품을 저장·식별하고 실제 구매처로 이동</a:t>
            </a:r>
            <a:endParaRPr lang="en-US" sz="1330" dirty="0"/>
          </a:p>
        </p:txBody>
      </p:sp>
      <p:sp>
        <p:nvSpPr>
          <p:cNvPr id="17" name="Shape 15"/>
          <p:cNvSpPr/>
          <p:nvPr/>
        </p:nvSpPr>
        <p:spPr>
          <a:xfrm>
            <a:off x="6903720" y="2516124"/>
            <a:ext cx="4709160" cy="614172"/>
          </a:xfrm>
          <a:prstGeom prst="rect">
            <a:avLst/>
          </a:prstGeom>
          <a:solidFill>
            <a:srgbClr val="FFFFFF"/>
          </a:solidFill>
          <a:ln w="6350">
            <a:solidFill>
              <a:srgbClr val="DDE2ED"/>
            </a:solidFill>
            <a:prstDash val="solid"/>
          </a:ln>
        </p:spPr>
      </p:sp>
      <p:sp>
        <p:nvSpPr>
          <p:cNvPr id="18" name="Text 16"/>
          <p:cNvSpPr/>
          <p:nvPr/>
        </p:nvSpPr>
        <p:spPr>
          <a:xfrm>
            <a:off x="7040880" y="2616708"/>
            <a:ext cx="443484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간단한 권한·모바일 UX / 검색 성공·재방문</a:t>
            </a:r>
            <a:endParaRPr lang="en-US" sz="1330" dirty="0"/>
          </a:p>
        </p:txBody>
      </p:sp>
      <p:sp>
        <p:nvSpPr>
          <p:cNvPr id="19" name="Shape 17"/>
          <p:cNvSpPr/>
          <p:nvPr/>
        </p:nvSpPr>
        <p:spPr>
          <a:xfrm>
            <a:off x="548640" y="3130296"/>
            <a:ext cx="1874520" cy="614172"/>
          </a:xfrm>
          <a:prstGeom prst="rect">
            <a:avLst/>
          </a:prstGeom>
          <a:solidFill>
            <a:srgbClr val="F8F9FC"/>
          </a:solidFill>
          <a:ln w="6350">
            <a:solidFill>
              <a:srgbClr val="DDE2ED"/>
            </a:solidFill>
            <a:prstDash val="solid"/>
          </a:ln>
        </p:spPr>
      </p:sp>
      <p:sp>
        <p:nvSpPr>
          <p:cNvPr id="20" name="Text 18"/>
          <p:cNvSpPr/>
          <p:nvPr/>
        </p:nvSpPr>
        <p:spPr>
          <a:xfrm>
            <a:off x="685800" y="3230880"/>
            <a:ext cx="1600200" cy="431292"/>
          </a:xfrm>
          <a:prstGeom prst="rect">
            <a:avLst/>
          </a:prstGeom>
          <a:noFill/>
          <a:ln/>
        </p:spPr>
        <p:txBody>
          <a:bodyPr wrap="square" lIns="0" tIns="0" rIns="0" bIns="0" rtlCol="0" anchor="ctr">
            <a:normAutofit/>
          </a:bodyPr>
          <a:lstStyle/>
          <a:p>
            <a:pPr indent="0" marL="0">
              <a:buNone/>
            </a:pPr>
            <a:r>
              <a:rPr lang="en-US" sz="1330" b="1" dirty="0">
                <a:solidFill>
                  <a:srgbClr val="7150E8"/>
                </a:solidFill>
                <a:latin typeface="Malgun Gothic" pitchFamily="34" charset="0"/>
                <a:ea typeface="Malgun Gothic" pitchFamily="34" charset="-122"/>
                <a:cs typeface="Malgun Gothic" pitchFamily="34" charset="-120"/>
              </a:rPr>
              <a:t>개인사업자</a:t>
            </a:r>
            <a:endParaRPr lang="en-US" sz="1330" dirty="0"/>
          </a:p>
        </p:txBody>
      </p:sp>
      <p:sp>
        <p:nvSpPr>
          <p:cNvPr id="21" name="Shape 19"/>
          <p:cNvSpPr/>
          <p:nvPr/>
        </p:nvSpPr>
        <p:spPr>
          <a:xfrm>
            <a:off x="2423160" y="3130296"/>
            <a:ext cx="4480560" cy="614172"/>
          </a:xfrm>
          <a:prstGeom prst="rect">
            <a:avLst/>
          </a:prstGeom>
          <a:solidFill>
            <a:srgbClr val="F8F9FC"/>
          </a:solidFill>
          <a:ln w="6350">
            <a:solidFill>
              <a:srgbClr val="DDE2ED"/>
            </a:solidFill>
            <a:prstDash val="solid"/>
          </a:ln>
        </p:spPr>
      </p:sp>
      <p:sp>
        <p:nvSpPr>
          <p:cNvPr id="22" name="Text 20"/>
          <p:cNvSpPr/>
          <p:nvPr/>
        </p:nvSpPr>
        <p:spPr>
          <a:xfrm>
            <a:off x="2560320" y="3230880"/>
            <a:ext cx="420624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영상 속 내 상품을 클릭 가능한 상품으로 연결</a:t>
            </a:r>
            <a:endParaRPr lang="en-US" sz="1330" dirty="0"/>
          </a:p>
        </p:txBody>
      </p:sp>
      <p:sp>
        <p:nvSpPr>
          <p:cNvPr id="23" name="Shape 21"/>
          <p:cNvSpPr/>
          <p:nvPr/>
        </p:nvSpPr>
        <p:spPr>
          <a:xfrm>
            <a:off x="6903720" y="3130296"/>
            <a:ext cx="4709160" cy="614172"/>
          </a:xfrm>
          <a:prstGeom prst="rect">
            <a:avLst/>
          </a:prstGeom>
          <a:solidFill>
            <a:srgbClr val="F8F9FC"/>
          </a:solidFill>
          <a:ln w="6350">
            <a:solidFill>
              <a:srgbClr val="DDE2ED"/>
            </a:solidFill>
            <a:prstDash val="solid"/>
          </a:ln>
        </p:spPr>
      </p:sp>
      <p:sp>
        <p:nvSpPr>
          <p:cNvPr id="24" name="Text 22"/>
          <p:cNvSpPr/>
          <p:nvPr/>
        </p:nvSpPr>
        <p:spPr>
          <a:xfrm>
            <a:off x="7040880" y="3230880"/>
            <a:ext cx="443484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간편 등록·SDK / 등록 시간·유효 상품 클릭</a:t>
            </a:r>
            <a:endParaRPr lang="en-US" sz="1330" dirty="0"/>
          </a:p>
        </p:txBody>
      </p:sp>
      <p:sp>
        <p:nvSpPr>
          <p:cNvPr id="25" name="Shape 23"/>
          <p:cNvSpPr/>
          <p:nvPr/>
        </p:nvSpPr>
        <p:spPr>
          <a:xfrm>
            <a:off x="548640" y="3744468"/>
            <a:ext cx="1874520" cy="614172"/>
          </a:xfrm>
          <a:prstGeom prst="rect">
            <a:avLst/>
          </a:prstGeom>
          <a:solidFill>
            <a:srgbClr val="FFFFFF"/>
          </a:solidFill>
          <a:ln w="6350">
            <a:solidFill>
              <a:srgbClr val="DDE2ED"/>
            </a:solidFill>
            <a:prstDash val="solid"/>
          </a:ln>
        </p:spPr>
      </p:sp>
      <p:sp>
        <p:nvSpPr>
          <p:cNvPr id="26" name="Text 24"/>
          <p:cNvSpPr/>
          <p:nvPr/>
        </p:nvSpPr>
        <p:spPr>
          <a:xfrm>
            <a:off x="685800" y="3845052"/>
            <a:ext cx="1600200" cy="431292"/>
          </a:xfrm>
          <a:prstGeom prst="rect">
            <a:avLst/>
          </a:prstGeom>
          <a:noFill/>
          <a:ln/>
        </p:spPr>
        <p:txBody>
          <a:bodyPr wrap="square" lIns="0" tIns="0" rIns="0" bIns="0" rtlCol="0" anchor="ctr">
            <a:normAutofit/>
          </a:bodyPr>
          <a:lstStyle/>
          <a:p>
            <a:pPr indent="0" marL="0">
              <a:buNone/>
            </a:pPr>
            <a:r>
              <a:rPr lang="en-US" sz="1330" b="1" dirty="0">
                <a:solidFill>
                  <a:srgbClr val="7150E8"/>
                </a:solidFill>
                <a:latin typeface="Malgun Gothic" pitchFamily="34" charset="0"/>
                <a:ea typeface="Malgun Gothic" pitchFamily="34" charset="-122"/>
                <a:cs typeface="Malgun Gothic" pitchFamily="34" charset="-120"/>
              </a:rPr>
              <a:t>중소기업</a:t>
            </a:r>
            <a:endParaRPr lang="en-US" sz="1330" dirty="0"/>
          </a:p>
        </p:txBody>
      </p:sp>
      <p:sp>
        <p:nvSpPr>
          <p:cNvPr id="27" name="Shape 25"/>
          <p:cNvSpPr/>
          <p:nvPr/>
        </p:nvSpPr>
        <p:spPr>
          <a:xfrm>
            <a:off x="2423160" y="3744468"/>
            <a:ext cx="4480560" cy="614172"/>
          </a:xfrm>
          <a:prstGeom prst="rect">
            <a:avLst/>
          </a:prstGeom>
          <a:solidFill>
            <a:srgbClr val="FFFFFF"/>
          </a:solidFill>
          <a:ln w="6350">
            <a:solidFill>
              <a:srgbClr val="DDE2ED"/>
            </a:solidFill>
            <a:prstDash val="solid"/>
          </a:ln>
        </p:spPr>
      </p:sp>
      <p:sp>
        <p:nvSpPr>
          <p:cNvPr id="28" name="Text 26"/>
          <p:cNvSpPr/>
          <p:nvPr/>
        </p:nvSpPr>
        <p:spPr>
          <a:xfrm>
            <a:off x="2560320" y="3845052"/>
            <a:ext cx="420624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상품 문의를 줄이고 상담·콘텐츠 제작을 지원</a:t>
            </a:r>
            <a:endParaRPr lang="en-US" sz="1330" dirty="0"/>
          </a:p>
        </p:txBody>
      </p:sp>
      <p:sp>
        <p:nvSpPr>
          <p:cNvPr id="29" name="Shape 27"/>
          <p:cNvSpPr/>
          <p:nvPr/>
        </p:nvSpPr>
        <p:spPr>
          <a:xfrm>
            <a:off x="6903720" y="3744468"/>
            <a:ext cx="4709160" cy="614172"/>
          </a:xfrm>
          <a:prstGeom prst="rect">
            <a:avLst/>
          </a:prstGeom>
          <a:solidFill>
            <a:srgbClr val="FFFFFF"/>
          </a:solidFill>
          <a:ln w="6350">
            <a:solidFill>
              <a:srgbClr val="DDE2ED"/>
            </a:solidFill>
            <a:prstDash val="solid"/>
          </a:ln>
        </p:spPr>
      </p:sp>
      <p:sp>
        <p:nvSpPr>
          <p:cNvPr id="30" name="Text 28"/>
          <p:cNvSpPr/>
          <p:nvPr/>
        </p:nvSpPr>
        <p:spPr>
          <a:xfrm>
            <a:off x="7040880" y="3845052"/>
            <a:ext cx="443484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카탈로그·팀 권한 / 상담 시간·정답률</a:t>
            </a:r>
            <a:endParaRPr lang="en-US" sz="1330" dirty="0"/>
          </a:p>
        </p:txBody>
      </p:sp>
      <p:sp>
        <p:nvSpPr>
          <p:cNvPr id="31" name="Shape 29"/>
          <p:cNvSpPr/>
          <p:nvPr/>
        </p:nvSpPr>
        <p:spPr>
          <a:xfrm>
            <a:off x="548640" y="4358640"/>
            <a:ext cx="1874520" cy="614172"/>
          </a:xfrm>
          <a:prstGeom prst="rect">
            <a:avLst/>
          </a:prstGeom>
          <a:solidFill>
            <a:srgbClr val="F8F9FC"/>
          </a:solidFill>
          <a:ln w="6350">
            <a:solidFill>
              <a:srgbClr val="DDE2ED"/>
            </a:solidFill>
            <a:prstDash val="solid"/>
          </a:ln>
        </p:spPr>
      </p:sp>
      <p:sp>
        <p:nvSpPr>
          <p:cNvPr id="32" name="Text 30"/>
          <p:cNvSpPr/>
          <p:nvPr/>
        </p:nvSpPr>
        <p:spPr>
          <a:xfrm>
            <a:off x="685800" y="4459224"/>
            <a:ext cx="1600200" cy="431292"/>
          </a:xfrm>
          <a:prstGeom prst="rect">
            <a:avLst/>
          </a:prstGeom>
          <a:noFill/>
          <a:ln/>
        </p:spPr>
        <p:txBody>
          <a:bodyPr wrap="square" lIns="0" tIns="0" rIns="0" bIns="0" rtlCol="0" anchor="ctr">
            <a:normAutofit/>
          </a:bodyPr>
          <a:lstStyle/>
          <a:p>
            <a:pPr indent="0" marL="0">
              <a:buNone/>
            </a:pPr>
            <a:r>
              <a:rPr lang="en-US" sz="1330" b="1" dirty="0">
                <a:solidFill>
                  <a:srgbClr val="7150E8"/>
                </a:solidFill>
                <a:latin typeface="Malgun Gothic" pitchFamily="34" charset="0"/>
                <a:ea typeface="Malgun Gothic" pitchFamily="34" charset="-122"/>
                <a:cs typeface="Malgun Gothic" pitchFamily="34" charset="-120"/>
              </a:rPr>
              <a:t>중견기업</a:t>
            </a:r>
            <a:endParaRPr lang="en-US" sz="1330" dirty="0"/>
          </a:p>
        </p:txBody>
      </p:sp>
      <p:sp>
        <p:nvSpPr>
          <p:cNvPr id="33" name="Shape 31"/>
          <p:cNvSpPr/>
          <p:nvPr/>
        </p:nvSpPr>
        <p:spPr>
          <a:xfrm>
            <a:off x="2423160" y="4358640"/>
            <a:ext cx="4480560" cy="614172"/>
          </a:xfrm>
          <a:prstGeom prst="rect">
            <a:avLst/>
          </a:prstGeom>
          <a:solidFill>
            <a:srgbClr val="F8F9FC"/>
          </a:solidFill>
          <a:ln w="6350">
            <a:solidFill>
              <a:srgbClr val="DDE2ED"/>
            </a:solidFill>
            <a:prstDash val="solid"/>
          </a:ln>
        </p:spPr>
      </p:sp>
      <p:sp>
        <p:nvSpPr>
          <p:cNvPr id="34" name="Text 32"/>
          <p:cNvSpPr/>
          <p:nvPr/>
        </p:nvSpPr>
        <p:spPr>
          <a:xfrm>
            <a:off x="2560320" y="4459224"/>
            <a:ext cx="420624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여러 브랜드·채널·국가 상품을 통합 관리</a:t>
            </a:r>
            <a:endParaRPr lang="en-US" sz="1330" dirty="0"/>
          </a:p>
        </p:txBody>
      </p:sp>
      <p:sp>
        <p:nvSpPr>
          <p:cNvPr id="35" name="Shape 33"/>
          <p:cNvSpPr/>
          <p:nvPr/>
        </p:nvSpPr>
        <p:spPr>
          <a:xfrm>
            <a:off x="6903720" y="4358640"/>
            <a:ext cx="4709160" cy="614172"/>
          </a:xfrm>
          <a:prstGeom prst="rect">
            <a:avLst/>
          </a:prstGeom>
          <a:solidFill>
            <a:srgbClr val="F8F9FC"/>
          </a:solidFill>
          <a:ln w="6350">
            <a:solidFill>
              <a:srgbClr val="DDE2ED"/>
            </a:solidFill>
            <a:prstDash val="solid"/>
          </a:ln>
        </p:spPr>
      </p:sp>
      <p:sp>
        <p:nvSpPr>
          <p:cNvPr id="36" name="Text 34"/>
          <p:cNvSpPr/>
          <p:nvPr/>
        </p:nvSpPr>
        <p:spPr>
          <a:xfrm>
            <a:off x="7040880" y="4459224"/>
            <a:ext cx="443484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PIM/ERP 연동·테넌트 / 운영 시간·최신성</a:t>
            </a:r>
            <a:endParaRPr lang="en-US" sz="1330" dirty="0"/>
          </a:p>
        </p:txBody>
      </p:sp>
      <p:sp>
        <p:nvSpPr>
          <p:cNvPr id="37" name="Shape 35"/>
          <p:cNvSpPr/>
          <p:nvPr/>
        </p:nvSpPr>
        <p:spPr>
          <a:xfrm>
            <a:off x="548640" y="4972812"/>
            <a:ext cx="1874520" cy="614172"/>
          </a:xfrm>
          <a:prstGeom prst="rect">
            <a:avLst/>
          </a:prstGeom>
          <a:solidFill>
            <a:srgbClr val="FFFFFF"/>
          </a:solidFill>
          <a:ln w="6350">
            <a:solidFill>
              <a:srgbClr val="DDE2ED"/>
            </a:solidFill>
            <a:prstDash val="solid"/>
          </a:ln>
        </p:spPr>
      </p:sp>
      <p:sp>
        <p:nvSpPr>
          <p:cNvPr id="38" name="Text 36"/>
          <p:cNvSpPr/>
          <p:nvPr/>
        </p:nvSpPr>
        <p:spPr>
          <a:xfrm>
            <a:off x="685800" y="5073396"/>
            <a:ext cx="1600200" cy="431292"/>
          </a:xfrm>
          <a:prstGeom prst="rect">
            <a:avLst/>
          </a:prstGeom>
          <a:noFill/>
          <a:ln/>
        </p:spPr>
        <p:txBody>
          <a:bodyPr wrap="square" lIns="0" tIns="0" rIns="0" bIns="0" rtlCol="0" anchor="ctr">
            <a:normAutofit/>
          </a:bodyPr>
          <a:lstStyle/>
          <a:p>
            <a:pPr indent="0" marL="0">
              <a:buNone/>
            </a:pPr>
            <a:r>
              <a:rPr lang="en-US" sz="1330" b="1" dirty="0">
                <a:solidFill>
                  <a:srgbClr val="7150E8"/>
                </a:solidFill>
                <a:latin typeface="Malgun Gothic" pitchFamily="34" charset="0"/>
                <a:ea typeface="Malgun Gothic" pitchFamily="34" charset="-122"/>
                <a:cs typeface="Malgun Gothic" pitchFamily="34" charset="-120"/>
              </a:rPr>
              <a:t>대기업</a:t>
            </a:r>
            <a:endParaRPr lang="en-US" sz="1330" dirty="0"/>
          </a:p>
        </p:txBody>
      </p:sp>
      <p:sp>
        <p:nvSpPr>
          <p:cNvPr id="39" name="Shape 37"/>
          <p:cNvSpPr/>
          <p:nvPr/>
        </p:nvSpPr>
        <p:spPr>
          <a:xfrm>
            <a:off x="2423160" y="4972812"/>
            <a:ext cx="4480560" cy="614172"/>
          </a:xfrm>
          <a:prstGeom prst="rect">
            <a:avLst/>
          </a:prstGeom>
          <a:solidFill>
            <a:srgbClr val="FFFFFF"/>
          </a:solidFill>
          <a:ln w="6350">
            <a:solidFill>
              <a:srgbClr val="DDE2ED"/>
            </a:solidFill>
            <a:prstDash val="solid"/>
          </a:ln>
        </p:spPr>
      </p:sp>
      <p:sp>
        <p:nvSpPr>
          <p:cNvPr id="40" name="Text 38"/>
          <p:cNvSpPr/>
          <p:nvPr/>
        </p:nvSpPr>
        <p:spPr>
          <a:xfrm>
            <a:off x="2560320" y="5073396"/>
            <a:ext cx="420624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승인된 데이터 안에서 통제 가능한 AI 도입</a:t>
            </a:r>
            <a:endParaRPr lang="en-US" sz="1330" dirty="0"/>
          </a:p>
        </p:txBody>
      </p:sp>
      <p:sp>
        <p:nvSpPr>
          <p:cNvPr id="41" name="Shape 39"/>
          <p:cNvSpPr/>
          <p:nvPr/>
        </p:nvSpPr>
        <p:spPr>
          <a:xfrm>
            <a:off x="6903720" y="4972812"/>
            <a:ext cx="4709160" cy="614172"/>
          </a:xfrm>
          <a:prstGeom prst="rect">
            <a:avLst/>
          </a:prstGeom>
          <a:solidFill>
            <a:srgbClr val="FFFFFF"/>
          </a:solidFill>
          <a:ln w="6350">
            <a:solidFill>
              <a:srgbClr val="DDE2ED"/>
            </a:solidFill>
            <a:prstDash val="solid"/>
          </a:ln>
        </p:spPr>
      </p:sp>
      <p:sp>
        <p:nvSpPr>
          <p:cNvPr id="42" name="Text 40"/>
          <p:cNvSpPr/>
          <p:nvPr/>
        </p:nvSpPr>
        <p:spPr>
          <a:xfrm>
            <a:off x="7040880" y="5073396"/>
            <a:ext cx="443484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SSO·감사·전용 배포 / 보안·SLA·ROI</a:t>
            </a:r>
            <a:endParaRPr lang="en-US" sz="1330" dirty="0"/>
          </a:p>
        </p:txBody>
      </p:sp>
      <p:sp>
        <p:nvSpPr>
          <p:cNvPr id="43" name="Shape 41"/>
          <p:cNvSpPr/>
          <p:nvPr/>
        </p:nvSpPr>
        <p:spPr>
          <a:xfrm>
            <a:off x="548640" y="5824728"/>
            <a:ext cx="11082528" cy="438912"/>
          </a:xfrm>
          <a:prstGeom prst="roundRect">
            <a:avLst>
              <a:gd name="adj" fmla="val 33333"/>
            </a:avLst>
          </a:prstGeom>
          <a:solidFill>
            <a:srgbClr val="EEE9FD"/>
          </a:solidFill>
          <a:ln w="7620">
            <a:solidFill>
              <a:srgbClr val="EEE9FD"/>
            </a:solidFill>
            <a:prstDash val="solid"/>
          </a:ln>
        </p:spPr>
      </p:sp>
      <p:sp>
        <p:nvSpPr>
          <p:cNvPr id="44" name="Text 42"/>
          <p:cNvSpPr/>
          <p:nvPr/>
        </p:nvSpPr>
        <p:spPr>
          <a:xfrm>
            <a:off x="731520" y="5916168"/>
            <a:ext cx="10698480" cy="237744"/>
          </a:xfrm>
          <a:prstGeom prst="rect">
            <a:avLst/>
          </a:prstGeom>
          <a:noFill/>
          <a:ln/>
        </p:spPr>
        <p:txBody>
          <a:bodyPr wrap="square" lIns="0" tIns="0" rIns="0" bIns="0" rtlCol="0" anchor="ctr">
            <a:normAutofit/>
          </a:bodyPr>
          <a:lstStyle/>
          <a:p>
            <a:pPr indent="0" marL="0">
              <a:buNone/>
            </a:pPr>
            <a:r>
              <a:rPr lang="en-US" sz="1140" b="1" dirty="0">
                <a:solidFill>
                  <a:srgbClr val="7150E8"/>
                </a:solidFill>
                <a:latin typeface="Malgun Gothic" pitchFamily="34" charset="0"/>
                <a:ea typeface="Malgun Gothic" pitchFamily="34" charset="-122"/>
                <a:cs typeface="Malgun Gothic" pitchFamily="34" charset="-120"/>
              </a:rPr>
              <a:t>모든 고객에게 같은 설치 파일과 같은 가격표를 제시하지 않는다.</a:t>
            </a:r>
            <a:endParaRPr lang="en-US" sz="114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548640" y="274320"/>
            <a:ext cx="10058400" cy="228600"/>
          </a:xfrm>
          <a:prstGeom prst="rect">
            <a:avLst/>
          </a:prstGeom>
          <a:noFill/>
          <a:ln/>
        </p:spPr>
        <p:txBody>
          <a:bodyPr wrap="square" lIns="0" tIns="0" rIns="0" bIns="0" rtlCol="0" anchor="ctr">
            <a:normAutofit/>
          </a:bodyPr>
          <a:lstStyle/>
          <a:p>
            <a:pPr indent="0" marL="0">
              <a:buNone/>
            </a:pPr>
            <a:r>
              <a:rPr lang="en-US" sz="900" b="1" spc="160" kern="0" dirty="0">
                <a:solidFill>
                  <a:srgbClr val="7150E8"/>
                </a:solidFill>
                <a:latin typeface="Malgun Gothic" pitchFamily="34" charset="0"/>
                <a:ea typeface="Malgun Gothic" pitchFamily="34" charset="-122"/>
                <a:cs typeface="Malgun Gothic" pitchFamily="34" charset="-120"/>
              </a:rPr>
              <a:t>02 / CONSUMER EXPERIENCE</a:t>
            </a:r>
            <a:endParaRPr lang="en-US" sz="900" dirty="0"/>
          </a:p>
        </p:txBody>
      </p:sp>
      <p:sp>
        <p:nvSpPr>
          <p:cNvPr id="3" name="Text 1"/>
          <p:cNvSpPr/>
          <p:nvPr/>
        </p:nvSpPr>
        <p:spPr>
          <a:xfrm>
            <a:off x="548640" y="758952"/>
            <a:ext cx="11082528" cy="795528"/>
          </a:xfrm>
          <a:prstGeom prst="rect">
            <a:avLst/>
          </a:prstGeom>
          <a:noFill/>
          <a:ln/>
        </p:spPr>
        <p:txBody>
          <a:bodyPr wrap="square" lIns="0" tIns="0" rIns="0" bIns="0" rtlCol="0" anchor="ctr">
            <a:normAutofit/>
          </a:bodyPr>
          <a:lstStyle/>
          <a:p>
            <a:pPr indent="0" marL="0">
              <a:buNone/>
            </a:pPr>
            <a:r>
              <a:rPr lang="en-US" sz="2700" b="1" dirty="0">
                <a:solidFill>
                  <a:srgbClr val="20243A"/>
                </a:solidFill>
                <a:latin typeface="Malgun Gothic" pitchFamily="34" charset="0"/>
                <a:ea typeface="Malgun Gothic" pitchFamily="34" charset="-122"/>
                <a:cs typeface="Malgun Gothic" pitchFamily="34" charset="-120"/>
              </a:rPr>
              <a:t>B2C는 “화면을 떠나지 않는 세 단계”가 제품이다</a:t>
            </a:r>
            <a:endParaRPr lang="en-US" sz="2700" dirty="0"/>
          </a:p>
        </p:txBody>
      </p:sp>
      <p:sp>
        <p:nvSpPr>
          <p:cNvPr id="4" name="Shape 2"/>
          <p:cNvSpPr/>
          <p:nvPr/>
        </p:nvSpPr>
        <p:spPr>
          <a:xfrm>
            <a:off x="548640" y="1682496"/>
            <a:ext cx="11064240" cy="0"/>
          </a:xfrm>
          <a:prstGeom prst="line">
            <a:avLst/>
          </a:prstGeom>
          <a:noFill/>
          <a:ln w="12700">
            <a:solidFill>
              <a:srgbClr val="DDE2ED"/>
            </a:solidFill>
            <a:prstDash val="solid"/>
          </a:ln>
        </p:spPr>
      </p:sp>
      <p:sp>
        <p:nvSpPr>
          <p:cNvPr id="5" name="Text 3"/>
          <p:cNvSpPr/>
          <p:nvPr/>
        </p:nvSpPr>
        <p:spPr>
          <a:xfrm>
            <a:off x="548640" y="6519672"/>
            <a:ext cx="8869680" cy="164592"/>
          </a:xfrm>
          <a:prstGeom prst="rect">
            <a:avLst/>
          </a:prstGeom>
          <a:noFill/>
          <a:ln/>
        </p:spPr>
        <p:txBody>
          <a:bodyPr wrap="square" lIns="0" tIns="0" rIns="0" bIns="0" rtlCol="0" anchor="ctr">
            <a:normAutofit/>
          </a:bodyPr>
          <a:lstStyle/>
          <a:p>
            <a:pPr indent="0" marL="0">
              <a:buNone/>
            </a:pPr>
            <a:r>
              <a:rPr lang="en-US" sz="800" dirty="0">
                <a:solidFill>
                  <a:srgbClr val="677087"/>
                </a:solidFill>
                <a:latin typeface="Malgun Gothic" pitchFamily="34" charset="0"/>
                <a:ea typeface="Malgun Gothic" pitchFamily="34" charset="-122"/>
                <a:cs typeface="Malgun Gothic" pitchFamily="34" charset="-120"/>
              </a:rPr>
              <a:t>CleanTouch  |  사업화 현황 진단  |  2026.10.15</a:t>
            </a:r>
            <a:endParaRPr lang="en-US" sz="800" dirty="0"/>
          </a:p>
        </p:txBody>
      </p:sp>
      <p:sp>
        <p:nvSpPr>
          <p:cNvPr id="6" name="Text 4"/>
          <p:cNvSpPr/>
          <p:nvPr/>
        </p:nvSpPr>
        <p:spPr>
          <a:xfrm>
            <a:off x="10698480" y="6501384"/>
            <a:ext cx="914400" cy="182880"/>
          </a:xfrm>
          <a:prstGeom prst="rect">
            <a:avLst/>
          </a:prstGeom>
          <a:noFill/>
          <a:ln/>
        </p:spPr>
        <p:txBody>
          <a:bodyPr wrap="square" lIns="0" tIns="0" rIns="0" bIns="0" rtlCol="0" anchor="ctr">
            <a:normAutofit/>
          </a:bodyPr>
          <a:lstStyle/>
          <a:p>
            <a:pPr algn="r" indent="0" marL="0">
              <a:buNone/>
            </a:pPr>
            <a:r>
              <a:rPr lang="en-US" sz="800" dirty="0">
                <a:solidFill>
                  <a:srgbClr val="677087"/>
                </a:solidFill>
                <a:latin typeface="Malgun Gothic" pitchFamily="34" charset="0"/>
                <a:ea typeface="Malgun Gothic" pitchFamily="34" charset="-122"/>
                <a:cs typeface="Malgun Gothic" pitchFamily="34" charset="-120"/>
              </a:rPr>
              <a:t>11 / 24</a:t>
            </a:r>
            <a:endParaRPr lang="en-US" sz="800" dirty="0"/>
          </a:p>
        </p:txBody>
      </p:sp>
      <p:sp>
        <p:nvSpPr>
          <p:cNvPr id="7" name="Text 5"/>
          <p:cNvSpPr/>
          <p:nvPr/>
        </p:nvSpPr>
        <p:spPr>
          <a:xfrm>
            <a:off x="594360" y="6364224"/>
            <a:ext cx="10881360" cy="118872"/>
          </a:xfrm>
          <a:prstGeom prst="rect">
            <a:avLst/>
          </a:prstGeom>
          <a:noFill/>
          <a:ln/>
        </p:spPr>
        <p:txBody>
          <a:bodyPr wrap="square" lIns="0" tIns="0" rIns="0" bIns="0" rtlCol="0" anchor="ctr">
            <a:normAutofit/>
          </a:bodyPr>
          <a:lstStyle/>
          <a:p>
            <a:pPr indent="0" marL="0">
              <a:buNone/>
            </a:pPr>
            <a:r>
              <a:rPr lang="en-US" sz="700" dirty="0">
                <a:solidFill>
                  <a:srgbClr val="677087"/>
                </a:solidFill>
                <a:latin typeface="Malgun Gothic" pitchFamily="34" charset="0"/>
                <a:ea typeface="Malgun Gothic" pitchFamily="34" charset="-122"/>
                <a:cs typeface="Malgun Gothic" pitchFamily="34" charset="-120"/>
              </a:rPr>
              <a:t>S3 Android · Media projection</a:t>
            </a:r>
            <a:endParaRPr lang="en-US" sz="700" dirty="0"/>
          </a:p>
        </p:txBody>
      </p:sp>
      <p:sp>
        <p:nvSpPr>
          <p:cNvPr id="8" name="Shape 6"/>
          <p:cNvSpPr/>
          <p:nvPr/>
        </p:nvSpPr>
        <p:spPr>
          <a:xfrm>
            <a:off x="548640" y="1938528"/>
            <a:ext cx="3553968" cy="1536192"/>
          </a:xfrm>
          <a:prstGeom prst="roundRect">
            <a:avLst>
              <a:gd name="adj" fmla="val 9524"/>
            </a:avLst>
          </a:prstGeom>
          <a:solidFill>
            <a:srgbClr val="FFFFFF"/>
          </a:solidFill>
          <a:ln w="7620">
            <a:solidFill>
              <a:srgbClr val="DDE2ED"/>
            </a:solidFill>
            <a:prstDash val="solid"/>
          </a:ln>
        </p:spPr>
      </p:sp>
      <p:sp>
        <p:nvSpPr>
          <p:cNvPr id="9" name="Text 7"/>
          <p:cNvSpPr/>
          <p:nvPr/>
        </p:nvSpPr>
        <p:spPr>
          <a:xfrm>
            <a:off x="685800" y="2139696"/>
            <a:ext cx="3279648" cy="347472"/>
          </a:xfrm>
          <a:prstGeom prst="rect">
            <a:avLst/>
          </a:prstGeom>
          <a:noFill/>
          <a:ln/>
        </p:spPr>
        <p:txBody>
          <a:bodyPr wrap="square" lIns="0" tIns="0" rIns="0" bIns="0" rtlCol="0" anchor="ctr">
            <a:normAutofit/>
          </a:bodyPr>
          <a:lstStyle/>
          <a:p>
            <a:pPr algn="ctr" indent="0" marL="0">
              <a:buNone/>
            </a:pPr>
            <a:r>
              <a:rPr lang="en-US" sz="1600" b="1" dirty="0">
                <a:solidFill>
                  <a:srgbClr val="7150E8"/>
                </a:solidFill>
                <a:latin typeface="Malgun Gothic" pitchFamily="34" charset="0"/>
                <a:ea typeface="Malgun Gothic" pitchFamily="34" charset="-122"/>
                <a:cs typeface="Malgun Gothic" pitchFamily="34" charset="-120"/>
              </a:rPr>
              <a:t>01 · 발견</a:t>
            </a:r>
            <a:endParaRPr lang="en-US" sz="1600" dirty="0"/>
          </a:p>
        </p:txBody>
      </p:sp>
      <p:sp>
        <p:nvSpPr>
          <p:cNvPr id="10" name="Text 8"/>
          <p:cNvSpPr/>
          <p:nvPr/>
        </p:nvSpPr>
        <p:spPr>
          <a:xfrm>
            <a:off x="685800" y="2679192"/>
            <a:ext cx="3279648" cy="530352"/>
          </a:xfrm>
          <a:prstGeom prst="rect">
            <a:avLst/>
          </a:prstGeom>
          <a:noFill/>
          <a:ln/>
        </p:spPr>
        <p:txBody>
          <a:bodyPr wrap="square" lIns="0" tIns="0" rIns="0" bIns="0" rtlCol="0" anchor="ctr">
            <a:normAutofit/>
          </a:bodyPr>
          <a:lstStyle/>
          <a:p>
            <a:pPr algn="ctr" indent="0" marL="0">
              <a:buNone/>
            </a:pPr>
            <a:r>
              <a:rPr lang="en-US" sz="1300" dirty="0">
                <a:solidFill>
                  <a:srgbClr val="20243A"/>
                </a:solidFill>
                <a:latin typeface="Malgun Gothic" pitchFamily="34" charset="0"/>
                <a:ea typeface="Malgun Gothic" pitchFamily="34" charset="-122"/>
                <a:cs typeface="Malgun Gothic" pitchFamily="34" charset="-120"/>
              </a:rPr>
              <a:t>작은 위젯</a:t>
            </a:r>
            <a:endParaRPr lang="en-US" sz="1300" dirty="0"/>
          </a:p>
          <a:p>
            <a:pPr algn="ctr" indent="0" marL="0">
              <a:buNone/>
            </a:pPr>
            <a:r>
              <a:rPr lang="en-US" sz="1300" dirty="0">
                <a:solidFill>
                  <a:srgbClr val="20243A"/>
                </a:solidFill>
                <a:latin typeface="Malgun Gothic" pitchFamily="34" charset="0"/>
                <a:ea typeface="Malgun Gothic" pitchFamily="34" charset="-122"/>
                <a:cs typeface="Malgun Gothic" pitchFamily="34" charset="-120"/>
              </a:rPr>
              <a:t>명시적 화면 연결</a:t>
            </a:r>
            <a:endParaRPr lang="en-US" sz="1300" dirty="0"/>
          </a:p>
        </p:txBody>
      </p:sp>
      <p:sp>
        <p:nvSpPr>
          <p:cNvPr id="11" name="Text 9"/>
          <p:cNvSpPr/>
          <p:nvPr/>
        </p:nvSpPr>
        <p:spPr>
          <a:xfrm>
            <a:off x="4111752" y="2505456"/>
            <a:ext cx="192024" cy="320040"/>
          </a:xfrm>
          <a:prstGeom prst="rect">
            <a:avLst/>
          </a:prstGeom>
          <a:noFill/>
          <a:ln/>
        </p:spPr>
        <p:txBody>
          <a:bodyPr wrap="square" lIns="0" tIns="0" rIns="0" bIns="0" rtlCol="0" anchor="ctr">
            <a:normAutofit/>
          </a:bodyPr>
          <a:lstStyle/>
          <a:p>
            <a:pPr algn="ctr" indent="0" marL="0">
              <a:buNone/>
            </a:pPr>
            <a:r>
              <a:rPr lang="en-US" sz="2200" dirty="0">
                <a:solidFill>
                  <a:srgbClr val="677087"/>
                </a:solidFill>
                <a:latin typeface="Malgun Gothic" pitchFamily="34" charset="0"/>
                <a:ea typeface="Malgun Gothic" pitchFamily="34" charset="-122"/>
                <a:cs typeface="Malgun Gothic" pitchFamily="34" charset="-120"/>
              </a:rPr>
              <a:t>›</a:t>
            </a:r>
            <a:endParaRPr lang="en-US" sz="2200" dirty="0"/>
          </a:p>
        </p:txBody>
      </p:sp>
      <p:sp>
        <p:nvSpPr>
          <p:cNvPr id="12" name="Shape 10"/>
          <p:cNvSpPr/>
          <p:nvPr/>
        </p:nvSpPr>
        <p:spPr>
          <a:xfrm>
            <a:off x="4312920" y="1938528"/>
            <a:ext cx="3553968" cy="1536192"/>
          </a:xfrm>
          <a:prstGeom prst="roundRect">
            <a:avLst>
              <a:gd name="adj" fmla="val 9524"/>
            </a:avLst>
          </a:prstGeom>
          <a:solidFill>
            <a:srgbClr val="FFFFFF"/>
          </a:solidFill>
          <a:ln w="7620">
            <a:solidFill>
              <a:srgbClr val="DDE2ED"/>
            </a:solidFill>
            <a:prstDash val="solid"/>
          </a:ln>
        </p:spPr>
      </p:sp>
      <p:sp>
        <p:nvSpPr>
          <p:cNvPr id="13" name="Text 11"/>
          <p:cNvSpPr/>
          <p:nvPr/>
        </p:nvSpPr>
        <p:spPr>
          <a:xfrm>
            <a:off x="4450080" y="2139696"/>
            <a:ext cx="3279648" cy="347472"/>
          </a:xfrm>
          <a:prstGeom prst="rect">
            <a:avLst/>
          </a:prstGeom>
          <a:noFill/>
          <a:ln/>
        </p:spPr>
        <p:txBody>
          <a:bodyPr wrap="square" lIns="0" tIns="0" rIns="0" bIns="0" rtlCol="0" anchor="ctr">
            <a:normAutofit/>
          </a:bodyPr>
          <a:lstStyle/>
          <a:p>
            <a:pPr algn="ctr" indent="0" marL="0">
              <a:buNone/>
            </a:pPr>
            <a:r>
              <a:rPr lang="en-US" sz="1600" b="1" dirty="0">
                <a:solidFill>
                  <a:srgbClr val="7150E8"/>
                </a:solidFill>
                <a:latin typeface="Malgun Gothic" pitchFamily="34" charset="0"/>
                <a:ea typeface="Malgun Gothic" pitchFamily="34" charset="-122"/>
                <a:cs typeface="Malgun Gothic" pitchFamily="34" charset="-120"/>
              </a:rPr>
              <a:t>02 · 선택</a:t>
            </a:r>
            <a:endParaRPr lang="en-US" sz="1600" dirty="0"/>
          </a:p>
        </p:txBody>
      </p:sp>
      <p:sp>
        <p:nvSpPr>
          <p:cNvPr id="14" name="Text 12"/>
          <p:cNvSpPr/>
          <p:nvPr/>
        </p:nvSpPr>
        <p:spPr>
          <a:xfrm>
            <a:off x="4450080" y="2679192"/>
            <a:ext cx="3279648" cy="530352"/>
          </a:xfrm>
          <a:prstGeom prst="rect">
            <a:avLst/>
          </a:prstGeom>
          <a:noFill/>
          <a:ln/>
        </p:spPr>
        <p:txBody>
          <a:bodyPr wrap="square" lIns="0" tIns="0" rIns="0" bIns="0" rtlCol="0" anchor="ctr">
            <a:normAutofit/>
          </a:bodyPr>
          <a:lstStyle/>
          <a:p>
            <a:pPr algn="ctr" indent="0" marL="0">
              <a:buNone/>
            </a:pPr>
            <a:r>
              <a:rPr lang="en-US" sz="1300" dirty="0">
                <a:solidFill>
                  <a:srgbClr val="20243A"/>
                </a:solidFill>
                <a:latin typeface="Malgun Gothic" pitchFamily="34" charset="0"/>
                <a:ea typeface="Malgun Gothic" pitchFamily="34" charset="-122"/>
                <a:cs typeface="Malgun Gothic" pitchFamily="34" charset="-120"/>
              </a:rPr>
              <a:t>상품을 한 번 누르기</a:t>
            </a:r>
            <a:endParaRPr lang="en-US" sz="1300" dirty="0"/>
          </a:p>
          <a:p>
            <a:pPr algn="ctr" indent="0" marL="0">
              <a:buNone/>
            </a:pPr>
            <a:r>
              <a:rPr lang="en-US" sz="1300" dirty="0">
                <a:solidFill>
                  <a:srgbClr val="20243A"/>
                </a:solidFill>
                <a:latin typeface="Malgun Gothic" pitchFamily="34" charset="0"/>
                <a:ea typeface="Malgun Gothic" pitchFamily="34" charset="-122"/>
                <a:cs typeface="Malgun Gothic" pitchFamily="34" charset="-120"/>
              </a:rPr>
              <a:t>필요하면 윤곽 보정</a:t>
            </a:r>
            <a:endParaRPr lang="en-US" sz="1300" dirty="0"/>
          </a:p>
        </p:txBody>
      </p:sp>
      <p:sp>
        <p:nvSpPr>
          <p:cNvPr id="15" name="Text 13"/>
          <p:cNvSpPr/>
          <p:nvPr/>
        </p:nvSpPr>
        <p:spPr>
          <a:xfrm>
            <a:off x="7876032" y="2505456"/>
            <a:ext cx="192024" cy="320040"/>
          </a:xfrm>
          <a:prstGeom prst="rect">
            <a:avLst/>
          </a:prstGeom>
          <a:noFill/>
          <a:ln/>
        </p:spPr>
        <p:txBody>
          <a:bodyPr wrap="square" lIns="0" tIns="0" rIns="0" bIns="0" rtlCol="0" anchor="ctr">
            <a:normAutofit/>
          </a:bodyPr>
          <a:lstStyle/>
          <a:p>
            <a:pPr algn="ctr" indent="0" marL="0">
              <a:buNone/>
            </a:pPr>
            <a:r>
              <a:rPr lang="en-US" sz="2200" dirty="0">
                <a:solidFill>
                  <a:srgbClr val="677087"/>
                </a:solidFill>
                <a:latin typeface="Malgun Gothic" pitchFamily="34" charset="0"/>
                <a:ea typeface="Malgun Gothic" pitchFamily="34" charset="-122"/>
                <a:cs typeface="Malgun Gothic" pitchFamily="34" charset="-120"/>
              </a:rPr>
              <a:t>›</a:t>
            </a:r>
            <a:endParaRPr lang="en-US" sz="2200" dirty="0"/>
          </a:p>
        </p:txBody>
      </p:sp>
      <p:sp>
        <p:nvSpPr>
          <p:cNvPr id="16" name="Shape 14"/>
          <p:cNvSpPr/>
          <p:nvPr/>
        </p:nvSpPr>
        <p:spPr>
          <a:xfrm>
            <a:off x="8077200" y="1938528"/>
            <a:ext cx="3553968" cy="1536192"/>
          </a:xfrm>
          <a:prstGeom prst="roundRect">
            <a:avLst>
              <a:gd name="adj" fmla="val 9524"/>
            </a:avLst>
          </a:prstGeom>
          <a:solidFill>
            <a:srgbClr val="EEE9FD"/>
          </a:solidFill>
          <a:ln w="7620">
            <a:solidFill>
              <a:srgbClr val="DDE2ED"/>
            </a:solidFill>
            <a:prstDash val="solid"/>
          </a:ln>
        </p:spPr>
      </p:sp>
      <p:sp>
        <p:nvSpPr>
          <p:cNvPr id="17" name="Text 15"/>
          <p:cNvSpPr/>
          <p:nvPr/>
        </p:nvSpPr>
        <p:spPr>
          <a:xfrm>
            <a:off x="8214360" y="2139696"/>
            <a:ext cx="3279648" cy="347472"/>
          </a:xfrm>
          <a:prstGeom prst="rect">
            <a:avLst/>
          </a:prstGeom>
          <a:noFill/>
          <a:ln/>
        </p:spPr>
        <p:txBody>
          <a:bodyPr wrap="square" lIns="0" tIns="0" rIns="0" bIns="0" rtlCol="0" anchor="ctr">
            <a:normAutofit/>
          </a:bodyPr>
          <a:lstStyle/>
          <a:p>
            <a:pPr algn="ctr" indent="0" marL="0">
              <a:buNone/>
            </a:pPr>
            <a:r>
              <a:rPr lang="en-US" sz="1600" b="1" dirty="0">
                <a:solidFill>
                  <a:srgbClr val="7150E8"/>
                </a:solidFill>
                <a:latin typeface="Malgun Gothic" pitchFamily="34" charset="0"/>
                <a:ea typeface="Malgun Gothic" pitchFamily="34" charset="-122"/>
                <a:cs typeface="Malgun Gothic" pitchFamily="34" charset="-120"/>
              </a:rPr>
              <a:t>03 · 판단</a:t>
            </a:r>
            <a:endParaRPr lang="en-US" sz="1600" dirty="0"/>
          </a:p>
        </p:txBody>
      </p:sp>
      <p:sp>
        <p:nvSpPr>
          <p:cNvPr id="18" name="Text 16"/>
          <p:cNvSpPr/>
          <p:nvPr/>
        </p:nvSpPr>
        <p:spPr>
          <a:xfrm>
            <a:off x="8214360" y="2679192"/>
            <a:ext cx="3279648" cy="530352"/>
          </a:xfrm>
          <a:prstGeom prst="rect">
            <a:avLst/>
          </a:prstGeom>
          <a:noFill/>
          <a:ln/>
        </p:spPr>
        <p:txBody>
          <a:bodyPr wrap="square" lIns="0" tIns="0" rIns="0" bIns="0" rtlCol="0" anchor="ctr">
            <a:normAutofit/>
          </a:bodyPr>
          <a:lstStyle/>
          <a:p>
            <a:pPr algn="ctr" indent="0" marL="0">
              <a:buNone/>
            </a:pPr>
            <a:r>
              <a:rPr lang="en-US" sz="1300" dirty="0">
                <a:solidFill>
                  <a:srgbClr val="20243A"/>
                </a:solidFill>
                <a:latin typeface="Malgun Gothic" pitchFamily="34" charset="0"/>
                <a:ea typeface="Malgun Gothic" pitchFamily="34" charset="-122"/>
                <a:cs typeface="Malgun Gothic" pitchFamily="34" charset="-120"/>
              </a:rPr>
              <a:t>동일/유사 근거 확인</a:t>
            </a:r>
            <a:endParaRPr lang="en-US" sz="1300" dirty="0"/>
          </a:p>
          <a:p>
            <a:pPr algn="ctr" indent="0" marL="0">
              <a:buNone/>
            </a:pPr>
            <a:r>
              <a:rPr lang="en-US" sz="1300" dirty="0">
                <a:solidFill>
                  <a:srgbClr val="20243A"/>
                </a:solidFill>
                <a:latin typeface="Malgun Gothic" pitchFamily="34" charset="0"/>
                <a:ea typeface="Malgun Gothic" pitchFamily="34" charset="-122"/>
                <a:cs typeface="Malgun Gothic" pitchFamily="34" charset="-120"/>
              </a:rPr>
              <a:t>실제 상품 상세로 이동</a:t>
            </a:r>
            <a:endParaRPr lang="en-US" sz="1300" dirty="0"/>
          </a:p>
        </p:txBody>
      </p:sp>
      <p:sp>
        <p:nvSpPr>
          <p:cNvPr id="19" name="Shape 17"/>
          <p:cNvSpPr/>
          <p:nvPr/>
        </p:nvSpPr>
        <p:spPr>
          <a:xfrm>
            <a:off x="548640" y="3730752"/>
            <a:ext cx="5413248" cy="1764792"/>
          </a:xfrm>
          <a:prstGeom prst="roundRect">
            <a:avLst>
              <a:gd name="adj" fmla="val 8290"/>
            </a:avLst>
          </a:prstGeom>
          <a:solidFill>
            <a:srgbClr val="FFFFFF"/>
          </a:solidFill>
          <a:ln w="7620">
            <a:solidFill>
              <a:srgbClr val="DDE2ED"/>
            </a:solidFill>
            <a:prstDash val="solid"/>
          </a:ln>
        </p:spPr>
      </p:sp>
      <p:sp>
        <p:nvSpPr>
          <p:cNvPr id="20" name="Shape 18"/>
          <p:cNvSpPr/>
          <p:nvPr/>
        </p:nvSpPr>
        <p:spPr>
          <a:xfrm>
            <a:off x="713232" y="3941064"/>
            <a:ext cx="41148" cy="1344168"/>
          </a:xfrm>
          <a:prstGeom prst="rect">
            <a:avLst/>
          </a:prstGeom>
          <a:solidFill>
            <a:srgbClr val="7150E8"/>
          </a:solidFill>
          <a:ln w="12700">
            <a:solidFill>
              <a:srgbClr val="7150E8">
                <a:alpha val="0"/>
              </a:srgbClr>
            </a:solidFill>
            <a:prstDash val="solid"/>
          </a:ln>
        </p:spPr>
      </p:sp>
      <p:sp>
        <p:nvSpPr>
          <p:cNvPr id="21" name="Text 19"/>
          <p:cNvSpPr/>
          <p:nvPr/>
        </p:nvSpPr>
        <p:spPr>
          <a:xfrm>
            <a:off x="914400" y="3931920"/>
            <a:ext cx="4773168" cy="338328"/>
          </a:xfrm>
          <a:prstGeom prst="rect">
            <a:avLst/>
          </a:prstGeom>
          <a:noFill/>
          <a:ln/>
        </p:spPr>
        <p:txBody>
          <a:bodyPr wrap="square" lIns="0" tIns="0" rIns="0" bIns="0" rtlCol="0" anchor="ctr">
            <a:normAutofit/>
          </a:bodyPr>
          <a:lstStyle/>
          <a:p>
            <a:pPr indent="0" marL="0">
              <a:buNone/>
            </a:pPr>
            <a:r>
              <a:rPr lang="en-US" sz="1700" b="1" dirty="0">
                <a:solidFill>
                  <a:srgbClr val="7150E8"/>
                </a:solidFill>
                <a:latin typeface="Malgun Gothic" pitchFamily="34" charset="0"/>
                <a:ea typeface="Malgun Gothic" pitchFamily="34" charset="-122"/>
                <a:cs typeface="Malgun Gothic" pitchFamily="34" charset="-120"/>
              </a:rPr>
              <a:t>반드시 남길 것</a:t>
            </a:r>
            <a:endParaRPr lang="en-US" sz="1700" dirty="0"/>
          </a:p>
        </p:txBody>
      </p:sp>
      <p:sp>
        <p:nvSpPr>
          <p:cNvPr id="22" name="Text 20"/>
          <p:cNvSpPr/>
          <p:nvPr/>
        </p:nvSpPr>
        <p:spPr>
          <a:xfrm>
            <a:off x="914400" y="4507992"/>
            <a:ext cx="4718304" cy="822960"/>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이전 대화·상품 보관함·명확한 실패 안내</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사진 업로드와 이미지 검색을 보조 수단으로 제공</a:t>
            </a:r>
            <a:endParaRPr lang="en-US" sz="1500" dirty="0"/>
          </a:p>
        </p:txBody>
      </p:sp>
      <p:sp>
        <p:nvSpPr>
          <p:cNvPr id="23" name="Shape 21"/>
          <p:cNvSpPr/>
          <p:nvPr/>
        </p:nvSpPr>
        <p:spPr>
          <a:xfrm>
            <a:off x="6217920" y="3730752"/>
            <a:ext cx="5413248" cy="1764792"/>
          </a:xfrm>
          <a:prstGeom prst="roundRect">
            <a:avLst>
              <a:gd name="adj" fmla="val 8290"/>
            </a:avLst>
          </a:prstGeom>
          <a:solidFill>
            <a:srgbClr val="FFFFFF"/>
          </a:solidFill>
          <a:ln w="7620">
            <a:solidFill>
              <a:srgbClr val="DDE2ED"/>
            </a:solidFill>
            <a:prstDash val="solid"/>
          </a:ln>
        </p:spPr>
      </p:sp>
      <p:sp>
        <p:nvSpPr>
          <p:cNvPr id="24" name="Shape 22"/>
          <p:cNvSpPr/>
          <p:nvPr/>
        </p:nvSpPr>
        <p:spPr>
          <a:xfrm>
            <a:off x="6382512" y="3941064"/>
            <a:ext cx="41148" cy="1344168"/>
          </a:xfrm>
          <a:prstGeom prst="rect">
            <a:avLst/>
          </a:prstGeom>
          <a:solidFill>
            <a:srgbClr val="147D7A"/>
          </a:solidFill>
          <a:ln w="12700">
            <a:solidFill>
              <a:srgbClr val="147D7A">
                <a:alpha val="0"/>
              </a:srgbClr>
            </a:solidFill>
            <a:prstDash val="solid"/>
          </a:ln>
        </p:spPr>
      </p:sp>
      <p:sp>
        <p:nvSpPr>
          <p:cNvPr id="25" name="Text 23"/>
          <p:cNvSpPr/>
          <p:nvPr/>
        </p:nvSpPr>
        <p:spPr>
          <a:xfrm>
            <a:off x="6583680" y="3931920"/>
            <a:ext cx="4773168" cy="338328"/>
          </a:xfrm>
          <a:prstGeom prst="rect">
            <a:avLst/>
          </a:prstGeom>
          <a:noFill/>
          <a:ln/>
        </p:spPr>
        <p:txBody>
          <a:bodyPr wrap="square" lIns="0" tIns="0" rIns="0" bIns="0" rtlCol="0" anchor="ctr">
            <a:normAutofit/>
          </a:bodyPr>
          <a:lstStyle/>
          <a:p>
            <a:pPr indent="0" marL="0">
              <a:buNone/>
            </a:pPr>
            <a:r>
              <a:rPr lang="en-US" sz="1700" b="1" dirty="0">
                <a:solidFill>
                  <a:srgbClr val="147D7A"/>
                </a:solidFill>
                <a:latin typeface="Malgun Gothic" pitchFamily="34" charset="0"/>
                <a:ea typeface="Malgun Gothic" pitchFamily="34" charset="-122"/>
                <a:cs typeface="Malgun Gothic" pitchFamily="34" charset="-120"/>
              </a:rPr>
              <a:t>우선 줄일 것</a:t>
            </a:r>
            <a:endParaRPr lang="en-US" sz="1700" dirty="0"/>
          </a:p>
        </p:txBody>
      </p:sp>
      <p:sp>
        <p:nvSpPr>
          <p:cNvPr id="26" name="Text 24"/>
          <p:cNvSpPr/>
          <p:nvPr/>
        </p:nvSpPr>
        <p:spPr>
          <a:xfrm>
            <a:off x="6583680" y="4507992"/>
            <a:ext cx="4718304" cy="822960"/>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자동 화면 공유·자동 마이크·중복 분석</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복잡한 분석 메뉴·근거 없는 상품명·검색 링크 남발</a:t>
            </a:r>
            <a:endParaRPr lang="en-US" sz="1500" dirty="0"/>
          </a:p>
        </p:txBody>
      </p:sp>
      <p:sp>
        <p:nvSpPr>
          <p:cNvPr id="27" name="Shape 25"/>
          <p:cNvSpPr/>
          <p:nvPr/>
        </p:nvSpPr>
        <p:spPr>
          <a:xfrm>
            <a:off x="548640" y="5824728"/>
            <a:ext cx="11082528" cy="438912"/>
          </a:xfrm>
          <a:prstGeom prst="roundRect">
            <a:avLst>
              <a:gd name="adj" fmla="val 33333"/>
            </a:avLst>
          </a:prstGeom>
          <a:solidFill>
            <a:srgbClr val="EEE9FD"/>
          </a:solidFill>
          <a:ln w="7620">
            <a:solidFill>
              <a:srgbClr val="EEE9FD"/>
            </a:solidFill>
            <a:prstDash val="solid"/>
          </a:ln>
        </p:spPr>
      </p:sp>
      <p:sp>
        <p:nvSpPr>
          <p:cNvPr id="28" name="Text 26"/>
          <p:cNvSpPr/>
          <p:nvPr/>
        </p:nvSpPr>
        <p:spPr>
          <a:xfrm>
            <a:off x="731520" y="5916168"/>
            <a:ext cx="10698480" cy="237744"/>
          </a:xfrm>
          <a:prstGeom prst="rect">
            <a:avLst/>
          </a:prstGeom>
          <a:noFill/>
          <a:ln/>
        </p:spPr>
        <p:txBody>
          <a:bodyPr wrap="square" lIns="0" tIns="0" rIns="0" bIns="0" rtlCol="0" anchor="ctr">
            <a:normAutofit/>
          </a:bodyPr>
          <a:lstStyle/>
          <a:p>
            <a:pPr indent="0" marL="0">
              <a:buNone/>
            </a:pPr>
            <a:r>
              <a:rPr lang="en-US" sz="1140" b="1" dirty="0">
                <a:solidFill>
                  <a:srgbClr val="7150E8"/>
                </a:solidFill>
                <a:latin typeface="Malgun Gothic" pitchFamily="34" charset="0"/>
                <a:ea typeface="Malgun Gothic" pitchFamily="34" charset="-122"/>
                <a:cs typeface="Malgun Gothic" pitchFamily="34" charset="-120"/>
              </a:rPr>
              <a:t>가격 알림·공유 목록·추천 개인화는 데이터 신뢰도와 이용 동의가 갖춰진 뒤 추가한다.</a:t>
            </a:r>
            <a:endParaRPr lang="en-US" sz="114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548640" y="274320"/>
            <a:ext cx="10058400" cy="228600"/>
          </a:xfrm>
          <a:prstGeom prst="rect">
            <a:avLst/>
          </a:prstGeom>
          <a:noFill/>
          <a:ln/>
        </p:spPr>
        <p:txBody>
          <a:bodyPr wrap="square" lIns="0" tIns="0" rIns="0" bIns="0" rtlCol="0" anchor="ctr">
            <a:normAutofit/>
          </a:bodyPr>
          <a:lstStyle/>
          <a:p>
            <a:pPr indent="0" marL="0">
              <a:buNone/>
            </a:pPr>
            <a:r>
              <a:rPr lang="en-US" sz="900" b="1" spc="160" kern="0" dirty="0">
                <a:solidFill>
                  <a:srgbClr val="7150E8"/>
                </a:solidFill>
                <a:latin typeface="Malgun Gothic" pitchFamily="34" charset="0"/>
                <a:ea typeface="Malgun Gothic" pitchFamily="34" charset="-122"/>
                <a:cs typeface="Malgun Gothic" pitchFamily="34" charset="-120"/>
              </a:rPr>
              <a:t>02 / BUSINESS PILOT</a:t>
            </a:r>
            <a:endParaRPr lang="en-US" sz="900" dirty="0"/>
          </a:p>
        </p:txBody>
      </p:sp>
      <p:sp>
        <p:nvSpPr>
          <p:cNvPr id="3" name="Text 1"/>
          <p:cNvSpPr/>
          <p:nvPr/>
        </p:nvSpPr>
        <p:spPr>
          <a:xfrm>
            <a:off x="548640" y="758952"/>
            <a:ext cx="11082528" cy="795528"/>
          </a:xfrm>
          <a:prstGeom prst="rect">
            <a:avLst/>
          </a:prstGeom>
          <a:noFill/>
          <a:ln/>
        </p:spPr>
        <p:txBody>
          <a:bodyPr wrap="square" lIns="0" tIns="0" rIns="0" bIns="0" rtlCol="0" anchor="ctr">
            <a:normAutofit/>
          </a:bodyPr>
          <a:lstStyle/>
          <a:p>
            <a:pPr indent="0" marL="0">
              <a:buNone/>
            </a:pPr>
            <a:r>
              <a:rPr lang="en-US" sz="2700" b="1" dirty="0">
                <a:solidFill>
                  <a:srgbClr val="20243A"/>
                </a:solidFill>
                <a:latin typeface="Malgun Gothic" pitchFamily="34" charset="0"/>
                <a:ea typeface="Malgun Gothic" pitchFamily="34" charset="-122"/>
                <a:cs typeface="Malgun Gothic" pitchFamily="34" charset="-120"/>
              </a:rPr>
              <a:t>B2B는 “내 상품과 내 업무”를 확실하게 연결한다</a:t>
            </a:r>
            <a:endParaRPr lang="en-US" sz="2700" dirty="0"/>
          </a:p>
        </p:txBody>
      </p:sp>
      <p:sp>
        <p:nvSpPr>
          <p:cNvPr id="4" name="Shape 2"/>
          <p:cNvSpPr/>
          <p:nvPr/>
        </p:nvSpPr>
        <p:spPr>
          <a:xfrm>
            <a:off x="548640" y="1682496"/>
            <a:ext cx="11064240" cy="0"/>
          </a:xfrm>
          <a:prstGeom prst="line">
            <a:avLst/>
          </a:prstGeom>
          <a:noFill/>
          <a:ln w="12700">
            <a:solidFill>
              <a:srgbClr val="DDE2ED"/>
            </a:solidFill>
            <a:prstDash val="solid"/>
          </a:ln>
        </p:spPr>
      </p:sp>
      <p:sp>
        <p:nvSpPr>
          <p:cNvPr id="5" name="Text 3"/>
          <p:cNvSpPr/>
          <p:nvPr/>
        </p:nvSpPr>
        <p:spPr>
          <a:xfrm>
            <a:off x="548640" y="6519672"/>
            <a:ext cx="8869680" cy="164592"/>
          </a:xfrm>
          <a:prstGeom prst="rect">
            <a:avLst/>
          </a:prstGeom>
          <a:noFill/>
          <a:ln/>
        </p:spPr>
        <p:txBody>
          <a:bodyPr wrap="square" lIns="0" tIns="0" rIns="0" bIns="0" rtlCol="0" anchor="ctr">
            <a:normAutofit/>
          </a:bodyPr>
          <a:lstStyle/>
          <a:p>
            <a:pPr indent="0" marL="0">
              <a:buNone/>
            </a:pPr>
            <a:r>
              <a:rPr lang="en-US" sz="800" dirty="0">
                <a:solidFill>
                  <a:srgbClr val="677087"/>
                </a:solidFill>
                <a:latin typeface="Malgun Gothic" pitchFamily="34" charset="0"/>
                <a:ea typeface="Malgun Gothic" pitchFamily="34" charset="-122"/>
                <a:cs typeface="Malgun Gothic" pitchFamily="34" charset="-120"/>
              </a:rPr>
              <a:t>CleanTouch  |  사업화 현황 진단  |  2026.10.15</a:t>
            </a:r>
            <a:endParaRPr lang="en-US" sz="800" dirty="0"/>
          </a:p>
        </p:txBody>
      </p:sp>
      <p:sp>
        <p:nvSpPr>
          <p:cNvPr id="6" name="Text 4"/>
          <p:cNvSpPr/>
          <p:nvPr/>
        </p:nvSpPr>
        <p:spPr>
          <a:xfrm>
            <a:off x="10698480" y="6501384"/>
            <a:ext cx="914400" cy="182880"/>
          </a:xfrm>
          <a:prstGeom prst="rect">
            <a:avLst/>
          </a:prstGeom>
          <a:noFill/>
          <a:ln/>
        </p:spPr>
        <p:txBody>
          <a:bodyPr wrap="square" lIns="0" tIns="0" rIns="0" bIns="0" rtlCol="0" anchor="ctr">
            <a:normAutofit/>
          </a:bodyPr>
          <a:lstStyle/>
          <a:p>
            <a:pPr algn="r" indent="0" marL="0">
              <a:buNone/>
            </a:pPr>
            <a:r>
              <a:rPr lang="en-US" sz="800" dirty="0">
                <a:solidFill>
                  <a:srgbClr val="677087"/>
                </a:solidFill>
                <a:latin typeface="Malgun Gothic" pitchFamily="34" charset="0"/>
                <a:ea typeface="Malgun Gothic" pitchFamily="34" charset="-122"/>
                <a:cs typeface="Malgun Gothic" pitchFamily="34" charset="-120"/>
              </a:rPr>
              <a:t>12 / 24</a:t>
            </a:r>
            <a:endParaRPr lang="en-US" sz="800" dirty="0"/>
          </a:p>
        </p:txBody>
      </p:sp>
      <p:sp>
        <p:nvSpPr>
          <p:cNvPr id="7" name="Shape 5"/>
          <p:cNvSpPr/>
          <p:nvPr/>
        </p:nvSpPr>
        <p:spPr>
          <a:xfrm>
            <a:off x="548640" y="1901952"/>
            <a:ext cx="5413248" cy="1700784"/>
          </a:xfrm>
          <a:prstGeom prst="roundRect">
            <a:avLst>
              <a:gd name="adj" fmla="val 8602"/>
            </a:avLst>
          </a:prstGeom>
          <a:solidFill>
            <a:srgbClr val="FFFFFF"/>
          </a:solidFill>
          <a:ln w="7620">
            <a:solidFill>
              <a:srgbClr val="DDE2ED"/>
            </a:solidFill>
            <a:prstDash val="solid"/>
          </a:ln>
        </p:spPr>
      </p:sp>
      <p:sp>
        <p:nvSpPr>
          <p:cNvPr id="8" name="Shape 6"/>
          <p:cNvSpPr/>
          <p:nvPr/>
        </p:nvSpPr>
        <p:spPr>
          <a:xfrm>
            <a:off x="713232" y="2112264"/>
            <a:ext cx="41148" cy="1280160"/>
          </a:xfrm>
          <a:prstGeom prst="rect">
            <a:avLst/>
          </a:prstGeom>
          <a:solidFill>
            <a:srgbClr val="7150E8"/>
          </a:solidFill>
          <a:ln w="12700">
            <a:solidFill>
              <a:srgbClr val="7150E8">
                <a:alpha val="0"/>
              </a:srgbClr>
            </a:solidFill>
            <a:prstDash val="solid"/>
          </a:ln>
        </p:spPr>
      </p:sp>
      <p:sp>
        <p:nvSpPr>
          <p:cNvPr id="9" name="Text 7"/>
          <p:cNvSpPr/>
          <p:nvPr/>
        </p:nvSpPr>
        <p:spPr>
          <a:xfrm>
            <a:off x="914400" y="2103120"/>
            <a:ext cx="4773168" cy="338328"/>
          </a:xfrm>
          <a:prstGeom prst="rect">
            <a:avLst/>
          </a:prstGeom>
          <a:noFill/>
          <a:ln/>
        </p:spPr>
        <p:txBody>
          <a:bodyPr wrap="square" lIns="0" tIns="0" rIns="0" bIns="0" rtlCol="0" anchor="ctr">
            <a:normAutofit/>
          </a:bodyPr>
          <a:lstStyle/>
          <a:p>
            <a:pPr indent="0" marL="0">
              <a:buNone/>
            </a:pPr>
            <a:r>
              <a:rPr lang="en-US" sz="1700" b="1" dirty="0">
                <a:solidFill>
                  <a:srgbClr val="7150E8"/>
                </a:solidFill>
                <a:latin typeface="Malgun Gothic" pitchFamily="34" charset="0"/>
                <a:ea typeface="Malgun Gothic" pitchFamily="34" charset="-122"/>
                <a:cs typeface="Malgun Gothic" pitchFamily="34" charset="-120"/>
              </a:rPr>
              <a:t>판매자·브랜드</a:t>
            </a:r>
            <a:endParaRPr lang="en-US" sz="1700" dirty="0"/>
          </a:p>
        </p:txBody>
      </p:sp>
      <p:sp>
        <p:nvSpPr>
          <p:cNvPr id="10" name="Text 8"/>
          <p:cNvSpPr/>
          <p:nvPr/>
        </p:nvSpPr>
        <p:spPr>
          <a:xfrm>
            <a:off x="914400" y="2679192"/>
            <a:ext cx="4718304" cy="758952"/>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자사 영상에 SKU 태그와 상품 카드 연결</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신상품/품절 갱신 · 클릭→판매처 추적</a:t>
            </a:r>
            <a:endParaRPr lang="en-US" sz="1500" dirty="0"/>
          </a:p>
        </p:txBody>
      </p:sp>
      <p:sp>
        <p:nvSpPr>
          <p:cNvPr id="11" name="Shape 9"/>
          <p:cNvSpPr/>
          <p:nvPr/>
        </p:nvSpPr>
        <p:spPr>
          <a:xfrm>
            <a:off x="6217920" y="1901952"/>
            <a:ext cx="5413248" cy="1700784"/>
          </a:xfrm>
          <a:prstGeom prst="roundRect">
            <a:avLst>
              <a:gd name="adj" fmla="val 8602"/>
            </a:avLst>
          </a:prstGeom>
          <a:solidFill>
            <a:srgbClr val="FFFFFF"/>
          </a:solidFill>
          <a:ln w="7620">
            <a:solidFill>
              <a:srgbClr val="DDE2ED"/>
            </a:solidFill>
            <a:prstDash val="solid"/>
          </a:ln>
        </p:spPr>
      </p:sp>
      <p:sp>
        <p:nvSpPr>
          <p:cNvPr id="12" name="Shape 10"/>
          <p:cNvSpPr/>
          <p:nvPr/>
        </p:nvSpPr>
        <p:spPr>
          <a:xfrm>
            <a:off x="6382512" y="2112264"/>
            <a:ext cx="41148" cy="1280160"/>
          </a:xfrm>
          <a:prstGeom prst="rect">
            <a:avLst/>
          </a:prstGeom>
          <a:solidFill>
            <a:srgbClr val="147D7A"/>
          </a:solidFill>
          <a:ln w="12700">
            <a:solidFill>
              <a:srgbClr val="147D7A">
                <a:alpha val="0"/>
              </a:srgbClr>
            </a:solidFill>
            <a:prstDash val="solid"/>
          </a:ln>
        </p:spPr>
      </p:sp>
      <p:sp>
        <p:nvSpPr>
          <p:cNvPr id="13" name="Text 11"/>
          <p:cNvSpPr/>
          <p:nvPr/>
        </p:nvSpPr>
        <p:spPr>
          <a:xfrm>
            <a:off x="6583680" y="2103120"/>
            <a:ext cx="4773168" cy="338328"/>
          </a:xfrm>
          <a:prstGeom prst="rect">
            <a:avLst/>
          </a:prstGeom>
          <a:noFill/>
          <a:ln/>
        </p:spPr>
        <p:txBody>
          <a:bodyPr wrap="square" lIns="0" tIns="0" rIns="0" bIns="0" rtlCol="0" anchor="ctr">
            <a:normAutofit/>
          </a:bodyPr>
          <a:lstStyle/>
          <a:p>
            <a:pPr indent="0" marL="0">
              <a:buNone/>
            </a:pPr>
            <a:r>
              <a:rPr lang="en-US" sz="1700" b="1" dirty="0">
                <a:solidFill>
                  <a:srgbClr val="147D7A"/>
                </a:solidFill>
                <a:latin typeface="Malgun Gothic" pitchFamily="34" charset="0"/>
                <a:ea typeface="Malgun Gothic" pitchFamily="34" charset="-122"/>
                <a:cs typeface="Malgun Gothic" pitchFamily="34" charset="-120"/>
              </a:rPr>
              <a:t>커머스·상담팀</a:t>
            </a:r>
            <a:endParaRPr lang="en-US" sz="1700" dirty="0"/>
          </a:p>
        </p:txBody>
      </p:sp>
      <p:sp>
        <p:nvSpPr>
          <p:cNvPr id="14" name="Text 12"/>
          <p:cNvSpPr/>
          <p:nvPr/>
        </p:nvSpPr>
        <p:spPr>
          <a:xfrm>
            <a:off x="6583680" y="2679192"/>
            <a:ext cx="4718304" cy="758952"/>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고객이 보낸 사진을 승인된 상품군과 대조</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상담원이 근거 확인 후 상품 링크 제안</a:t>
            </a:r>
            <a:endParaRPr lang="en-US" sz="1500" dirty="0"/>
          </a:p>
        </p:txBody>
      </p:sp>
      <p:sp>
        <p:nvSpPr>
          <p:cNvPr id="15" name="Shape 13"/>
          <p:cNvSpPr/>
          <p:nvPr/>
        </p:nvSpPr>
        <p:spPr>
          <a:xfrm>
            <a:off x="548640" y="3785616"/>
            <a:ext cx="5413248" cy="1700784"/>
          </a:xfrm>
          <a:prstGeom prst="roundRect">
            <a:avLst>
              <a:gd name="adj" fmla="val 8602"/>
            </a:avLst>
          </a:prstGeom>
          <a:solidFill>
            <a:srgbClr val="FFFFFF"/>
          </a:solidFill>
          <a:ln w="7620">
            <a:solidFill>
              <a:srgbClr val="DDE2ED"/>
            </a:solidFill>
            <a:prstDash val="solid"/>
          </a:ln>
        </p:spPr>
      </p:sp>
      <p:sp>
        <p:nvSpPr>
          <p:cNvPr id="16" name="Shape 14"/>
          <p:cNvSpPr/>
          <p:nvPr/>
        </p:nvSpPr>
        <p:spPr>
          <a:xfrm>
            <a:off x="713232" y="3995928"/>
            <a:ext cx="41148" cy="1280160"/>
          </a:xfrm>
          <a:prstGeom prst="rect">
            <a:avLst/>
          </a:prstGeom>
          <a:solidFill>
            <a:srgbClr val="7150E8"/>
          </a:solidFill>
          <a:ln w="12700">
            <a:solidFill>
              <a:srgbClr val="7150E8">
                <a:alpha val="0"/>
              </a:srgbClr>
            </a:solidFill>
            <a:prstDash val="solid"/>
          </a:ln>
        </p:spPr>
      </p:sp>
      <p:sp>
        <p:nvSpPr>
          <p:cNvPr id="17" name="Text 15"/>
          <p:cNvSpPr/>
          <p:nvPr/>
        </p:nvSpPr>
        <p:spPr>
          <a:xfrm>
            <a:off x="914400" y="3986784"/>
            <a:ext cx="4773168" cy="338328"/>
          </a:xfrm>
          <a:prstGeom prst="rect">
            <a:avLst/>
          </a:prstGeom>
          <a:noFill/>
          <a:ln/>
        </p:spPr>
        <p:txBody>
          <a:bodyPr wrap="square" lIns="0" tIns="0" rIns="0" bIns="0" rtlCol="0" anchor="ctr">
            <a:normAutofit/>
          </a:bodyPr>
          <a:lstStyle/>
          <a:p>
            <a:pPr indent="0" marL="0">
              <a:buNone/>
            </a:pPr>
            <a:r>
              <a:rPr lang="en-US" sz="1700" b="1" dirty="0">
                <a:solidFill>
                  <a:srgbClr val="7150E8"/>
                </a:solidFill>
                <a:latin typeface="Malgun Gothic" pitchFamily="34" charset="0"/>
                <a:ea typeface="Malgun Gothic" pitchFamily="34" charset="-122"/>
                <a:cs typeface="Malgun Gothic" pitchFamily="34" charset="-120"/>
              </a:rPr>
              <a:t>콘텐츠·운영팀</a:t>
            </a:r>
            <a:endParaRPr lang="en-US" sz="1700" dirty="0"/>
          </a:p>
        </p:txBody>
      </p:sp>
      <p:sp>
        <p:nvSpPr>
          <p:cNvPr id="18" name="Text 16"/>
          <p:cNvSpPr/>
          <p:nvPr/>
        </p:nvSpPr>
        <p:spPr>
          <a:xfrm>
            <a:off x="914400" y="4562856"/>
            <a:ext cx="4718304" cy="758952"/>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상품 등장 구간을 찾고 목록/검수 작업 보조</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자동 결과는 검토 후 공개 · CSV/API 내보내기</a:t>
            </a:r>
            <a:endParaRPr lang="en-US" sz="1500" dirty="0"/>
          </a:p>
        </p:txBody>
      </p:sp>
      <p:sp>
        <p:nvSpPr>
          <p:cNvPr id="19" name="Shape 17"/>
          <p:cNvSpPr/>
          <p:nvPr/>
        </p:nvSpPr>
        <p:spPr>
          <a:xfrm>
            <a:off x="6217920" y="3785616"/>
            <a:ext cx="5413248" cy="1700784"/>
          </a:xfrm>
          <a:prstGeom prst="roundRect">
            <a:avLst>
              <a:gd name="adj" fmla="val 8602"/>
            </a:avLst>
          </a:prstGeom>
          <a:solidFill>
            <a:srgbClr val="FFFFFF"/>
          </a:solidFill>
          <a:ln w="7620">
            <a:solidFill>
              <a:srgbClr val="DDE2ED"/>
            </a:solidFill>
            <a:prstDash val="solid"/>
          </a:ln>
        </p:spPr>
      </p:sp>
      <p:sp>
        <p:nvSpPr>
          <p:cNvPr id="20" name="Shape 18"/>
          <p:cNvSpPr/>
          <p:nvPr/>
        </p:nvSpPr>
        <p:spPr>
          <a:xfrm>
            <a:off x="6382512" y="3995928"/>
            <a:ext cx="41148" cy="1280160"/>
          </a:xfrm>
          <a:prstGeom prst="rect">
            <a:avLst/>
          </a:prstGeom>
          <a:solidFill>
            <a:srgbClr val="147D7A"/>
          </a:solidFill>
          <a:ln w="12700">
            <a:solidFill>
              <a:srgbClr val="147D7A">
                <a:alpha val="0"/>
              </a:srgbClr>
            </a:solidFill>
            <a:prstDash val="solid"/>
          </a:ln>
        </p:spPr>
      </p:sp>
      <p:sp>
        <p:nvSpPr>
          <p:cNvPr id="21" name="Text 19"/>
          <p:cNvSpPr/>
          <p:nvPr/>
        </p:nvSpPr>
        <p:spPr>
          <a:xfrm>
            <a:off x="6583680" y="3986784"/>
            <a:ext cx="4773168" cy="338328"/>
          </a:xfrm>
          <a:prstGeom prst="rect">
            <a:avLst/>
          </a:prstGeom>
          <a:noFill/>
          <a:ln/>
        </p:spPr>
        <p:txBody>
          <a:bodyPr wrap="square" lIns="0" tIns="0" rIns="0" bIns="0" rtlCol="0" anchor="ctr">
            <a:normAutofit/>
          </a:bodyPr>
          <a:lstStyle/>
          <a:p>
            <a:pPr indent="0" marL="0">
              <a:buNone/>
            </a:pPr>
            <a:r>
              <a:rPr lang="en-US" sz="1700" b="1" dirty="0">
                <a:solidFill>
                  <a:srgbClr val="147D7A"/>
                </a:solidFill>
                <a:latin typeface="Malgun Gothic" pitchFamily="34" charset="0"/>
                <a:ea typeface="Malgun Gothic" pitchFamily="34" charset="-122"/>
                <a:cs typeface="Malgun Gothic" pitchFamily="34" charset="-120"/>
              </a:rPr>
              <a:t>실증 계약 단위</a:t>
            </a:r>
            <a:endParaRPr lang="en-US" sz="1700" dirty="0"/>
          </a:p>
        </p:txBody>
      </p:sp>
      <p:sp>
        <p:nvSpPr>
          <p:cNvPr id="22" name="Text 20"/>
          <p:cNvSpPr/>
          <p:nvPr/>
        </p:nvSpPr>
        <p:spPr>
          <a:xfrm>
            <a:off x="6583680" y="4562856"/>
            <a:ext cx="4718304" cy="758952"/>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한 업종·한 카탈로그·정해진 SKU/영상 수</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시간 절감·정확도·운영 부담을 전후 비교</a:t>
            </a:r>
            <a:endParaRPr lang="en-US" sz="1500" dirty="0"/>
          </a:p>
        </p:txBody>
      </p:sp>
      <p:sp>
        <p:nvSpPr>
          <p:cNvPr id="23" name="Shape 21"/>
          <p:cNvSpPr/>
          <p:nvPr/>
        </p:nvSpPr>
        <p:spPr>
          <a:xfrm>
            <a:off x="548640" y="5824728"/>
            <a:ext cx="11082528" cy="438912"/>
          </a:xfrm>
          <a:prstGeom prst="roundRect">
            <a:avLst>
              <a:gd name="adj" fmla="val 33333"/>
            </a:avLst>
          </a:prstGeom>
          <a:solidFill>
            <a:srgbClr val="EEE9FD"/>
          </a:solidFill>
          <a:ln w="7620">
            <a:solidFill>
              <a:srgbClr val="EEE9FD"/>
            </a:solidFill>
            <a:prstDash val="solid"/>
          </a:ln>
        </p:spPr>
      </p:sp>
      <p:sp>
        <p:nvSpPr>
          <p:cNvPr id="24" name="Text 22"/>
          <p:cNvSpPr/>
          <p:nvPr/>
        </p:nvSpPr>
        <p:spPr>
          <a:xfrm>
            <a:off x="731520" y="5916168"/>
            <a:ext cx="10698480" cy="237744"/>
          </a:xfrm>
          <a:prstGeom prst="rect">
            <a:avLst/>
          </a:prstGeom>
          <a:noFill/>
          <a:ln/>
        </p:spPr>
        <p:txBody>
          <a:bodyPr wrap="square" lIns="0" tIns="0" rIns="0" bIns="0" rtlCol="0" anchor="ctr">
            <a:normAutofit/>
          </a:bodyPr>
          <a:lstStyle/>
          <a:p>
            <a:pPr indent="0" marL="0">
              <a:buNone/>
            </a:pPr>
            <a:r>
              <a:rPr lang="en-US" sz="1140" b="1" dirty="0">
                <a:solidFill>
                  <a:srgbClr val="7150E8"/>
                </a:solidFill>
                <a:latin typeface="Malgun Gothic" pitchFamily="34" charset="0"/>
                <a:ea typeface="Malgun Gothic" pitchFamily="34" charset="-122"/>
                <a:cs typeface="Malgun Gothic" pitchFamily="34" charset="-120"/>
              </a:rPr>
              <a:t>첫 고객의 목표는 “AI 도입”이 아니라, 측정 가능한 업무 개선과 구매 연결이다.</a:t>
            </a:r>
            <a:endParaRPr lang="en-US" sz="114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548640" y="274320"/>
            <a:ext cx="10058400" cy="228600"/>
          </a:xfrm>
          <a:prstGeom prst="rect">
            <a:avLst/>
          </a:prstGeom>
          <a:noFill/>
          <a:ln/>
        </p:spPr>
        <p:txBody>
          <a:bodyPr wrap="square" lIns="0" tIns="0" rIns="0" bIns="0" rtlCol="0" anchor="ctr">
            <a:normAutofit/>
          </a:bodyPr>
          <a:lstStyle/>
          <a:p>
            <a:pPr indent="0" marL="0">
              <a:buNone/>
            </a:pPr>
            <a:r>
              <a:rPr lang="en-US" sz="900" b="1" spc="160" kern="0" dirty="0">
                <a:solidFill>
                  <a:srgbClr val="7150E8"/>
                </a:solidFill>
                <a:latin typeface="Malgun Gothic" pitchFamily="34" charset="0"/>
                <a:ea typeface="Malgun Gothic" pitchFamily="34" charset="-122"/>
                <a:cs typeface="Malgun Gothic" pitchFamily="34" charset="-120"/>
              </a:rPr>
              <a:t>02 / DIFFERENTIATION</a:t>
            </a:r>
            <a:endParaRPr lang="en-US" sz="900" dirty="0"/>
          </a:p>
        </p:txBody>
      </p:sp>
      <p:sp>
        <p:nvSpPr>
          <p:cNvPr id="3" name="Text 1"/>
          <p:cNvSpPr/>
          <p:nvPr/>
        </p:nvSpPr>
        <p:spPr>
          <a:xfrm>
            <a:off x="548640" y="758952"/>
            <a:ext cx="11082528" cy="795528"/>
          </a:xfrm>
          <a:prstGeom prst="rect">
            <a:avLst/>
          </a:prstGeom>
          <a:noFill/>
          <a:ln/>
        </p:spPr>
        <p:txBody>
          <a:bodyPr wrap="square" lIns="0" tIns="0" rIns="0" bIns="0" rtlCol="0" anchor="ctr">
            <a:normAutofit/>
          </a:bodyPr>
          <a:lstStyle/>
          <a:p>
            <a:pPr indent="0" marL="0">
              <a:buNone/>
            </a:pPr>
            <a:r>
              <a:rPr lang="en-US" sz="2700" b="1" dirty="0">
                <a:solidFill>
                  <a:srgbClr val="20243A"/>
                </a:solidFill>
                <a:latin typeface="Malgun Gothic" pitchFamily="34" charset="0"/>
                <a:ea typeface="Malgun Gothic" pitchFamily="34" charset="-122"/>
                <a:cs typeface="Malgun Gothic" pitchFamily="34" charset="-120"/>
              </a:rPr>
              <a:t>모델을 연결했다는 사실보다, 고객의 탐색을 끝내주는 결과가 경쟁력</a:t>
            </a:r>
            <a:endParaRPr lang="en-US" sz="2700" dirty="0"/>
          </a:p>
        </p:txBody>
      </p:sp>
      <p:sp>
        <p:nvSpPr>
          <p:cNvPr id="4" name="Shape 2"/>
          <p:cNvSpPr/>
          <p:nvPr/>
        </p:nvSpPr>
        <p:spPr>
          <a:xfrm>
            <a:off x="548640" y="1682496"/>
            <a:ext cx="11064240" cy="0"/>
          </a:xfrm>
          <a:prstGeom prst="line">
            <a:avLst/>
          </a:prstGeom>
          <a:noFill/>
          <a:ln w="12700">
            <a:solidFill>
              <a:srgbClr val="DDE2ED"/>
            </a:solidFill>
            <a:prstDash val="solid"/>
          </a:ln>
        </p:spPr>
      </p:sp>
      <p:sp>
        <p:nvSpPr>
          <p:cNvPr id="5" name="Text 3"/>
          <p:cNvSpPr/>
          <p:nvPr/>
        </p:nvSpPr>
        <p:spPr>
          <a:xfrm>
            <a:off x="548640" y="6519672"/>
            <a:ext cx="8869680" cy="164592"/>
          </a:xfrm>
          <a:prstGeom prst="rect">
            <a:avLst/>
          </a:prstGeom>
          <a:noFill/>
          <a:ln/>
        </p:spPr>
        <p:txBody>
          <a:bodyPr wrap="square" lIns="0" tIns="0" rIns="0" bIns="0" rtlCol="0" anchor="ctr">
            <a:normAutofit/>
          </a:bodyPr>
          <a:lstStyle/>
          <a:p>
            <a:pPr indent="0" marL="0">
              <a:buNone/>
            </a:pPr>
            <a:r>
              <a:rPr lang="en-US" sz="800" dirty="0">
                <a:solidFill>
                  <a:srgbClr val="677087"/>
                </a:solidFill>
                <a:latin typeface="Malgun Gothic" pitchFamily="34" charset="0"/>
                <a:ea typeface="Malgun Gothic" pitchFamily="34" charset="-122"/>
                <a:cs typeface="Malgun Gothic" pitchFamily="34" charset="-120"/>
              </a:rPr>
              <a:t>CleanTouch  |  사업화 현황 진단  |  2026.10.15</a:t>
            </a:r>
            <a:endParaRPr lang="en-US" sz="800" dirty="0"/>
          </a:p>
        </p:txBody>
      </p:sp>
      <p:sp>
        <p:nvSpPr>
          <p:cNvPr id="6" name="Text 4"/>
          <p:cNvSpPr/>
          <p:nvPr/>
        </p:nvSpPr>
        <p:spPr>
          <a:xfrm>
            <a:off x="10698480" y="6501384"/>
            <a:ext cx="914400" cy="182880"/>
          </a:xfrm>
          <a:prstGeom prst="rect">
            <a:avLst/>
          </a:prstGeom>
          <a:noFill/>
          <a:ln/>
        </p:spPr>
        <p:txBody>
          <a:bodyPr wrap="square" lIns="0" tIns="0" rIns="0" bIns="0" rtlCol="0" anchor="ctr">
            <a:normAutofit/>
          </a:bodyPr>
          <a:lstStyle/>
          <a:p>
            <a:pPr algn="r" indent="0" marL="0">
              <a:buNone/>
            </a:pPr>
            <a:r>
              <a:rPr lang="en-US" sz="800" dirty="0">
                <a:solidFill>
                  <a:srgbClr val="677087"/>
                </a:solidFill>
                <a:latin typeface="Malgun Gothic" pitchFamily="34" charset="0"/>
                <a:ea typeface="Malgun Gothic" pitchFamily="34" charset="-122"/>
                <a:cs typeface="Malgun Gothic" pitchFamily="34" charset="-120"/>
              </a:rPr>
              <a:t>13 / 24</a:t>
            </a:r>
            <a:endParaRPr lang="en-US" sz="800" dirty="0"/>
          </a:p>
        </p:txBody>
      </p:sp>
      <p:sp>
        <p:nvSpPr>
          <p:cNvPr id="7" name="Text 5"/>
          <p:cNvSpPr/>
          <p:nvPr/>
        </p:nvSpPr>
        <p:spPr>
          <a:xfrm>
            <a:off x="594360" y="6364224"/>
            <a:ext cx="10881360" cy="118872"/>
          </a:xfrm>
          <a:prstGeom prst="rect">
            <a:avLst/>
          </a:prstGeom>
          <a:noFill/>
          <a:ln/>
        </p:spPr>
        <p:txBody>
          <a:bodyPr wrap="square" lIns="0" tIns="0" rIns="0" bIns="0" rtlCol="0" anchor="ctr">
            <a:normAutofit/>
          </a:bodyPr>
          <a:lstStyle/>
          <a:p>
            <a:pPr indent="0" marL="0">
              <a:buNone/>
            </a:pPr>
            <a:r>
              <a:rPr lang="en-US" sz="700" dirty="0">
                <a:solidFill>
                  <a:srgbClr val="677087"/>
                </a:solidFill>
                <a:latin typeface="Malgun Gothic" pitchFamily="34" charset="0"/>
                <a:ea typeface="Malgun Gothic" pitchFamily="34" charset="-122"/>
                <a:cs typeface="Malgun Gothic" pitchFamily="34" charset="-120"/>
              </a:rPr>
              <a:t>S6 Google · Ecommerce product data / Lens  ·  S1 OpenAI · MCP server and UI quickstart</a:t>
            </a:r>
            <a:endParaRPr lang="en-US" sz="700" dirty="0"/>
          </a:p>
        </p:txBody>
      </p:sp>
      <p:sp>
        <p:nvSpPr>
          <p:cNvPr id="8" name="Shape 6"/>
          <p:cNvSpPr/>
          <p:nvPr/>
        </p:nvSpPr>
        <p:spPr>
          <a:xfrm>
            <a:off x="548640" y="1901952"/>
            <a:ext cx="5413248" cy="1700784"/>
          </a:xfrm>
          <a:prstGeom prst="roundRect">
            <a:avLst>
              <a:gd name="adj" fmla="val 8602"/>
            </a:avLst>
          </a:prstGeom>
          <a:solidFill>
            <a:srgbClr val="FFFFFF"/>
          </a:solidFill>
          <a:ln w="7620">
            <a:solidFill>
              <a:srgbClr val="DDE2ED"/>
            </a:solidFill>
            <a:prstDash val="solid"/>
          </a:ln>
        </p:spPr>
      </p:sp>
      <p:sp>
        <p:nvSpPr>
          <p:cNvPr id="9" name="Shape 7"/>
          <p:cNvSpPr/>
          <p:nvPr/>
        </p:nvSpPr>
        <p:spPr>
          <a:xfrm>
            <a:off x="713232" y="2112264"/>
            <a:ext cx="41148" cy="1280160"/>
          </a:xfrm>
          <a:prstGeom prst="rect">
            <a:avLst/>
          </a:prstGeom>
          <a:solidFill>
            <a:srgbClr val="7150E8"/>
          </a:solidFill>
          <a:ln w="12700">
            <a:solidFill>
              <a:srgbClr val="7150E8">
                <a:alpha val="0"/>
              </a:srgbClr>
            </a:solidFill>
            <a:prstDash val="solid"/>
          </a:ln>
        </p:spPr>
      </p:sp>
      <p:sp>
        <p:nvSpPr>
          <p:cNvPr id="10" name="Text 8"/>
          <p:cNvSpPr/>
          <p:nvPr/>
        </p:nvSpPr>
        <p:spPr>
          <a:xfrm>
            <a:off x="914400" y="2103120"/>
            <a:ext cx="4773168" cy="338328"/>
          </a:xfrm>
          <a:prstGeom prst="rect">
            <a:avLst/>
          </a:prstGeom>
          <a:noFill/>
          <a:ln/>
        </p:spPr>
        <p:txBody>
          <a:bodyPr wrap="square" lIns="0" tIns="0" rIns="0" bIns="0" rtlCol="0" anchor="ctr">
            <a:normAutofit/>
          </a:bodyPr>
          <a:lstStyle/>
          <a:p>
            <a:pPr indent="0" marL="0">
              <a:buNone/>
            </a:pPr>
            <a:r>
              <a:rPr lang="en-US" sz="1700" b="1" dirty="0">
                <a:solidFill>
                  <a:srgbClr val="7150E8"/>
                </a:solidFill>
                <a:latin typeface="Malgun Gothic" pitchFamily="34" charset="0"/>
                <a:ea typeface="Malgun Gothic" pitchFamily="34" charset="-122"/>
                <a:cs typeface="Malgun Gothic" pitchFamily="34" charset="-120"/>
              </a:rPr>
              <a:t>기존 대안과 겹치는 영역</a:t>
            </a:r>
            <a:endParaRPr lang="en-US" sz="1700" dirty="0"/>
          </a:p>
        </p:txBody>
      </p:sp>
      <p:sp>
        <p:nvSpPr>
          <p:cNvPr id="11" name="Text 9"/>
          <p:cNvSpPr/>
          <p:nvPr/>
        </p:nvSpPr>
        <p:spPr>
          <a:xfrm>
            <a:off x="914400" y="2679192"/>
            <a:ext cx="4718304" cy="758952"/>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Google Lens 등의 이미지 검색 · 범용 AI와의 대화</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화면 공유나 설명 기능만으로 유료 가치를 증명하기 어려움</a:t>
            </a:r>
            <a:endParaRPr lang="en-US" sz="1500" dirty="0"/>
          </a:p>
        </p:txBody>
      </p:sp>
      <p:sp>
        <p:nvSpPr>
          <p:cNvPr id="12" name="Shape 10"/>
          <p:cNvSpPr/>
          <p:nvPr/>
        </p:nvSpPr>
        <p:spPr>
          <a:xfrm>
            <a:off x="6217920" y="1901952"/>
            <a:ext cx="5413248" cy="1700784"/>
          </a:xfrm>
          <a:prstGeom prst="roundRect">
            <a:avLst>
              <a:gd name="adj" fmla="val 8602"/>
            </a:avLst>
          </a:prstGeom>
          <a:solidFill>
            <a:srgbClr val="FFFFFF"/>
          </a:solidFill>
          <a:ln w="7620">
            <a:solidFill>
              <a:srgbClr val="DDE2ED"/>
            </a:solidFill>
            <a:prstDash val="solid"/>
          </a:ln>
        </p:spPr>
      </p:sp>
      <p:sp>
        <p:nvSpPr>
          <p:cNvPr id="13" name="Shape 11"/>
          <p:cNvSpPr/>
          <p:nvPr/>
        </p:nvSpPr>
        <p:spPr>
          <a:xfrm>
            <a:off x="6382512" y="2112264"/>
            <a:ext cx="41148" cy="1280160"/>
          </a:xfrm>
          <a:prstGeom prst="rect">
            <a:avLst/>
          </a:prstGeom>
          <a:solidFill>
            <a:srgbClr val="147D7A"/>
          </a:solidFill>
          <a:ln w="12700">
            <a:solidFill>
              <a:srgbClr val="147D7A">
                <a:alpha val="0"/>
              </a:srgbClr>
            </a:solidFill>
            <a:prstDash val="solid"/>
          </a:ln>
        </p:spPr>
      </p:sp>
      <p:sp>
        <p:nvSpPr>
          <p:cNvPr id="14" name="Text 12"/>
          <p:cNvSpPr/>
          <p:nvPr/>
        </p:nvSpPr>
        <p:spPr>
          <a:xfrm>
            <a:off x="6583680" y="2103120"/>
            <a:ext cx="4773168" cy="338328"/>
          </a:xfrm>
          <a:prstGeom prst="rect">
            <a:avLst/>
          </a:prstGeom>
          <a:noFill/>
          <a:ln/>
        </p:spPr>
        <p:txBody>
          <a:bodyPr wrap="square" lIns="0" tIns="0" rIns="0" bIns="0" rtlCol="0" anchor="ctr">
            <a:normAutofit/>
          </a:bodyPr>
          <a:lstStyle/>
          <a:p>
            <a:pPr indent="0" marL="0">
              <a:buNone/>
            </a:pPr>
            <a:r>
              <a:rPr lang="en-US" sz="1700" b="1" dirty="0">
                <a:solidFill>
                  <a:srgbClr val="147D7A"/>
                </a:solidFill>
                <a:latin typeface="Malgun Gothic" pitchFamily="34" charset="0"/>
                <a:ea typeface="Malgun Gothic" pitchFamily="34" charset="-122"/>
                <a:cs typeface="Malgun Gothic" pitchFamily="34" charset="-120"/>
              </a:rPr>
              <a:t>B2C 차별점 · 검증할 가설</a:t>
            </a:r>
            <a:endParaRPr lang="en-US" sz="1700" dirty="0"/>
          </a:p>
        </p:txBody>
      </p:sp>
      <p:sp>
        <p:nvSpPr>
          <p:cNvPr id="15" name="Text 13"/>
          <p:cNvSpPr/>
          <p:nvPr/>
        </p:nvSpPr>
        <p:spPr>
          <a:xfrm>
            <a:off x="6583680" y="2679192"/>
            <a:ext cx="4718304" cy="758952"/>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보던 흐름 유지 · 지나간 상품 재탐색 · 실제 판매처 근거</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기존 검색 대비 성공률·완료 시간·재사용으로 비교</a:t>
            </a:r>
            <a:endParaRPr lang="en-US" sz="1500" dirty="0"/>
          </a:p>
        </p:txBody>
      </p:sp>
      <p:sp>
        <p:nvSpPr>
          <p:cNvPr id="16" name="Shape 14"/>
          <p:cNvSpPr/>
          <p:nvPr/>
        </p:nvSpPr>
        <p:spPr>
          <a:xfrm>
            <a:off x="548640" y="3785616"/>
            <a:ext cx="5413248" cy="1700784"/>
          </a:xfrm>
          <a:prstGeom prst="roundRect">
            <a:avLst>
              <a:gd name="adj" fmla="val 8602"/>
            </a:avLst>
          </a:prstGeom>
          <a:solidFill>
            <a:srgbClr val="FFFFFF"/>
          </a:solidFill>
          <a:ln w="7620">
            <a:solidFill>
              <a:srgbClr val="DDE2ED"/>
            </a:solidFill>
            <a:prstDash val="solid"/>
          </a:ln>
        </p:spPr>
      </p:sp>
      <p:sp>
        <p:nvSpPr>
          <p:cNvPr id="17" name="Shape 15"/>
          <p:cNvSpPr/>
          <p:nvPr/>
        </p:nvSpPr>
        <p:spPr>
          <a:xfrm>
            <a:off x="713232" y="3995928"/>
            <a:ext cx="41148" cy="1280160"/>
          </a:xfrm>
          <a:prstGeom prst="rect">
            <a:avLst/>
          </a:prstGeom>
          <a:solidFill>
            <a:srgbClr val="7150E8"/>
          </a:solidFill>
          <a:ln w="12700">
            <a:solidFill>
              <a:srgbClr val="7150E8">
                <a:alpha val="0"/>
              </a:srgbClr>
            </a:solidFill>
            <a:prstDash val="solid"/>
          </a:ln>
        </p:spPr>
      </p:sp>
      <p:sp>
        <p:nvSpPr>
          <p:cNvPr id="18" name="Text 16"/>
          <p:cNvSpPr/>
          <p:nvPr/>
        </p:nvSpPr>
        <p:spPr>
          <a:xfrm>
            <a:off x="914400" y="3986784"/>
            <a:ext cx="4773168" cy="338328"/>
          </a:xfrm>
          <a:prstGeom prst="rect">
            <a:avLst/>
          </a:prstGeom>
          <a:noFill/>
          <a:ln/>
        </p:spPr>
        <p:txBody>
          <a:bodyPr wrap="square" lIns="0" tIns="0" rIns="0" bIns="0" rtlCol="0" anchor="ctr">
            <a:normAutofit/>
          </a:bodyPr>
          <a:lstStyle/>
          <a:p>
            <a:pPr indent="0" marL="0">
              <a:buNone/>
            </a:pPr>
            <a:r>
              <a:rPr lang="en-US" sz="1700" b="1" dirty="0">
                <a:solidFill>
                  <a:srgbClr val="7150E8"/>
                </a:solidFill>
                <a:latin typeface="Malgun Gothic" pitchFamily="34" charset="0"/>
                <a:ea typeface="Malgun Gothic" pitchFamily="34" charset="-122"/>
                <a:cs typeface="Malgun Gothic" pitchFamily="34" charset="-120"/>
              </a:rPr>
              <a:t>B2B 차별점 · 검증할 가설</a:t>
            </a:r>
            <a:endParaRPr lang="en-US" sz="1700" dirty="0"/>
          </a:p>
        </p:txBody>
      </p:sp>
      <p:sp>
        <p:nvSpPr>
          <p:cNvPr id="19" name="Text 17"/>
          <p:cNvSpPr/>
          <p:nvPr/>
        </p:nvSpPr>
        <p:spPr>
          <a:xfrm>
            <a:off x="914400" y="4562856"/>
            <a:ext cx="4718304" cy="758952"/>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자사 SKU 태그·승인 카탈로그·팀 검수·업무 연동</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판매자가 상품 정보와 전환 흐름을 관리</a:t>
            </a:r>
            <a:endParaRPr lang="en-US" sz="1500" dirty="0"/>
          </a:p>
        </p:txBody>
      </p:sp>
      <p:sp>
        <p:nvSpPr>
          <p:cNvPr id="20" name="Shape 18"/>
          <p:cNvSpPr/>
          <p:nvPr/>
        </p:nvSpPr>
        <p:spPr>
          <a:xfrm>
            <a:off x="6217920" y="3785616"/>
            <a:ext cx="5413248" cy="1700784"/>
          </a:xfrm>
          <a:prstGeom prst="roundRect">
            <a:avLst>
              <a:gd name="adj" fmla="val 8602"/>
            </a:avLst>
          </a:prstGeom>
          <a:solidFill>
            <a:srgbClr val="FFFFFF"/>
          </a:solidFill>
          <a:ln w="7620">
            <a:solidFill>
              <a:srgbClr val="DDE2ED"/>
            </a:solidFill>
            <a:prstDash val="solid"/>
          </a:ln>
        </p:spPr>
      </p:sp>
      <p:sp>
        <p:nvSpPr>
          <p:cNvPr id="21" name="Shape 19"/>
          <p:cNvSpPr/>
          <p:nvPr/>
        </p:nvSpPr>
        <p:spPr>
          <a:xfrm>
            <a:off x="6382512" y="3995928"/>
            <a:ext cx="41148" cy="1280160"/>
          </a:xfrm>
          <a:prstGeom prst="rect">
            <a:avLst/>
          </a:prstGeom>
          <a:solidFill>
            <a:srgbClr val="147D7A"/>
          </a:solidFill>
          <a:ln w="12700">
            <a:solidFill>
              <a:srgbClr val="147D7A">
                <a:alpha val="0"/>
              </a:srgbClr>
            </a:solidFill>
            <a:prstDash val="solid"/>
          </a:ln>
        </p:spPr>
      </p:sp>
      <p:sp>
        <p:nvSpPr>
          <p:cNvPr id="22" name="Text 20"/>
          <p:cNvSpPr/>
          <p:nvPr/>
        </p:nvSpPr>
        <p:spPr>
          <a:xfrm>
            <a:off x="6583680" y="3986784"/>
            <a:ext cx="4773168" cy="338328"/>
          </a:xfrm>
          <a:prstGeom prst="rect">
            <a:avLst/>
          </a:prstGeom>
          <a:noFill/>
          <a:ln/>
        </p:spPr>
        <p:txBody>
          <a:bodyPr wrap="square" lIns="0" tIns="0" rIns="0" bIns="0" rtlCol="0" anchor="ctr">
            <a:normAutofit/>
          </a:bodyPr>
          <a:lstStyle/>
          <a:p>
            <a:pPr indent="0" marL="0">
              <a:buNone/>
            </a:pPr>
            <a:r>
              <a:rPr lang="en-US" sz="1700" b="1" dirty="0">
                <a:solidFill>
                  <a:srgbClr val="147D7A"/>
                </a:solidFill>
                <a:latin typeface="Malgun Gothic" pitchFamily="34" charset="0"/>
                <a:ea typeface="Malgun Gothic" pitchFamily="34" charset="-122"/>
                <a:cs typeface="Malgun Gothic" pitchFamily="34" charset="-120"/>
              </a:rPr>
              <a:t>지속적으로 쌓을 자산</a:t>
            </a:r>
            <a:endParaRPr lang="en-US" sz="1700" dirty="0"/>
          </a:p>
        </p:txBody>
      </p:sp>
      <p:sp>
        <p:nvSpPr>
          <p:cNvPr id="23" name="Text 21"/>
          <p:cNvSpPr/>
          <p:nvPr/>
        </p:nvSpPr>
        <p:spPr>
          <a:xfrm>
            <a:off x="6583680" y="4562856"/>
            <a:ext cx="4718304" cy="758952"/>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허가된 상품/영상 매핑 · 정답/오답 평가셋 · 갱신 운영</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모델 교체가 가능해도 유지되는 데이터·업무 연결</a:t>
            </a:r>
            <a:endParaRPr lang="en-US" sz="1500" dirty="0"/>
          </a:p>
        </p:txBody>
      </p:sp>
      <p:sp>
        <p:nvSpPr>
          <p:cNvPr id="24" name="Shape 22"/>
          <p:cNvSpPr/>
          <p:nvPr/>
        </p:nvSpPr>
        <p:spPr>
          <a:xfrm>
            <a:off x="548640" y="5824728"/>
            <a:ext cx="11082528" cy="438912"/>
          </a:xfrm>
          <a:prstGeom prst="roundRect">
            <a:avLst>
              <a:gd name="adj" fmla="val 33333"/>
            </a:avLst>
          </a:prstGeom>
          <a:solidFill>
            <a:srgbClr val="EEE9FD"/>
          </a:solidFill>
          <a:ln w="7620">
            <a:solidFill>
              <a:srgbClr val="EEE9FD"/>
            </a:solidFill>
            <a:prstDash val="solid"/>
          </a:ln>
        </p:spPr>
      </p:sp>
      <p:sp>
        <p:nvSpPr>
          <p:cNvPr id="25" name="Text 23"/>
          <p:cNvSpPr/>
          <p:nvPr/>
        </p:nvSpPr>
        <p:spPr>
          <a:xfrm>
            <a:off x="731520" y="5916168"/>
            <a:ext cx="10698480" cy="237744"/>
          </a:xfrm>
          <a:prstGeom prst="rect">
            <a:avLst/>
          </a:prstGeom>
          <a:noFill/>
          <a:ln/>
        </p:spPr>
        <p:txBody>
          <a:bodyPr wrap="square" lIns="0" tIns="0" rIns="0" bIns="0" rtlCol="0" anchor="ctr">
            <a:normAutofit/>
          </a:bodyPr>
          <a:lstStyle/>
          <a:p>
            <a:pPr indent="0" marL="0">
              <a:buNone/>
            </a:pPr>
            <a:r>
              <a:rPr lang="en-US" sz="1140" b="1" dirty="0">
                <a:solidFill>
                  <a:srgbClr val="7150E8"/>
                </a:solidFill>
                <a:latin typeface="Malgun Gothic" pitchFamily="34" charset="0"/>
                <a:ea typeface="Malgun Gothic" pitchFamily="34" charset="-122"/>
                <a:cs typeface="Malgun Gothic" pitchFamily="34" charset="-120"/>
              </a:rPr>
              <a:t>현재 시장 규모·유료 전환 의향·경쟁 우위를 입증한 조사는 없다. 비교 실험과 고객 인터뷰가 먼저다.</a:t>
            </a:r>
            <a:endParaRPr lang="en-US" sz="114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548640" y="274320"/>
            <a:ext cx="10058400" cy="228600"/>
          </a:xfrm>
          <a:prstGeom prst="rect">
            <a:avLst/>
          </a:prstGeom>
          <a:noFill/>
          <a:ln/>
        </p:spPr>
        <p:txBody>
          <a:bodyPr wrap="square" lIns="0" tIns="0" rIns="0" bIns="0" rtlCol="0" anchor="ctr">
            <a:normAutofit/>
          </a:bodyPr>
          <a:lstStyle/>
          <a:p>
            <a:pPr indent="0" marL="0">
              <a:buNone/>
            </a:pPr>
            <a:r>
              <a:rPr lang="en-US" sz="900" b="1" spc="160" kern="0" dirty="0">
                <a:solidFill>
                  <a:srgbClr val="7150E8"/>
                </a:solidFill>
                <a:latin typeface="Malgun Gothic" pitchFamily="34" charset="0"/>
                <a:ea typeface="Malgun Gothic" pitchFamily="34" charset="-122"/>
                <a:cs typeface="Malgun Gothic" pitchFamily="34" charset="-120"/>
              </a:rPr>
              <a:t>03 / PLATFORM STRATEGY</a:t>
            </a:r>
            <a:endParaRPr lang="en-US" sz="900" dirty="0"/>
          </a:p>
        </p:txBody>
      </p:sp>
      <p:sp>
        <p:nvSpPr>
          <p:cNvPr id="3" name="Text 1"/>
          <p:cNvSpPr/>
          <p:nvPr/>
        </p:nvSpPr>
        <p:spPr>
          <a:xfrm>
            <a:off x="548640" y="758952"/>
            <a:ext cx="11082528" cy="795528"/>
          </a:xfrm>
          <a:prstGeom prst="rect">
            <a:avLst/>
          </a:prstGeom>
          <a:noFill/>
          <a:ln/>
        </p:spPr>
        <p:txBody>
          <a:bodyPr wrap="square" lIns="0" tIns="0" rIns="0" bIns="0" rtlCol="0" anchor="ctr">
            <a:normAutofit/>
          </a:bodyPr>
          <a:lstStyle/>
          <a:p>
            <a:pPr indent="0" marL="0">
              <a:buNone/>
            </a:pPr>
            <a:r>
              <a:rPr lang="en-US" sz="2700" b="1" dirty="0">
                <a:solidFill>
                  <a:srgbClr val="20243A"/>
                </a:solidFill>
                <a:latin typeface="Malgun Gothic" pitchFamily="34" charset="0"/>
                <a:ea typeface="Malgun Gothic" pitchFamily="34" charset="-122"/>
                <a:cs typeface="Malgun Gothic" pitchFamily="34" charset="-120"/>
              </a:rPr>
              <a:t>한 엔진을 공유하되, 채널별 권한과 UX는 별도로 설계</a:t>
            </a:r>
            <a:endParaRPr lang="en-US" sz="2700" dirty="0"/>
          </a:p>
        </p:txBody>
      </p:sp>
      <p:sp>
        <p:nvSpPr>
          <p:cNvPr id="4" name="Shape 2"/>
          <p:cNvSpPr/>
          <p:nvPr/>
        </p:nvSpPr>
        <p:spPr>
          <a:xfrm>
            <a:off x="548640" y="1682496"/>
            <a:ext cx="11064240" cy="0"/>
          </a:xfrm>
          <a:prstGeom prst="line">
            <a:avLst/>
          </a:prstGeom>
          <a:noFill/>
          <a:ln w="12700">
            <a:solidFill>
              <a:srgbClr val="DDE2ED"/>
            </a:solidFill>
            <a:prstDash val="solid"/>
          </a:ln>
        </p:spPr>
      </p:sp>
      <p:sp>
        <p:nvSpPr>
          <p:cNvPr id="5" name="Text 3"/>
          <p:cNvSpPr/>
          <p:nvPr/>
        </p:nvSpPr>
        <p:spPr>
          <a:xfrm>
            <a:off x="548640" y="6519672"/>
            <a:ext cx="8869680" cy="164592"/>
          </a:xfrm>
          <a:prstGeom prst="rect">
            <a:avLst/>
          </a:prstGeom>
          <a:noFill/>
          <a:ln/>
        </p:spPr>
        <p:txBody>
          <a:bodyPr wrap="square" lIns="0" tIns="0" rIns="0" bIns="0" rtlCol="0" anchor="ctr">
            <a:normAutofit/>
          </a:bodyPr>
          <a:lstStyle/>
          <a:p>
            <a:pPr indent="0" marL="0">
              <a:buNone/>
            </a:pPr>
            <a:r>
              <a:rPr lang="en-US" sz="800" dirty="0">
                <a:solidFill>
                  <a:srgbClr val="677087"/>
                </a:solidFill>
                <a:latin typeface="Malgun Gothic" pitchFamily="34" charset="0"/>
                <a:ea typeface="Malgun Gothic" pitchFamily="34" charset="-122"/>
                <a:cs typeface="Malgun Gothic" pitchFamily="34" charset="-120"/>
              </a:rPr>
              <a:t>CleanTouch  |  사업화 현황 진단  |  2026.10.15</a:t>
            </a:r>
            <a:endParaRPr lang="en-US" sz="800" dirty="0"/>
          </a:p>
        </p:txBody>
      </p:sp>
      <p:sp>
        <p:nvSpPr>
          <p:cNvPr id="6" name="Text 4"/>
          <p:cNvSpPr/>
          <p:nvPr/>
        </p:nvSpPr>
        <p:spPr>
          <a:xfrm>
            <a:off x="10698480" y="6501384"/>
            <a:ext cx="914400" cy="182880"/>
          </a:xfrm>
          <a:prstGeom prst="rect">
            <a:avLst/>
          </a:prstGeom>
          <a:noFill/>
          <a:ln/>
        </p:spPr>
        <p:txBody>
          <a:bodyPr wrap="square" lIns="0" tIns="0" rIns="0" bIns="0" rtlCol="0" anchor="ctr">
            <a:normAutofit/>
          </a:bodyPr>
          <a:lstStyle/>
          <a:p>
            <a:pPr algn="r" indent="0" marL="0">
              <a:buNone/>
            </a:pPr>
            <a:r>
              <a:rPr lang="en-US" sz="800" dirty="0">
                <a:solidFill>
                  <a:srgbClr val="677087"/>
                </a:solidFill>
                <a:latin typeface="Malgun Gothic" pitchFamily="34" charset="0"/>
                <a:ea typeface="Malgun Gothic" pitchFamily="34" charset="-122"/>
                <a:cs typeface="Malgun Gothic" pitchFamily="34" charset="-120"/>
              </a:rPr>
              <a:t>14 / 24</a:t>
            </a:r>
            <a:endParaRPr lang="en-US" sz="800" dirty="0"/>
          </a:p>
        </p:txBody>
      </p:sp>
      <p:sp>
        <p:nvSpPr>
          <p:cNvPr id="7" name="Text 5"/>
          <p:cNvSpPr/>
          <p:nvPr/>
        </p:nvSpPr>
        <p:spPr>
          <a:xfrm>
            <a:off x="594360" y="6364224"/>
            <a:ext cx="10881360" cy="118872"/>
          </a:xfrm>
          <a:prstGeom prst="rect">
            <a:avLst/>
          </a:prstGeom>
          <a:noFill/>
          <a:ln/>
        </p:spPr>
        <p:txBody>
          <a:bodyPr wrap="square" lIns="0" tIns="0" rIns="0" bIns="0" rtlCol="0" anchor="ctr">
            <a:normAutofit/>
          </a:bodyPr>
          <a:lstStyle/>
          <a:p>
            <a:pPr indent="0" marL="0">
              <a:buNone/>
            </a:pPr>
            <a:r>
              <a:rPr lang="en-US" sz="700" dirty="0">
                <a:solidFill>
                  <a:srgbClr val="677087"/>
                </a:solidFill>
                <a:latin typeface="Malgun Gothic" pitchFamily="34" charset="0"/>
                <a:ea typeface="Malgun Gothic" pitchFamily="34" charset="-122"/>
                <a:cs typeface="Malgun Gothic" pitchFamily="34" charset="-120"/>
              </a:rPr>
              <a:t>S1 OpenAI · MCP server and UI quickstart  ·  S2 Claude · Custom connectors / remote MCP  ·  S3 Android · Media projection  ·  S4 Apple · ReplayKit</a:t>
            </a:r>
            <a:endParaRPr lang="en-US" sz="700" dirty="0"/>
          </a:p>
        </p:txBody>
      </p:sp>
      <p:sp>
        <p:nvSpPr>
          <p:cNvPr id="8" name="Shape 6"/>
          <p:cNvSpPr/>
          <p:nvPr/>
        </p:nvSpPr>
        <p:spPr>
          <a:xfrm>
            <a:off x="548640" y="1901952"/>
            <a:ext cx="2011680" cy="614172"/>
          </a:xfrm>
          <a:prstGeom prst="rect">
            <a:avLst/>
          </a:prstGeom>
          <a:solidFill>
            <a:srgbClr val="171A2D"/>
          </a:solidFill>
          <a:ln w="12700">
            <a:solidFill>
              <a:srgbClr val="171A2D"/>
            </a:solidFill>
            <a:prstDash val="solid"/>
          </a:ln>
        </p:spPr>
      </p:sp>
      <p:sp>
        <p:nvSpPr>
          <p:cNvPr id="9" name="Text 7"/>
          <p:cNvSpPr/>
          <p:nvPr/>
        </p:nvSpPr>
        <p:spPr>
          <a:xfrm>
            <a:off x="685800" y="2011680"/>
            <a:ext cx="1737360" cy="431292"/>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채널</a:t>
            </a:r>
            <a:endParaRPr lang="en-US" sz="1400" dirty="0"/>
          </a:p>
        </p:txBody>
      </p:sp>
      <p:sp>
        <p:nvSpPr>
          <p:cNvPr id="10" name="Shape 8"/>
          <p:cNvSpPr/>
          <p:nvPr/>
        </p:nvSpPr>
        <p:spPr>
          <a:xfrm>
            <a:off x="2560320" y="1901952"/>
            <a:ext cx="4526280" cy="614172"/>
          </a:xfrm>
          <a:prstGeom prst="rect">
            <a:avLst/>
          </a:prstGeom>
          <a:solidFill>
            <a:srgbClr val="171A2D"/>
          </a:solidFill>
          <a:ln w="12700">
            <a:solidFill>
              <a:srgbClr val="171A2D"/>
            </a:solidFill>
            <a:prstDash val="solid"/>
          </a:ln>
        </p:spPr>
      </p:sp>
      <p:sp>
        <p:nvSpPr>
          <p:cNvPr id="11" name="Text 9"/>
          <p:cNvSpPr/>
          <p:nvPr/>
        </p:nvSpPr>
        <p:spPr>
          <a:xfrm>
            <a:off x="2697480" y="2011680"/>
            <a:ext cx="4251960" cy="431292"/>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고객에게 제공할 형태</a:t>
            </a:r>
            <a:endParaRPr lang="en-US" sz="1400" dirty="0"/>
          </a:p>
        </p:txBody>
      </p:sp>
      <p:sp>
        <p:nvSpPr>
          <p:cNvPr id="12" name="Shape 10"/>
          <p:cNvSpPr/>
          <p:nvPr/>
        </p:nvSpPr>
        <p:spPr>
          <a:xfrm>
            <a:off x="7086600" y="1901952"/>
            <a:ext cx="4526280" cy="614172"/>
          </a:xfrm>
          <a:prstGeom prst="rect">
            <a:avLst/>
          </a:prstGeom>
          <a:solidFill>
            <a:srgbClr val="171A2D"/>
          </a:solidFill>
          <a:ln w="12700">
            <a:solidFill>
              <a:srgbClr val="171A2D"/>
            </a:solidFill>
            <a:prstDash val="solid"/>
          </a:ln>
        </p:spPr>
      </p:sp>
      <p:sp>
        <p:nvSpPr>
          <p:cNvPr id="13" name="Text 11"/>
          <p:cNvSpPr/>
          <p:nvPr/>
        </p:nvSpPr>
        <p:spPr>
          <a:xfrm>
            <a:off x="7223760" y="2011680"/>
            <a:ext cx="4251960" cy="431292"/>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우선순위·제약</a:t>
            </a:r>
            <a:endParaRPr lang="en-US" sz="1400" dirty="0"/>
          </a:p>
        </p:txBody>
      </p:sp>
      <p:sp>
        <p:nvSpPr>
          <p:cNvPr id="14" name="Shape 12"/>
          <p:cNvSpPr/>
          <p:nvPr/>
        </p:nvSpPr>
        <p:spPr>
          <a:xfrm>
            <a:off x="548640" y="2516124"/>
            <a:ext cx="2011680" cy="614172"/>
          </a:xfrm>
          <a:prstGeom prst="rect">
            <a:avLst/>
          </a:prstGeom>
          <a:solidFill>
            <a:srgbClr val="FFFFFF"/>
          </a:solidFill>
          <a:ln w="6350">
            <a:solidFill>
              <a:srgbClr val="DDE2ED"/>
            </a:solidFill>
            <a:prstDash val="solid"/>
          </a:ln>
        </p:spPr>
      </p:sp>
      <p:sp>
        <p:nvSpPr>
          <p:cNvPr id="15" name="Text 13"/>
          <p:cNvSpPr/>
          <p:nvPr/>
        </p:nvSpPr>
        <p:spPr>
          <a:xfrm>
            <a:off x="685800" y="2616708"/>
            <a:ext cx="1737360" cy="431292"/>
          </a:xfrm>
          <a:prstGeom prst="rect">
            <a:avLst/>
          </a:prstGeom>
          <a:noFill/>
          <a:ln/>
        </p:spPr>
        <p:txBody>
          <a:bodyPr wrap="square" lIns="0" tIns="0" rIns="0" bIns="0" rtlCol="0" anchor="ctr">
            <a:normAutofit/>
          </a:bodyPr>
          <a:lstStyle/>
          <a:p>
            <a:pPr indent="0" marL="0">
              <a:buNone/>
            </a:pPr>
            <a:r>
              <a:rPr lang="en-US" sz="1330" b="1" dirty="0">
                <a:solidFill>
                  <a:srgbClr val="7150E8"/>
                </a:solidFill>
                <a:latin typeface="Malgun Gothic" pitchFamily="34" charset="0"/>
                <a:ea typeface="Malgun Gothic" pitchFamily="34" charset="-122"/>
                <a:cs typeface="Malgun Gothic" pitchFamily="34" charset="-120"/>
              </a:rPr>
              <a:t>Windows</a:t>
            </a:r>
            <a:endParaRPr lang="en-US" sz="1330" dirty="0"/>
          </a:p>
        </p:txBody>
      </p:sp>
      <p:sp>
        <p:nvSpPr>
          <p:cNvPr id="16" name="Shape 14"/>
          <p:cNvSpPr/>
          <p:nvPr/>
        </p:nvSpPr>
        <p:spPr>
          <a:xfrm>
            <a:off x="2560320" y="2516124"/>
            <a:ext cx="4526280" cy="614172"/>
          </a:xfrm>
          <a:prstGeom prst="rect">
            <a:avLst/>
          </a:prstGeom>
          <a:solidFill>
            <a:srgbClr val="FFFFFF"/>
          </a:solidFill>
          <a:ln w="6350">
            <a:solidFill>
              <a:srgbClr val="DDE2ED"/>
            </a:solidFill>
            <a:prstDash val="solid"/>
          </a:ln>
        </p:spPr>
      </p:sp>
      <p:sp>
        <p:nvSpPr>
          <p:cNvPr id="17" name="Text 15"/>
          <p:cNvSpPr/>
          <p:nvPr/>
        </p:nvSpPr>
        <p:spPr>
          <a:xfrm>
            <a:off x="2697480" y="2616708"/>
            <a:ext cx="425196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설치 앱·위젯 / 업무용 데스크톱 탐색</a:t>
            </a:r>
            <a:endParaRPr lang="en-US" sz="1330" dirty="0"/>
          </a:p>
        </p:txBody>
      </p:sp>
      <p:sp>
        <p:nvSpPr>
          <p:cNvPr id="18" name="Shape 16"/>
          <p:cNvSpPr/>
          <p:nvPr/>
        </p:nvSpPr>
        <p:spPr>
          <a:xfrm>
            <a:off x="7086600" y="2516124"/>
            <a:ext cx="4526280" cy="614172"/>
          </a:xfrm>
          <a:prstGeom prst="rect">
            <a:avLst/>
          </a:prstGeom>
          <a:solidFill>
            <a:srgbClr val="FFFFFF"/>
          </a:solidFill>
          <a:ln w="6350">
            <a:solidFill>
              <a:srgbClr val="DDE2ED"/>
            </a:solidFill>
            <a:prstDash val="solid"/>
          </a:ln>
        </p:spPr>
      </p:sp>
      <p:sp>
        <p:nvSpPr>
          <p:cNvPr id="19" name="Text 17"/>
          <p:cNvSpPr/>
          <p:nvPr/>
        </p:nvSpPr>
        <p:spPr>
          <a:xfrm>
            <a:off x="7223760" y="2616708"/>
            <a:ext cx="425196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기준 제품 안정화 / 서명·업데이트 검증</a:t>
            </a:r>
            <a:endParaRPr lang="en-US" sz="1330" dirty="0"/>
          </a:p>
        </p:txBody>
      </p:sp>
      <p:sp>
        <p:nvSpPr>
          <p:cNvPr id="20" name="Shape 18"/>
          <p:cNvSpPr/>
          <p:nvPr/>
        </p:nvSpPr>
        <p:spPr>
          <a:xfrm>
            <a:off x="548640" y="3130296"/>
            <a:ext cx="2011680" cy="614172"/>
          </a:xfrm>
          <a:prstGeom prst="rect">
            <a:avLst/>
          </a:prstGeom>
          <a:solidFill>
            <a:srgbClr val="F8F9FC"/>
          </a:solidFill>
          <a:ln w="6350">
            <a:solidFill>
              <a:srgbClr val="DDE2ED"/>
            </a:solidFill>
            <a:prstDash val="solid"/>
          </a:ln>
        </p:spPr>
      </p:sp>
      <p:sp>
        <p:nvSpPr>
          <p:cNvPr id="21" name="Text 19"/>
          <p:cNvSpPr/>
          <p:nvPr/>
        </p:nvSpPr>
        <p:spPr>
          <a:xfrm>
            <a:off x="685800" y="3230880"/>
            <a:ext cx="1737360" cy="431292"/>
          </a:xfrm>
          <a:prstGeom prst="rect">
            <a:avLst/>
          </a:prstGeom>
          <a:noFill/>
          <a:ln/>
        </p:spPr>
        <p:txBody>
          <a:bodyPr wrap="square" lIns="0" tIns="0" rIns="0" bIns="0" rtlCol="0" anchor="ctr">
            <a:normAutofit/>
          </a:bodyPr>
          <a:lstStyle/>
          <a:p>
            <a:pPr indent="0" marL="0">
              <a:buNone/>
            </a:pPr>
            <a:r>
              <a:rPr lang="en-US" sz="1330" b="1" dirty="0">
                <a:solidFill>
                  <a:srgbClr val="7150E8"/>
                </a:solidFill>
                <a:latin typeface="Malgun Gothic" pitchFamily="34" charset="0"/>
                <a:ea typeface="Malgun Gothic" pitchFamily="34" charset="-122"/>
                <a:cs typeface="Malgun Gothic" pitchFamily="34" charset="-120"/>
              </a:rPr>
              <a:t>Android</a:t>
            </a:r>
            <a:endParaRPr lang="en-US" sz="1330" dirty="0"/>
          </a:p>
        </p:txBody>
      </p:sp>
      <p:sp>
        <p:nvSpPr>
          <p:cNvPr id="22" name="Shape 20"/>
          <p:cNvSpPr/>
          <p:nvPr/>
        </p:nvSpPr>
        <p:spPr>
          <a:xfrm>
            <a:off x="2560320" y="3130296"/>
            <a:ext cx="4526280" cy="614172"/>
          </a:xfrm>
          <a:prstGeom prst="rect">
            <a:avLst/>
          </a:prstGeom>
          <a:solidFill>
            <a:srgbClr val="F8F9FC"/>
          </a:solidFill>
          <a:ln w="6350">
            <a:solidFill>
              <a:srgbClr val="DDE2ED"/>
            </a:solidFill>
            <a:prstDash val="solid"/>
          </a:ln>
        </p:spPr>
      </p:sp>
      <p:sp>
        <p:nvSpPr>
          <p:cNvPr id="23" name="Text 21"/>
          <p:cNvSpPr/>
          <p:nvPr/>
        </p:nvSpPr>
        <p:spPr>
          <a:xfrm>
            <a:off x="2697480" y="3230880"/>
            <a:ext cx="425196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앱·위젯·사진 공유 / 소비자 주력 채널</a:t>
            </a:r>
            <a:endParaRPr lang="en-US" sz="1330" dirty="0"/>
          </a:p>
        </p:txBody>
      </p:sp>
      <p:sp>
        <p:nvSpPr>
          <p:cNvPr id="24" name="Shape 22"/>
          <p:cNvSpPr/>
          <p:nvPr/>
        </p:nvSpPr>
        <p:spPr>
          <a:xfrm>
            <a:off x="7086600" y="3130296"/>
            <a:ext cx="4526280" cy="614172"/>
          </a:xfrm>
          <a:prstGeom prst="rect">
            <a:avLst/>
          </a:prstGeom>
          <a:solidFill>
            <a:srgbClr val="F8F9FC"/>
          </a:solidFill>
          <a:ln w="6350">
            <a:solidFill>
              <a:srgbClr val="DDE2ED"/>
            </a:solidFill>
            <a:prstDash val="solid"/>
          </a:ln>
        </p:spPr>
      </p:sp>
      <p:sp>
        <p:nvSpPr>
          <p:cNvPr id="25" name="Text 23"/>
          <p:cNvSpPr/>
          <p:nvPr/>
        </p:nvSpPr>
        <p:spPr>
          <a:xfrm>
            <a:off x="7223760" y="3230880"/>
            <a:ext cx="425196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높음 / 캡처 동의·기기별 메모리·배터리</a:t>
            </a:r>
            <a:endParaRPr lang="en-US" sz="1330" dirty="0"/>
          </a:p>
        </p:txBody>
      </p:sp>
      <p:sp>
        <p:nvSpPr>
          <p:cNvPr id="26" name="Shape 24"/>
          <p:cNvSpPr/>
          <p:nvPr/>
        </p:nvSpPr>
        <p:spPr>
          <a:xfrm>
            <a:off x="548640" y="3744468"/>
            <a:ext cx="2011680" cy="614172"/>
          </a:xfrm>
          <a:prstGeom prst="rect">
            <a:avLst/>
          </a:prstGeom>
          <a:solidFill>
            <a:srgbClr val="FFFFFF"/>
          </a:solidFill>
          <a:ln w="6350">
            <a:solidFill>
              <a:srgbClr val="DDE2ED"/>
            </a:solidFill>
            <a:prstDash val="solid"/>
          </a:ln>
        </p:spPr>
      </p:sp>
      <p:sp>
        <p:nvSpPr>
          <p:cNvPr id="27" name="Text 25"/>
          <p:cNvSpPr/>
          <p:nvPr/>
        </p:nvSpPr>
        <p:spPr>
          <a:xfrm>
            <a:off x="685800" y="3845052"/>
            <a:ext cx="1737360" cy="431292"/>
          </a:xfrm>
          <a:prstGeom prst="rect">
            <a:avLst/>
          </a:prstGeom>
          <a:noFill/>
          <a:ln/>
        </p:spPr>
        <p:txBody>
          <a:bodyPr wrap="square" lIns="0" tIns="0" rIns="0" bIns="0" rtlCol="0" anchor="ctr">
            <a:normAutofit/>
          </a:bodyPr>
          <a:lstStyle/>
          <a:p>
            <a:pPr indent="0" marL="0">
              <a:buNone/>
            </a:pPr>
            <a:r>
              <a:rPr lang="en-US" sz="1330" b="1" dirty="0">
                <a:solidFill>
                  <a:srgbClr val="7150E8"/>
                </a:solidFill>
                <a:latin typeface="Malgun Gothic" pitchFamily="34" charset="0"/>
                <a:ea typeface="Malgun Gothic" pitchFamily="34" charset="-122"/>
                <a:cs typeface="Malgun Gothic" pitchFamily="34" charset="-120"/>
              </a:rPr>
              <a:t>iOS</a:t>
            </a:r>
            <a:endParaRPr lang="en-US" sz="1330" dirty="0"/>
          </a:p>
        </p:txBody>
      </p:sp>
      <p:sp>
        <p:nvSpPr>
          <p:cNvPr id="28" name="Shape 26"/>
          <p:cNvSpPr/>
          <p:nvPr/>
        </p:nvSpPr>
        <p:spPr>
          <a:xfrm>
            <a:off x="2560320" y="3744468"/>
            <a:ext cx="4526280" cy="614172"/>
          </a:xfrm>
          <a:prstGeom prst="rect">
            <a:avLst/>
          </a:prstGeom>
          <a:solidFill>
            <a:srgbClr val="FFFFFF"/>
          </a:solidFill>
          <a:ln w="6350">
            <a:solidFill>
              <a:srgbClr val="DDE2ED"/>
            </a:solidFill>
            <a:prstDash val="solid"/>
          </a:ln>
        </p:spPr>
      </p:sp>
      <p:sp>
        <p:nvSpPr>
          <p:cNvPr id="29" name="Text 27"/>
          <p:cNvSpPr/>
          <p:nvPr/>
        </p:nvSpPr>
        <p:spPr>
          <a:xfrm>
            <a:off x="2697480" y="3845052"/>
            <a:ext cx="425196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사진·공유 확장 우선 / 캡처 방식 기술 검증</a:t>
            </a:r>
            <a:endParaRPr lang="en-US" sz="1330" dirty="0"/>
          </a:p>
        </p:txBody>
      </p:sp>
      <p:sp>
        <p:nvSpPr>
          <p:cNvPr id="30" name="Shape 28"/>
          <p:cNvSpPr/>
          <p:nvPr/>
        </p:nvSpPr>
        <p:spPr>
          <a:xfrm>
            <a:off x="7086600" y="3744468"/>
            <a:ext cx="4526280" cy="614172"/>
          </a:xfrm>
          <a:prstGeom prst="rect">
            <a:avLst/>
          </a:prstGeom>
          <a:solidFill>
            <a:srgbClr val="FFFFFF"/>
          </a:solidFill>
          <a:ln w="6350">
            <a:solidFill>
              <a:srgbClr val="DDE2ED"/>
            </a:solidFill>
            <a:prstDash val="solid"/>
          </a:ln>
        </p:spPr>
      </p:sp>
      <p:sp>
        <p:nvSpPr>
          <p:cNvPr id="31" name="Text 29"/>
          <p:cNvSpPr/>
          <p:nvPr/>
        </p:nvSpPr>
        <p:spPr>
          <a:xfrm>
            <a:off x="7223760" y="3845052"/>
            <a:ext cx="425196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소스 확인 안 됨 / Android UX 복제 금지</a:t>
            </a:r>
            <a:endParaRPr lang="en-US" sz="1330" dirty="0"/>
          </a:p>
        </p:txBody>
      </p:sp>
      <p:sp>
        <p:nvSpPr>
          <p:cNvPr id="32" name="Shape 30"/>
          <p:cNvSpPr/>
          <p:nvPr/>
        </p:nvSpPr>
        <p:spPr>
          <a:xfrm>
            <a:off x="548640" y="4358640"/>
            <a:ext cx="2011680" cy="614172"/>
          </a:xfrm>
          <a:prstGeom prst="rect">
            <a:avLst/>
          </a:prstGeom>
          <a:solidFill>
            <a:srgbClr val="F8F9FC"/>
          </a:solidFill>
          <a:ln w="6350">
            <a:solidFill>
              <a:srgbClr val="DDE2ED"/>
            </a:solidFill>
            <a:prstDash val="solid"/>
          </a:ln>
        </p:spPr>
      </p:sp>
      <p:sp>
        <p:nvSpPr>
          <p:cNvPr id="33" name="Text 31"/>
          <p:cNvSpPr/>
          <p:nvPr/>
        </p:nvSpPr>
        <p:spPr>
          <a:xfrm>
            <a:off x="685800" y="4459224"/>
            <a:ext cx="1737360" cy="431292"/>
          </a:xfrm>
          <a:prstGeom prst="rect">
            <a:avLst/>
          </a:prstGeom>
          <a:noFill/>
          <a:ln/>
        </p:spPr>
        <p:txBody>
          <a:bodyPr wrap="square" lIns="0" tIns="0" rIns="0" bIns="0" rtlCol="0" anchor="ctr">
            <a:normAutofit/>
          </a:bodyPr>
          <a:lstStyle/>
          <a:p>
            <a:pPr indent="0" marL="0">
              <a:buNone/>
            </a:pPr>
            <a:r>
              <a:rPr lang="en-US" sz="1330" b="1" dirty="0">
                <a:solidFill>
                  <a:srgbClr val="7150E8"/>
                </a:solidFill>
                <a:latin typeface="Malgun Gothic" pitchFamily="34" charset="0"/>
                <a:ea typeface="Malgun Gothic" pitchFamily="34" charset="-122"/>
                <a:cs typeface="Malgun Gothic" pitchFamily="34" charset="-120"/>
              </a:rPr>
              <a:t>웹·브라우저</a:t>
            </a:r>
            <a:endParaRPr lang="en-US" sz="1330" dirty="0"/>
          </a:p>
        </p:txBody>
      </p:sp>
      <p:sp>
        <p:nvSpPr>
          <p:cNvPr id="34" name="Shape 32"/>
          <p:cNvSpPr/>
          <p:nvPr/>
        </p:nvSpPr>
        <p:spPr>
          <a:xfrm>
            <a:off x="2560320" y="4358640"/>
            <a:ext cx="4526280" cy="614172"/>
          </a:xfrm>
          <a:prstGeom prst="rect">
            <a:avLst/>
          </a:prstGeom>
          <a:solidFill>
            <a:srgbClr val="F8F9FC"/>
          </a:solidFill>
          <a:ln w="6350">
            <a:solidFill>
              <a:srgbClr val="DDE2ED"/>
            </a:solidFill>
            <a:prstDash val="solid"/>
          </a:ln>
        </p:spPr>
      </p:sp>
      <p:sp>
        <p:nvSpPr>
          <p:cNvPr id="35" name="Text 33"/>
          <p:cNvSpPr/>
          <p:nvPr/>
        </p:nvSpPr>
        <p:spPr>
          <a:xfrm>
            <a:off x="2697480" y="4459224"/>
            <a:ext cx="425196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판매자 SDK·Studio / 선택적 브라우저 확장</a:t>
            </a:r>
            <a:endParaRPr lang="en-US" sz="1330" dirty="0"/>
          </a:p>
        </p:txBody>
      </p:sp>
      <p:sp>
        <p:nvSpPr>
          <p:cNvPr id="36" name="Shape 34"/>
          <p:cNvSpPr/>
          <p:nvPr/>
        </p:nvSpPr>
        <p:spPr>
          <a:xfrm>
            <a:off x="7086600" y="4358640"/>
            <a:ext cx="4526280" cy="614172"/>
          </a:xfrm>
          <a:prstGeom prst="rect">
            <a:avLst/>
          </a:prstGeom>
          <a:solidFill>
            <a:srgbClr val="F8F9FC"/>
          </a:solidFill>
          <a:ln w="6350">
            <a:solidFill>
              <a:srgbClr val="DDE2ED"/>
            </a:solidFill>
            <a:prstDash val="solid"/>
          </a:ln>
        </p:spPr>
      </p:sp>
      <p:sp>
        <p:nvSpPr>
          <p:cNvPr id="37" name="Text 35"/>
          <p:cNvSpPr/>
          <p:nvPr/>
        </p:nvSpPr>
        <p:spPr>
          <a:xfrm>
            <a:off x="7223760" y="4459224"/>
            <a:ext cx="425196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B2B 재사용 높음 / 영상·사이트 권한 범위</a:t>
            </a:r>
            <a:endParaRPr lang="en-US" sz="1330" dirty="0"/>
          </a:p>
        </p:txBody>
      </p:sp>
      <p:sp>
        <p:nvSpPr>
          <p:cNvPr id="38" name="Shape 36"/>
          <p:cNvSpPr/>
          <p:nvPr/>
        </p:nvSpPr>
        <p:spPr>
          <a:xfrm>
            <a:off x="548640" y="4972812"/>
            <a:ext cx="2011680" cy="614172"/>
          </a:xfrm>
          <a:prstGeom prst="rect">
            <a:avLst/>
          </a:prstGeom>
          <a:solidFill>
            <a:srgbClr val="FFFFFF"/>
          </a:solidFill>
          <a:ln w="6350">
            <a:solidFill>
              <a:srgbClr val="DDE2ED"/>
            </a:solidFill>
            <a:prstDash val="solid"/>
          </a:ln>
        </p:spPr>
      </p:sp>
      <p:sp>
        <p:nvSpPr>
          <p:cNvPr id="39" name="Text 37"/>
          <p:cNvSpPr/>
          <p:nvPr/>
        </p:nvSpPr>
        <p:spPr>
          <a:xfrm>
            <a:off x="685800" y="5073396"/>
            <a:ext cx="1737360" cy="431292"/>
          </a:xfrm>
          <a:prstGeom prst="rect">
            <a:avLst/>
          </a:prstGeom>
          <a:noFill/>
          <a:ln/>
        </p:spPr>
        <p:txBody>
          <a:bodyPr wrap="square" lIns="0" tIns="0" rIns="0" bIns="0" rtlCol="0" anchor="ctr">
            <a:normAutofit/>
          </a:bodyPr>
          <a:lstStyle/>
          <a:p>
            <a:pPr indent="0" marL="0">
              <a:buNone/>
            </a:pPr>
            <a:r>
              <a:rPr lang="en-US" sz="1330" b="1" dirty="0">
                <a:solidFill>
                  <a:srgbClr val="7150E8"/>
                </a:solidFill>
                <a:latin typeface="Malgun Gothic" pitchFamily="34" charset="0"/>
                <a:ea typeface="Malgun Gothic" pitchFamily="34" charset="-122"/>
                <a:cs typeface="Malgun Gothic" pitchFamily="34" charset="-120"/>
              </a:rPr>
              <a:t>Claude·ChatGPT</a:t>
            </a:r>
            <a:endParaRPr lang="en-US" sz="1330" dirty="0"/>
          </a:p>
        </p:txBody>
      </p:sp>
      <p:sp>
        <p:nvSpPr>
          <p:cNvPr id="40" name="Shape 38"/>
          <p:cNvSpPr/>
          <p:nvPr/>
        </p:nvSpPr>
        <p:spPr>
          <a:xfrm>
            <a:off x="2560320" y="4972812"/>
            <a:ext cx="4526280" cy="614172"/>
          </a:xfrm>
          <a:prstGeom prst="rect">
            <a:avLst/>
          </a:prstGeom>
          <a:solidFill>
            <a:srgbClr val="FFFFFF"/>
          </a:solidFill>
          <a:ln w="6350">
            <a:solidFill>
              <a:srgbClr val="DDE2ED"/>
            </a:solidFill>
            <a:prstDash val="solid"/>
          </a:ln>
        </p:spPr>
      </p:sp>
      <p:sp>
        <p:nvSpPr>
          <p:cNvPr id="41" name="Text 39"/>
          <p:cNvSpPr/>
          <p:nvPr/>
        </p:nvSpPr>
        <p:spPr>
          <a:xfrm>
            <a:off x="2697480" y="5073396"/>
            <a:ext cx="425196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인증된 MCP 도구 + 호스트별 결과 UI</a:t>
            </a:r>
            <a:endParaRPr lang="en-US" sz="1330" dirty="0"/>
          </a:p>
        </p:txBody>
      </p:sp>
      <p:sp>
        <p:nvSpPr>
          <p:cNvPr id="42" name="Shape 40"/>
          <p:cNvSpPr/>
          <p:nvPr/>
        </p:nvSpPr>
        <p:spPr>
          <a:xfrm>
            <a:off x="7086600" y="4972812"/>
            <a:ext cx="4526280" cy="614172"/>
          </a:xfrm>
          <a:prstGeom prst="rect">
            <a:avLst/>
          </a:prstGeom>
          <a:solidFill>
            <a:srgbClr val="FFFFFF"/>
          </a:solidFill>
          <a:ln w="6350">
            <a:solidFill>
              <a:srgbClr val="DDE2ED"/>
            </a:solidFill>
            <a:prstDash val="solid"/>
          </a:ln>
        </p:spPr>
      </p:sp>
      <p:sp>
        <p:nvSpPr>
          <p:cNvPr id="43" name="Text 41"/>
          <p:cNvSpPr/>
          <p:nvPr/>
        </p:nvSpPr>
        <p:spPr>
          <a:xfrm>
            <a:off x="7223760" y="5073396"/>
            <a:ext cx="425196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핵심 API 안정화 뒤 / 계정·심사 조건 확인</a:t>
            </a:r>
            <a:endParaRPr lang="en-US" sz="1330" dirty="0"/>
          </a:p>
        </p:txBody>
      </p:sp>
      <p:sp>
        <p:nvSpPr>
          <p:cNvPr id="44" name="Shape 42"/>
          <p:cNvSpPr/>
          <p:nvPr/>
        </p:nvSpPr>
        <p:spPr>
          <a:xfrm>
            <a:off x="548640" y="5824728"/>
            <a:ext cx="11082528" cy="438912"/>
          </a:xfrm>
          <a:prstGeom prst="roundRect">
            <a:avLst>
              <a:gd name="adj" fmla="val 33333"/>
            </a:avLst>
          </a:prstGeom>
          <a:solidFill>
            <a:srgbClr val="EEE9FD"/>
          </a:solidFill>
          <a:ln w="7620">
            <a:solidFill>
              <a:srgbClr val="EEE9FD"/>
            </a:solidFill>
            <a:prstDash val="solid"/>
          </a:ln>
        </p:spPr>
      </p:sp>
      <p:sp>
        <p:nvSpPr>
          <p:cNvPr id="45" name="Text 43"/>
          <p:cNvSpPr/>
          <p:nvPr/>
        </p:nvSpPr>
        <p:spPr>
          <a:xfrm>
            <a:off x="731520" y="5916168"/>
            <a:ext cx="10698480" cy="237744"/>
          </a:xfrm>
          <a:prstGeom prst="rect">
            <a:avLst/>
          </a:prstGeom>
          <a:noFill/>
          <a:ln/>
        </p:spPr>
        <p:txBody>
          <a:bodyPr wrap="square" lIns="0" tIns="0" rIns="0" bIns="0" rtlCol="0" anchor="ctr">
            <a:normAutofit/>
          </a:bodyPr>
          <a:lstStyle/>
          <a:p>
            <a:pPr indent="0" marL="0">
              <a:buNone/>
            </a:pPr>
            <a:r>
              <a:rPr lang="en-US" sz="1140" b="1" dirty="0">
                <a:solidFill>
                  <a:srgbClr val="7150E8"/>
                </a:solidFill>
                <a:latin typeface="Malgun Gothic" pitchFamily="34" charset="0"/>
                <a:ea typeface="Malgun Gothic" pitchFamily="34" charset="-122"/>
                <a:cs typeface="Malgun Gothic" pitchFamily="34" charset="-120"/>
              </a:rPr>
              <a:t>채널을 늘릴 때마다 모델·상품 데이터·과금 로직을 복제하지 않는다.</a:t>
            </a:r>
            <a:endParaRPr lang="en-US" sz="114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548640" y="274320"/>
            <a:ext cx="10058400" cy="228600"/>
          </a:xfrm>
          <a:prstGeom prst="rect">
            <a:avLst/>
          </a:prstGeom>
          <a:noFill/>
          <a:ln/>
        </p:spPr>
        <p:txBody>
          <a:bodyPr wrap="square" lIns="0" tIns="0" rIns="0" bIns="0" rtlCol="0" anchor="ctr">
            <a:normAutofit/>
          </a:bodyPr>
          <a:lstStyle/>
          <a:p>
            <a:pPr indent="0" marL="0">
              <a:buNone/>
            </a:pPr>
            <a:r>
              <a:rPr lang="en-US" sz="900" b="1" spc="160" kern="0" dirty="0">
                <a:solidFill>
                  <a:srgbClr val="7150E8"/>
                </a:solidFill>
                <a:latin typeface="Malgun Gothic" pitchFamily="34" charset="0"/>
                <a:ea typeface="Malgun Gothic" pitchFamily="34" charset="-122"/>
                <a:cs typeface="Malgun Gothic" pitchFamily="34" charset="-120"/>
              </a:rPr>
              <a:t>03 / AI HOST INTEGRATION</a:t>
            </a:r>
            <a:endParaRPr lang="en-US" sz="900" dirty="0"/>
          </a:p>
        </p:txBody>
      </p:sp>
      <p:sp>
        <p:nvSpPr>
          <p:cNvPr id="3" name="Text 1"/>
          <p:cNvSpPr/>
          <p:nvPr/>
        </p:nvSpPr>
        <p:spPr>
          <a:xfrm>
            <a:off x="548640" y="758952"/>
            <a:ext cx="11082528" cy="795528"/>
          </a:xfrm>
          <a:prstGeom prst="rect">
            <a:avLst/>
          </a:prstGeom>
          <a:noFill/>
          <a:ln/>
        </p:spPr>
        <p:txBody>
          <a:bodyPr wrap="square" lIns="0" tIns="0" rIns="0" bIns="0" rtlCol="0" anchor="ctr">
            <a:normAutofit/>
          </a:bodyPr>
          <a:lstStyle/>
          <a:p>
            <a:pPr indent="0" marL="0">
              <a:buNone/>
            </a:pPr>
            <a:r>
              <a:rPr lang="en-US" sz="2700" b="1" dirty="0">
                <a:solidFill>
                  <a:srgbClr val="20243A"/>
                </a:solidFill>
                <a:latin typeface="Malgun Gothic" pitchFamily="34" charset="0"/>
                <a:ea typeface="Malgun Gothic" pitchFamily="34" charset="-122"/>
                <a:cs typeface="Malgun Gothic" pitchFamily="34" charset="-120"/>
              </a:rPr>
              <a:t>AI 앱 연결 표준(MCP)은 화면 캡처 권한을 대신하지 않는다</a:t>
            </a:r>
            <a:endParaRPr lang="en-US" sz="2700" dirty="0"/>
          </a:p>
        </p:txBody>
      </p:sp>
      <p:sp>
        <p:nvSpPr>
          <p:cNvPr id="4" name="Shape 2"/>
          <p:cNvSpPr/>
          <p:nvPr/>
        </p:nvSpPr>
        <p:spPr>
          <a:xfrm>
            <a:off x="548640" y="1682496"/>
            <a:ext cx="11064240" cy="0"/>
          </a:xfrm>
          <a:prstGeom prst="line">
            <a:avLst/>
          </a:prstGeom>
          <a:noFill/>
          <a:ln w="12700">
            <a:solidFill>
              <a:srgbClr val="DDE2ED"/>
            </a:solidFill>
            <a:prstDash val="solid"/>
          </a:ln>
        </p:spPr>
      </p:sp>
      <p:sp>
        <p:nvSpPr>
          <p:cNvPr id="5" name="Text 3"/>
          <p:cNvSpPr/>
          <p:nvPr/>
        </p:nvSpPr>
        <p:spPr>
          <a:xfrm>
            <a:off x="548640" y="6519672"/>
            <a:ext cx="8869680" cy="164592"/>
          </a:xfrm>
          <a:prstGeom prst="rect">
            <a:avLst/>
          </a:prstGeom>
          <a:noFill/>
          <a:ln/>
        </p:spPr>
        <p:txBody>
          <a:bodyPr wrap="square" lIns="0" tIns="0" rIns="0" bIns="0" rtlCol="0" anchor="ctr">
            <a:normAutofit/>
          </a:bodyPr>
          <a:lstStyle/>
          <a:p>
            <a:pPr indent="0" marL="0">
              <a:buNone/>
            </a:pPr>
            <a:r>
              <a:rPr lang="en-US" sz="800" dirty="0">
                <a:solidFill>
                  <a:srgbClr val="677087"/>
                </a:solidFill>
                <a:latin typeface="Malgun Gothic" pitchFamily="34" charset="0"/>
                <a:ea typeface="Malgun Gothic" pitchFamily="34" charset="-122"/>
                <a:cs typeface="Malgun Gothic" pitchFamily="34" charset="-120"/>
              </a:rPr>
              <a:t>CleanTouch  |  사업화 현황 진단  |  2026.10.15</a:t>
            </a:r>
            <a:endParaRPr lang="en-US" sz="800" dirty="0"/>
          </a:p>
        </p:txBody>
      </p:sp>
      <p:sp>
        <p:nvSpPr>
          <p:cNvPr id="6" name="Text 4"/>
          <p:cNvSpPr/>
          <p:nvPr/>
        </p:nvSpPr>
        <p:spPr>
          <a:xfrm>
            <a:off x="10698480" y="6501384"/>
            <a:ext cx="914400" cy="182880"/>
          </a:xfrm>
          <a:prstGeom prst="rect">
            <a:avLst/>
          </a:prstGeom>
          <a:noFill/>
          <a:ln/>
        </p:spPr>
        <p:txBody>
          <a:bodyPr wrap="square" lIns="0" tIns="0" rIns="0" bIns="0" rtlCol="0" anchor="ctr">
            <a:normAutofit/>
          </a:bodyPr>
          <a:lstStyle/>
          <a:p>
            <a:pPr algn="r" indent="0" marL="0">
              <a:buNone/>
            </a:pPr>
            <a:r>
              <a:rPr lang="en-US" sz="800" dirty="0">
                <a:solidFill>
                  <a:srgbClr val="677087"/>
                </a:solidFill>
                <a:latin typeface="Malgun Gothic" pitchFamily="34" charset="0"/>
                <a:ea typeface="Malgun Gothic" pitchFamily="34" charset="-122"/>
                <a:cs typeface="Malgun Gothic" pitchFamily="34" charset="-120"/>
              </a:rPr>
              <a:t>15 / 24</a:t>
            </a:r>
            <a:endParaRPr lang="en-US" sz="800" dirty="0"/>
          </a:p>
        </p:txBody>
      </p:sp>
      <p:sp>
        <p:nvSpPr>
          <p:cNvPr id="7" name="Text 5"/>
          <p:cNvSpPr/>
          <p:nvPr/>
        </p:nvSpPr>
        <p:spPr>
          <a:xfrm>
            <a:off x="594360" y="6364224"/>
            <a:ext cx="10881360" cy="118872"/>
          </a:xfrm>
          <a:prstGeom prst="rect">
            <a:avLst/>
          </a:prstGeom>
          <a:noFill/>
          <a:ln/>
        </p:spPr>
        <p:txBody>
          <a:bodyPr wrap="square" lIns="0" tIns="0" rIns="0" bIns="0" rtlCol="0" anchor="ctr">
            <a:normAutofit/>
          </a:bodyPr>
          <a:lstStyle/>
          <a:p>
            <a:pPr indent="0" marL="0">
              <a:buNone/>
            </a:pPr>
            <a:r>
              <a:rPr lang="en-US" sz="700" dirty="0">
                <a:solidFill>
                  <a:srgbClr val="677087"/>
                </a:solidFill>
                <a:latin typeface="Malgun Gothic" pitchFamily="34" charset="0"/>
                <a:ea typeface="Malgun Gothic" pitchFamily="34" charset="-122"/>
                <a:cs typeface="Malgun Gothic" pitchFamily="34" charset="-120"/>
              </a:rPr>
              <a:t>S1 OpenAI · MCP server and UI quickstart  ·  S2 Claude · Custom connectors / remote MCP  ·  S7 MCP · Security best practices</a:t>
            </a:r>
            <a:endParaRPr lang="en-US" sz="700" dirty="0"/>
          </a:p>
        </p:txBody>
      </p:sp>
      <p:sp>
        <p:nvSpPr>
          <p:cNvPr id="8" name="Shape 6"/>
          <p:cNvSpPr/>
          <p:nvPr/>
        </p:nvSpPr>
        <p:spPr>
          <a:xfrm>
            <a:off x="548640" y="1938528"/>
            <a:ext cx="2612898" cy="1536192"/>
          </a:xfrm>
          <a:prstGeom prst="roundRect">
            <a:avLst>
              <a:gd name="adj" fmla="val 9524"/>
            </a:avLst>
          </a:prstGeom>
          <a:solidFill>
            <a:srgbClr val="FFFFFF"/>
          </a:solidFill>
          <a:ln w="7620">
            <a:solidFill>
              <a:srgbClr val="DDE2ED"/>
            </a:solidFill>
            <a:prstDash val="solid"/>
          </a:ln>
        </p:spPr>
      </p:sp>
      <p:sp>
        <p:nvSpPr>
          <p:cNvPr id="9" name="Text 7"/>
          <p:cNvSpPr/>
          <p:nvPr/>
        </p:nvSpPr>
        <p:spPr>
          <a:xfrm>
            <a:off x="685800" y="2139696"/>
            <a:ext cx="2338578" cy="347472"/>
          </a:xfrm>
          <a:prstGeom prst="rect">
            <a:avLst/>
          </a:prstGeom>
          <a:noFill/>
          <a:ln/>
        </p:spPr>
        <p:txBody>
          <a:bodyPr wrap="square" lIns="0" tIns="0" rIns="0" bIns="0" rtlCol="0" anchor="ctr">
            <a:normAutofit/>
          </a:bodyPr>
          <a:lstStyle/>
          <a:p>
            <a:pPr algn="ctr" indent="0" marL="0">
              <a:buNone/>
            </a:pPr>
            <a:r>
              <a:rPr lang="en-US" sz="1600" b="1" dirty="0">
                <a:solidFill>
                  <a:srgbClr val="7150E8"/>
                </a:solidFill>
                <a:latin typeface="Malgun Gothic" pitchFamily="34" charset="0"/>
                <a:ea typeface="Malgun Gothic" pitchFamily="34" charset="-122"/>
                <a:cs typeface="Malgun Gothic" pitchFamily="34" charset="-120"/>
              </a:rPr>
              <a:t>클라이언트</a:t>
            </a:r>
            <a:endParaRPr lang="en-US" sz="1600" dirty="0"/>
          </a:p>
        </p:txBody>
      </p:sp>
      <p:sp>
        <p:nvSpPr>
          <p:cNvPr id="10" name="Text 8"/>
          <p:cNvSpPr/>
          <p:nvPr/>
        </p:nvSpPr>
        <p:spPr>
          <a:xfrm>
            <a:off x="685800" y="2679192"/>
            <a:ext cx="2338578" cy="530352"/>
          </a:xfrm>
          <a:prstGeom prst="rect">
            <a:avLst/>
          </a:prstGeom>
          <a:noFill/>
          <a:ln/>
        </p:spPr>
        <p:txBody>
          <a:bodyPr wrap="square" lIns="0" tIns="0" rIns="0" bIns="0" rtlCol="0" anchor="ctr">
            <a:normAutofit/>
          </a:bodyPr>
          <a:lstStyle/>
          <a:p>
            <a:pPr algn="ctr" indent="0" marL="0">
              <a:buNone/>
            </a:pPr>
            <a:r>
              <a:rPr lang="en-US" sz="1300" dirty="0">
                <a:solidFill>
                  <a:srgbClr val="20243A"/>
                </a:solidFill>
                <a:latin typeface="Malgun Gothic" pitchFamily="34" charset="0"/>
                <a:ea typeface="Malgun Gothic" pitchFamily="34" charset="-122"/>
                <a:cs typeface="Malgun Gothic" pitchFamily="34" charset="-120"/>
              </a:rPr>
              <a:t>Windows·모바일</a:t>
            </a:r>
            <a:endParaRPr lang="en-US" sz="1300" dirty="0"/>
          </a:p>
          <a:p>
            <a:pPr algn="ctr" indent="0" marL="0">
              <a:buNone/>
            </a:pPr>
            <a:r>
              <a:rPr lang="en-US" sz="1300" dirty="0">
                <a:solidFill>
                  <a:srgbClr val="20243A"/>
                </a:solidFill>
                <a:latin typeface="Malgun Gothic" pitchFamily="34" charset="0"/>
                <a:ea typeface="Malgun Gothic" pitchFamily="34" charset="-122"/>
                <a:cs typeface="Malgun Gothic" pitchFamily="34" charset="-120"/>
              </a:rPr>
              <a:t>사용자가 이미지 선택</a:t>
            </a:r>
            <a:endParaRPr lang="en-US" sz="1300" dirty="0"/>
          </a:p>
        </p:txBody>
      </p:sp>
      <p:sp>
        <p:nvSpPr>
          <p:cNvPr id="11" name="Text 9"/>
          <p:cNvSpPr/>
          <p:nvPr/>
        </p:nvSpPr>
        <p:spPr>
          <a:xfrm>
            <a:off x="3170682" y="2505456"/>
            <a:ext cx="192024" cy="320040"/>
          </a:xfrm>
          <a:prstGeom prst="rect">
            <a:avLst/>
          </a:prstGeom>
          <a:noFill/>
          <a:ln/>
        </p:spPr>
        <p:txBody>
          <a:bodyPr wrap="square" lIns="0" tIns="0" rIns="0" bIns="0" rtlCol="0" anchor="ctr">
            <a:normAutofit/>
          </a:bodyPr>
          <a:lstStyle/>
          <a:p>
            <a:pPr algn="ctr" indent="0" marL="0">
              <a:buNone/>
            </a:pPr>
            <a:r>
              <a:rPr lang="en-US" sz="2200" dirty="0">
                <a:solidFill>
                  <a:srgbClr val="677087"/>
                </a:solidFill>
                <a:latin typeface="Malgun Gothic" pitchFamily="34" charset="0"/>
                <a:ea typeface="Malgun Gothic" pitchFamily="34" charset="-122"/>
                <a:cs typeface="Malgun Gothic" pitchFamily="34" charset="-120"/>
              </a:rPr>
              <a:t>›</a:t>
            </a:r>
            <a:endParaRPr lang="en-US" sz="2200" dirty="0"/>
          </a:p>
        </p:txBody>
      </p:sp>
      <p:sp>
        <p:nvSpPr>
          <p:cNvPr id="12" name="Shape 10"/>
          <p:cNvSpPr/>
          <p:nvPr/>
        </p:nvSpPr>
        <p:spPr>
          <a:xfrm>
            <a:off x="3371850" y="1938528"/>
            <a:ext cx="2612898" cy="1536192"/>
          </a:xfrm>
          <a:prstGeom prst="roundRect">
            <a:avLst>
              <a:gd name="adj" fmla="val 9524"/>
            </a:avLst>
          </a:prstGeom>
          <a:solidFill>
            <a:srgbClr val="FFFFFF"/>
          </a:solidFill>
          <a:ln w="7620">
            <a:solidFill>
              <a:srgbClr val="DDE2ED"/>
            </a:solidFill>
            <a:prstDash val="solid"/>
          </a:ln>
        </p:spPr>
      </p:sp>
      <p:sp>
        <p:nvSpPr>
          <p:cNvPr id="13" name="Text 11"/>
          <p:cNvSpPr/>
          <p:nvPr/>
        </p:nvSpPr>
        <p:spPr>
          <a:xfrm>
            <a:off x="3509010" y="2139696"/>
            <a:ext cx="2338578" cy="347472"/>
          </a:xfrm>
          <a:prstGeom prst="rect">
            <a:avLst/>
          </a:prstGeom>
          <a:noFill/>
          <a:ln/>
        </p:spPr>
        <p:txBody>
          <a:bodyPr wrap="square" lIns="0" tIns="0" rIns="0" bIns="0" rtlCol="0" anchor="ctr">
            <a:normAutofit/>
          </a:bodyPr>
          <a:lstStyle/>
          <a:p>
            <a:pPr algn="ctr" indent="0" marL="0">
              <a:buNone/>
            </a:pPr>
            <a:r>
              <a:rPr lang="en-US" sz="1600" b="1" dirty="0">
                <a:solidFill>
                  <a:srgbClr val="7150E8"/>
                </a:solidFill>
                <a:latin typeface="Malgun Gothic" pitchFamily="34" charset="0"/>
                <a:ea typeface="Malgun Gothic" pitchFamily="34" charset="-122"/>
                <a:cs typeface="Malgun Gothic" pitchFamily="34" charset="-120"/>
              </a:rPr>
              <a:t>공통 서비스</a:t>
            </a:r>
            <a:endParaRPr lang="en-US" sz="1600" dirty="0"/>
          </a:p>
        </p:txBody>
      </p:sp>
      <p:sp>
        <p:nvSpPr>
          <p:cNvPr id="14" name="Text 12"/>
          <p:cNvSpPr/>
          <p:nvPr/>
        </p:nvSpPr>
        <p:spPr>
          <a:xfrm>
            <a:off x="3509010" y="2679192"/>
            <a:ext cx="2338578" cy="530352"/>
          </a:xfrm>
          <a:prstGeom prst="rect">
            <a:avLst/>
          </a:prstGeom>
          <a:noFill/>
          <a:ln/>
        </p:spPr>
        <p:txBody>
          <a:bodyPr wrap="square" lIns="0" tIns="0" rIns="0" bIns="0" rtlCol="0" anchor="ctr">
            <a:normAutofit/>
          </a:bodyPr>
          <a:lstStyle/>
          <a:p>
            <a:pPr algn="ctr" indent="0" marL="0">
              <a:buNone/>
            </a:pPr>
            <a:r>
              <a:rPr lang="en-US" sz="1300" dirty="0">
                <a:solidFill>
                  <a:srgbClr val="20243A"/>
                </a:solidFill>
                <a:latin typeface="Malgun Gothic" pitchFamily="34" charset="0"/>
                <a:ea typeface="Malgun Gothic" pitchFamily="34" charset="-122"/>
                <a:cs typeface="Malgun Gothic" pitchFamily="34" charset="-120"/>
              </a:rPr>
              <a:t>로그인·고객별 권한</a:t>
            </a:r>
            <a:endParaRPr lang="en-US" sz="1300" dirty="0"/>
          </a:p>
          <a:p>
            <a:pPr algn="ctr" indent="0" marL="0">
              <a:buNone/>
            </a:pPr>
            <a:r>
              <a:rPr lang="en-US" sz="1300" dirty="0">
                <a:solidFill>
                  <a:srgbClr val="20243A"/>
                </a:solidFill>
                <a:latin typeface="Malgun Gothic" pitchFamily="34" charset="0"/>
                <a:ea typeface="Malgun Gothic" pitchFamily="34" charset="-122"/>
                <a:cs typeface="Malgun Gothic" pitchFamily="34" charset="-120"/>
              </a:rPr>
              <a:t>짧은 수명의 이미지 참조</a:t>
            </a:r>
            <a:endParaRPr lang="en-US" sz="1300" dirty="0"/>
          </a:p>
        </p:txBody>
      </p:sp>
      <p:sp>
        <p:nvSpPr>
          <p:cNvPr id="15" name="Text 13"/>
          <p:cNvSpPr/>
          <p:nvPr/>
        </p:nvSpPr>
        <p:spPr>
          <a:xfrm>
            <a:off x="5993892" y="2505456"/>
            <a:ext cx="192024" cy="320040"/>
          </a:xfrm>
          <a:prstGeom prst="rect">
            <a:avLst/>
          </a:prstGeom>
          <a:noFill/>
          <a:ln/>
        </p:spPr>
        <p:txBody>
          <a:bodyPr wrap="square" lIns="0" tIns="0" rIns="0" bIns="0" rtlCol="0" anchor="ctr">
            <a:normAutofit/>
          </a:bodyPr>
          <a:lstStyle/>
          <a:p>
            <a:pPr algn="ctr" indent="0" marL="0">
              <a:buNone/>
            </a:pPr>
            <a:r>
              <a:rPr lang="en-US" sz="2200" dirty="0">
                <a:solidFill>
                  <a:srgbClr val="677087"/>
                </a:solidFill>
                <a:latin typeface="Malgun Gothic" pitchFamily="34" charset="0"/>
                <a:ea typeface="Malgun Gothic" pitchFamily="34" charset="-122"/>
                <a:cs typeface="Malgun Gothic" pitchFamily="34" charset="-120"/>
              </a:rPr>
              <a:t>›</a:t>
            </a:r>
            <a:endParaRPr lang="en-US" sz="2200" dirty="0"/>
          </a:p>
        </p:txBody>
      </p:sp>
      <p:sp>
        <p:nvSpPr>
          <p:cNvPr id="16" name="Shape 14"/>
          <p:cNvSpPr/>
          <p:nvPr/>
        </p:nvSpPr>
        <p:spPr>
          <a:xfrm>
            <a:off x="6195060" y="1938528"/>
            <a:ext cx="2612898" cy="1536192"/>
          </a:xfrm>
          <a:prstGeom prst="roundRect">
            <a:avLst>
              <a:gd name="adj" fmla="val 9524"/>
            </a:avLst>
          </a:prstGeom>
          <a:solidFill>
            <a:srgbClr val="FFFFFF"/>
          </a:solidFill>
          <a:ln w="7620">
            <a:solidFill>
              <a:srgbClr val="DDE2ED"/>
            </a:solidFill>
            <a:prstDash val="solid"/>
          </a:ln>
        </p:spPr>
      </p:sp>
      <p:sp>
        <p:nvSpPr>
          <p:cNvPr id="17" name="Text 15"/>
          <p:cNvSpPr/>
          <p:nvPr/>
        </p:nvSpPr>
        <p:spPr>
          <a:xfrm>
            <a:off x="6332220" y="2139696"/>
            <a:ext cx="2338578" cy="347472"/>
          </a:xfrm>
          <a:prstGeom prst="rect">
            <a:avLst/>
          </a:prstGeom>
          <a:noFill/>
          <a:ln/>
        </p:spPr>
        <p:txBody>
          <a:bodyPr wrap="square" lIns="0" tIns="0" rIns="0" bIns="0" rtlCol="0" anchor="ctr">
            <a:normAutofit/>
          </a:bodyPr>
          <a:lstStyle/>
          <a:p>
            <a:pPr algn="ctr" indent="0" marL="0">
              <a:buNone/>
            </a:pPr>
            <a:r>
              <a:rPr lang="en-US" sz="1600" b="1" dirty="0">
                <a:solidFill>
                  <a:srgbClr val="7150E8"/>
                </a:solidFill>
                <a:latin typeface="Malgun Gothic" pitchFamily="34" charset="0"/>
                <a:ea typeface="Malgun Gothic" pitchFamily="34" charset="-122"/>
                <a:cs typeface="Malgun Gothic" pitchFamily="34" charset="-120"/>
              </a:rPr>
              <a:t>MCP/API</a:t>
            </a:r>
            <a:endParaRPr lang="en-US" sz="1600" dirty="0"/>
          </a:p>
        </p:txBody>
      </p:sp>
      <p:sp>
        <p:nvSpPr>
          <p:cNvPr id="18" name="Text 16"/>
          <p:cNvSpPr/>
          <p:nvPr/>
        </p:nvSpPr>
        <p:spPr>
          <a:xfrm>
            <a:off x="6332220" y="2679192"/>
            <a:ext cx="2338578" cy="530352"/>
          </a:xfrm>
          <a:prstGeom prst="rect">
            <a:avLst/>
          </a:prstGeom>
          <a:noFill/>
          <a:ln/>
        </p:spPr>
        <p:txBody>
          <a:bodyPr wrap="square" lIns="0" tIns="0" rIns="0" bIns="0" rtlCol="0" anchor="ctr">
            <a:normAutofit/>
          </a:bodyPr>
          <a:lstStyle/>
          <a:p>
            <a:pPr algn="ctr" indent="0" marL="0">
              <a:buNone/>
            </a:pPr>
            <a:r>
              <a:rPr lang="en-US" sz="1300" dirty="0">
                <a:solidFill>
                  <a:srgbClr val="20243A"/>
                </a:solidFill>
                <a:latin typeface="Malgun Gothic" pitchFamily="34" charset="0"/>
                <a:ea typeface="Malgun Gothic" pitchFamily="34" charset="-122"/>
                <a:cs typeface="Malgun Gothic" pitchFamily="34" charset="-120"/>
              </a:rPr>
              <a:t>상품 식별·카탈로그 검색</a:t>
            </a:r>
            <a:endParaRPr lang="en-US" sz="1300" dirty="0"/>
          </a:p>
          <a:p>
            <a:pPr algn="ctr" indent="0" marL="0">
              <a:buNone/>
            </a:pPr>
            <a:r>
              <a:rPr lang="en-US" sz="1300" dirty="0">
                <a:solidFill>
                  <a:srgbClr val="20243A"/>
                </a:solidFill>
                <a:latin typeface="Malgun Gothic" pitchFamily="34" charset="0"/>
                <a:ea typeface="Malgun Gothic" pitchFamily="34" charset="-122"/>
                <a:cs typeface="Malgun Gothic" pitchFamily="34" charset="-120"/>
              </a:rPr>
              <a:t>판매처 조회 도구</a:t>
            </a:r>
            <a:endParaRPr lang="en-US" sz="1300" dirty="0"/>
          </a:p>
        </p:txBody>
      </p:sp>
      <p:sp>
        <p:nvSpPr>
          <p:cNvPr id="19" name="Text 17"/>
          <p:cNvSpPr/>
          <p:nvPr/>
        </p:nvSpPr>
        <p:spPr>
          <a:xfrm>
            <a:off x="8817102" y="2505456"/>
            <a:ext cx="192024" cy="320040"/>
          </a:xfrm>
          <a:prstGeom prst="rect">
            <a:avLst/>
          </a:prstGeom>
          <a:noFill/>
          <a:ln/>
        </p:spPr>
        <p:txBody>
          <a:bodyPr wrap="square" lIns="0" tIns="0" rIns="0" bIns="0" rtlCol="0" anchor="ctr">
            <a:normAutofit/>
          </a:bodyPr>
          <a:lstStyle/>
          <a:p>
            <a:pPr algn="ctr" indent="0" marL="0">
              <a:buNone/>
            </a:pPr>
            <a:r>
              <a:rPr lang="en-US" sz="2200" dirty="0">
                <a:solidFill>
                  <a:srgbClr val="677087"/>
                </a:solidFill>
                <a:latin typeface="Malgun Gothic" pitchFamily="34" charset="0"/>
                <a:ea typeface="Malgun Gothic" pitchFamily="34" charset="-122"/>
                <a:cs typeface="Malgun Gothic" pitchFamily="34" charset="-120"/>
              </a:rPr>
              <a:t>›</a:t>
            </a:r>
            <a:endParaRPr lang="en-US" sz="2200" dirty="0"/>
          </a:p>
        </p:txBody>
      </p:sp>
      <p:sp>
        <p:nvSpPr>
          <p:cNvPr id="20" name="Shape 18"/>
          <p:cNvSpPr/>
          <p:nvPr/>
        </p:nvSpPr>
        <p:spPr>
          <a:xfrm>
            <a:off x="9018270" y="1938528"/>
            <a:ext cx="2612898" cy="1536192"/>
          </a:xfrm>
          <a:prstGeom prst="roundRect">
            <a:avLst>
              <a:gd name="adj" fmla="val 9524"/>
            </a:avLst>
          </a:prstGeom>
          <a:solidFill>
            <a:srgbClr val="EEE9FD"/>
          </a:solidFill>
          <a:ln w="7620">
            <a:solidFill>
              <a:srgbClr val="DDE2ED"/>
            </a:solidFill>
            <a:prstDash val="solid"/>
          </a:ln>
        </p:spPr>
      </p:sp>
      <p:sp>
        <p:nvSpPr>
          <p:cNvPr id="21" name="Text 19"/>
          <p:cNvSpPr/>
          <p:nvPr/>
        </p:nvSpPr>
        <p:spPr>
          <a:xfrm>
            <a:off x="9155430" y="2139696"/>
            <a:ext cx="2338578" cy="347472"/>
          </a:xfrm>
          <a:prstGeom prst="rect">
            <a:avLst/>
          </a:prstGeom>
          <a:noFill/>
          <a:ln/>
        </p:spPr>
        <p:txBody>
          <a:bodyPr wrap="square" lIns="0" tIns="0" rIns="0" bIns="0" rtlCol="0" anchor="ctr">
            <a:normAutofit/>
          </a:bodyPr>
          <a:lstStyle/>
          <a:p>
            <a:pPr algn="ctr" indent="0" marL="0">
              <a:buNone/>
            </a:pPr>
            <a:r>
              <a:rPr lang="en-US" sz="1600" b="1" dirty="0">
                <a:solidFill>
                  <a:srgbClr val="7150E8"/>
                </a:solidFill>
                <a:latin typeface="Malgun Gothic" pitchFamily="34" charset="0"/>
                <a:ea typeface="Malgun Gothic" pitchFamily="34" charset="-122"/>
                <a:cs typeface="Malgun Gothic" pitchFamily="34" charset="-120"/>
              </a:rPr>
              <a:t>호스트</a:t>
            </a:r>
            <a:endParaRPr lang="en-US" sz="1600" dirty="0"/>
          </a:p>
        </p:txBody>
      </p:sp>
      <p:sp>
        <p:nvSpPr>
          <p:cNvPr id="22" name="Text 20"/>
          <p:cNvSpPr/>
          <p:nvPr/>
        </p:nvSpPr>
        <p:spPr>
          <a:xfrm>
            <a:off x="9155430" y="2679192"/>
            <a:ext cx="2338578" cy="530352"/>
          </a:xfrm>
          <a:prstGeom prst="rect">
            <a:avLst/>
          </a:prstGeom>
          <a:noFill/>
          <a:ln/>
        </p:spPr>
        <p:txBody>
          <a:bodyPr wrap="square" lIns="0" tIns="0" rIns="0" bIns="0" rtlCol="0" anchor="ctr">
            <a:normAutofit/>
          </a:bodyPr>
          <a:lstStyle/>
          <a:p>
            <a:pPr algn="ctr" indent="0" marL="0">
              <a:buNone/>
            </a:pPr>
            <a:r>
              <a:rPr lang="en-US" sz="1300" dirty="0">
                <a:solidFill>
                  <a:srgbClr val="20243A"/>
                </a:solidFill>
                <a:latin typeface="Malgun Gothic" pitchFamily="34" charset="0"/>
                <a:ea typeface="Malgun Gothic" pitchFamily="34" charset="-122"/>
                <a:cs typeface="Malgun Gothic" pitchFamily="34" charset="-120"/>
              </a:rPr>
              <a:t>Claude 커넥터</a:t>
            </a:r>
            <a:endParaRPr lang="en-US" sz="1300" dirty="0"/>
          </a:p>
          <a:p>
            <a:pPr algn="ctr" indent="0" marL="0">
              <a:buNone/>
            </a:pPr>
            <a:r>
              <a:rPr lang="en-US" sz="1300" dirty="0">
                <a:solidFill>
                  <a:srgbClr val="20243A"/>
                </a:solidFill>
                <a:latin typeface="Malgun Gothic" pitchFamily="34" charset="0"/>
                <a:ea typeface="Malgun Gothic" pitchFamily="34" charset="-122"/>
                <a:cs typeface="Malgun Gothic" pitchFamily="34" charset="-120"/>
              </a:rPr>
              <a:t>ChatGPT MCP/UI</a:t>
            </a:r>
            <a:endParaRPr lang="en-US" sz="1300" dirty="0"/>
          </a:p>
        </p:txBody>
      </p:sp>
      <p:sp>
        <p:nvSpPr>
          <p:cNvPr id="23" name="Shape 21"/>
          <p:cNvSpPr/>
          <p:nvPr/>
        </p:nvSpPr>
        <p:spPr>
          <a:xfrm>
            <a:off x="548640" y="3730752"/>
            <a:ext cx="5413248" cy="1764792"/>
          </a:xfrm>
          <a:prstGeom prst="roundRect">
            <a:avLst>
              <a:gd name="adj" fmla="val 8290"/>
            </a:avLst>
          </a:prstGeom>
          <a:solidFill>
            <a:srgbClr val="FFFFFF"/>
          </a:solidFill>
          <a:ln w="7620">
            <a:solidFill>
              <a:srgbClr val="DDE2ED"/>
            </a:solidFill>
            <a:prstDash val="solid"/>
          </a:ln>
        </p:spPr>
      </p:sp>
      <p:sp>
        <p:nvSpPr>
          <p:cNvPr id="24" name="Shape 22"/>
          <p:cNvSpPr/>
          <p:nvPr/>
        </p:nvSpPr>
        <p:spPr>
          <a:xfrm>
            <a:off x="713232" y="3941064"/>
            <a:ext cx="41148" cy="1344168"/>
          </a:xfrm>
          <a:prstGeom prst="rect">
            <a:avLst/>
          </a:prstGeom>
          <a:solidFill>
            <a:srgbClr val="7150E8"/>
          </a:solidFill>
          <a:ln w="12700">
            <a:solidFill>
              <a:srgbClr val="7150E8">
                <a:alpha val="0"/>
              </a:srgbClr>
            </a:solidFill>
            <a:prstDash val="solid"/>
          </a:ln>
        </p:spPr>
      </p:sp>
      <p:sp>
        <p:nvSpPr>
          <p:cNvPr id="25" name="Text 23"/>
          <p:cNvSpPr/>
          <p:nvPr/>
        </p:nvSpPr>
        <p:spPr>
          <a:xfrm>
            <a:off x="914400" y="3931920"/>
            <a:ext cx="4773168" cy="338328"/>
          </a:xfrm>
          <a:prstGeom prst="rect">
            <a:avLst/>
          </a:prstGeom>
          <a:noFill/>
          <a:ln/>
        </p:spPr>
        <p:txBody>
          <a:bodyPr wrap="square" lIns="0" tIns="0" rIns="0" bIns="0" rtlCol="0" anchor="ctr">
            <a:normAutofit/>
          </a:bodyPr>
          <a:lstStyle/>
          <a:p>
            <a:pPr indent="0" marL="0">
              <a:buNone/>
            </a:pPr>
            <a:r>
              <a:rPr lang="en-US" sz="1700" b="1" dirty="0">
                <a:solidFill>
                  <a:srgbClr val="7150E8"/>
                </a:solidFill>
                <a:latin typeface="Malgun Gothic" pitchFamily="34" charset="0"/>
                <a:ea typeface="Malgun Gothic" pitchFamily="34" charset="-122"/>
                <a:cs typeface="Malgun Gothic" pitchFamily="34" charset="-120"/>
              </a:rPr>
              <a:t>공통으로 돌려줄 결과</a:t>
            </a:r>
            <a:endParaRPr lang="en-US" sz="1700" dirty="0"/>
          </a:p>
        </p:txBody>
      </p:sp>
      <p:sp>
        <p:nvSpPr>
          <p:cNvPr id="26" name="Text 24"/>
          <p:cNvSpPr/>
          <p:nvPr/>
        </p:nvSpPr>
        <p:spPr>
          <a:xfrm>
            <a:off x="914400" y="4507992"/>
            <a:ext cx="4718304" cy="822960"/>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상품 ID·사진·일치 근거·상세 URL·확인 시각</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고객별 권한 필터와 사용량 처리</a:t>
            </a:r>
            <a:endParaRPr lang="en-US" sz="1500" dirty="0"/>
          </a:p>
        </p:txBody>
      </p:sp>
      <p:sp>
        <p:nvSpPr>
          <p:cNvPr id="27" name="Shape 25"/>
          <p:cNvSpPr/>
          <p:nvPr/>
        </p:nvSpPr>
        <p:spPr>
          <a:xfrm>
            <a:off x="6217920" y="3730752"/>
            <a:ext cx="5413248" cy="1764792"/>
          </a:xfrm>
          <a:prstGeom prst="roundRect">
            <a:avLst>
              <a:gd name="adj" fmla="val 8290"/>
            </a:avLst>
          </a:prstGeom>
          <a:solidFill>
            <a:srgbClr val="FFFFFF"/>
          </a:solidFill>
          <a:ln w="7620">
            <a:solidFill>
              <a:srgbClr val="DDE2ED"/>
            </a:solidFill>
            <a:prstDash val="solid"/>
          </a:ln>
        </p:spPr>
      </p:sp>
      <p:sp>
        <p:nvSpPr>
          <p:cNvPr id="28" name="Shape 26"/>
          <p:cNvSpPr/>
          <p:nvPr/>
        </p:nvSpPr>
        <p:spPr>
          <a:xfrm>
            <a:off x="6382512" y="3941064"/>
            <a:ext cx="41148" cy="1344168"/>
          </a:xfrm>
          <a:prstGeom prst="rect">
            <a:avLst/>
          </a:prstGeom>
          <a:solidFill>
            <a:srgbClr val="147D7A"/>
          </a:solidFill>
          <a:ln w="12700">
            <a:solidFill>
              <a:srgbClr val="147D7A">
                <a:alpha val="0"/>
              </a:srgbClr>
            </a:solidFill>
            <a:prstDash val="solid"/>
          </a:ln>
        </p:spPr>
      </p:sp>
      <p:sp>
        <p:nvSpPr>
          <p:cNvPr id="29" name="Text 27"/>
          <p:cNvSpPr/>
          <p:nvPr/>
        </p:nvSpPr>
        <p:spPr>
          <a:xfrm>
            <a:off x="6583680" y="3931920"/>
            <a:ext cx="4773168" cy="338328"/>
          </a:xfrm>
          <a:prstGeom prst="rect">
            <a:avLst/>
          </a:prstGeom>
          <a:noFill/>
          <a:ln/>
        </p:spPr>
        <p:txBody>
          <a:bodyPr wrap="square" lIns="0" tIns="0" rIns="0" bIns="0" rtlCol="0" anchor="ctr">
            <a:normAutofit/>
          </a:bodyPr>
          <a:lstStyle/>
          <a:p>
            <a:pPr indent="0" marL="0">
              <a:buNone/>
            </a:pPr>
            <a:r>
              <a:rPr lang="en-US" sz="1700" b="1" dirty="0">
                <a:solidFill>
                  <a:srgbClr val="147D7A"/>
                </a:solidFill>
                <a:latin typeface="Malgun Gothic" pitchFamily="34" charset="0"/>
                <a:ea typeface="Malgun Gothic" pitchFamily="34" charset="-122"/>
                <a:cs typeface="Malgun Gothic" pitchFamily="34" charset="-120"/>
              </a:rPr>
              <a:t>기본 설계 원칙</a:t>
            </a:r>
            <a:endParaRPr lang="en-US" sz="1700" dirty="0"/>
          </a:p>
        </p:txBody>
      </p:sp>
      <p:sp>
        <p:nvSpPr>
          <p:cNvPr id="30" name="Text 28"/>
          <p:cNvSpPr/>
          <p:nvPr/>
        </p:nvSpPr>
        <p:spPr>
          <a:xfrm>
            <a:off x="6583680" y="4507992"/>
            <a:ext cx="4718304" cy="822960"/>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OAuth·최소 권한·도구별 입력 검증·감사</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화면 전송/주문/결제를 자동 실행하지 않기</a:t>
            </a:r>
            <a:endParaRPr lang="en-US" sz="1500" dirty="0"/>
          </a:p>
        </p:txBody>
      </p:sp>
      <p:sp>
        <p:nvSpPr>
          <p:cNvPr id="31" name="Shape 29"/>
          <p:cNvSpPr/>
          <p:nvPr/>
        </p:nvSpPr>
        <p:spPr>
          <a:xfrm>
            <a:off x="548640" y="5824728"/>
            <a:ext cx="11082528" cy="438912"/>
          </a:xfrm>
          <a:prstGeom prst="roundRect">
            <a:avLst>
              <a:gd name="adj" fmla="val 33333"/>
            </a:avLst>
          </a:prstGeom>
          <a:solidFill>
            <a:srgbClr val="EEE9FD"/>
          </a:solidFill>
          <a:ln w="7620">
            <a:solidFill>
              <a:srgbClr val="EEE9FD"/>
            </a:solidFill>
            <a:prstDash val="solid"/>
          </a:ln>
        </p:spPr>
      </p:sp>
      <p:sp>
        <p:nvSpPr>
          <p:cNvPr id="32" name="Text 30"/>
          <p:cNvSpPr/>
          <p:nvPr/>
        </p:nvSpPr>
        <p:spPr>
          <a:xfrm>
            <a:off x="731520" y="5916168"/>
            <a:ext cx="10698480" cy="237744"/>
          </a:xfrm>
          <a:prstGeom prst="rect">
            <a:avLst/>
          </a:prstGeom>
          <a:noFill/>
          <a:ln/>
        </p:spPr>
        <p:txBody>
          <a:bodyPr wrap="square" lIns="0" tIns="0" rIns="0" bIns="0" rtlCol="0" anchor="ctr">
            <a:normAutofit/>
          </a:bodyPr>
          <a:lstStyle/>
          <a:p>
            <a:pPr indent="0" marL="0">
              <a:buNone/>
            </a:pPr>
            <a:r>
              <a:rPr lang="en-US" sz="1140" b="1" dirty="0">
                <a:solidFill>
                  <a:srgbClr val="7150E8"/>
                </a:solidFill>
                <a:latin typeface="Malgun Gothic" pitchFamily="34" charset="0"/>
                <a:ea typeface="Malgun Gothic" pitchFamily="34" charset="-122"/>
                <a:cs typeface="Malgun Gothic" pitchFamily="34" charset="-120"/>
              </a:rPr>
              <a:t>ChatGPT·Claude 구독료에 CleanTouch의 서버·검색·추론 비용이 자동 포함되는 것은 아니다.</a:t>
            </a:r>
            <a:endParaRPr lang="en-US" sz="114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548640" y="274320"/>
            <a:ext cx="10058400" cy="228600"/>
          </a:xfrm>
          <a:prstGeom prst="rect">
            <a:avLst/>
          </a:prstGeom>
          <a:noFill/>
          <a:ln/>
        </p:spPr>
        <p:txBody>
          <a:bodyPr wrap="square" lIns="0" tIns="0" rIns="0" bIns="0" rtlCol="0" anchor="ctr">
            <a:normAutofit/>
          </a:bodyPr>
          <a:lstStyle/>
          <a:p>
            <a:pPr indent="0" marL="0">
              <a:buNone/>
            </a:pPr>
            <a:r>
              <a:rPr lang="en-US" sz="900" b="1" spc="160" kern="0" dirty="0">
                <a:solidFill>
                  <a:srgbClr val="7150E8"/>
                </a:solidFill>
                <a:latin typeface="Malgun Gothic" pitchFamily="34" charset="0"/>
                <a:ea typeface="Malgun Gothic" pitchFamily="34" charset="-122"/>
                <a:cs typeface="Malgun Gothic" pitchFamily="34" charset="-120"/>
              </a:rPr>
              <a:t>03 / PACKAGING &amp; REVENUE</a:t>
            </a:r>
            <a:endParaRPr lang="en-US" sz="900" dirty="0"/>
          </a:p>
        </p:txBody>
      </p:sp>
      <p:sp>
        <p:nvSpPr>
          <p:cNvPr id="3" name="Text 1"/>
          <p:cNvSpPr/>
          <p:nvPr/>
        </p:nvSpPr>
        <p:spPr>
          <a:xfrm>
            <a:off x="548640" y="758952"/>
            <a:ext cx="11082528" cy="795528"/>
          </a:xfrm>
          <a:prstGeom prst="rect">
            <a:avLst/>
          </a:prstGeom>
          <a:noFill/>
          <a:ln/>
        </p:spPr>
        <p:txBody>
          <a:bodyPr wrap="square" lIns="0" tIns="0" rIns="0" bIns="0" rtlCol="0" anchor="ctr">
            <a:normAutofit/>
          </a:bodyPr>
          <a:lstStyle/>
          <a:p>
            <a:pPr indent="0" marL="0">
              <a:buNone/>
            </a:pPr>
            <a:r>
              <a:rPr lang="en-US" sz="2700" b="1" dirty="0">
                <a:solidFill>
                  <a:srgbClr val="20243A"/>
                </a:solidFill>
                <a:latin typeface="Malgun Gothic" pitchFamily="34" charset="0"/>
                <a:ea typeface="Malgun Gothic" pitchFamily="34" charset="-122"/>
                <a:cs typeface="Malgun Gothic" pitchFamily="34" charset="-120"/>
              </a:rPr>
              <a:t>설치형은 전달 방식, 구독형은 과금 방식이다</a:t>
            </a:r>
            <a:endParaRPr lang="en-US" sz="2700" dirty="0"/>
          </a:p>
        </p:txBody>
      </p:sp>
      <p:sp>
        <p:nvSpPr>
          <p:cNvPr id="4" name="Shape 2"/>
          <p:cNvSpPr/>
          <p:nvPr/>
        </p:nvSpPr>
        <p:spPr>
          <a:xfrm>
            <a:off x="548640" y="1682496"/>
            <a:ext cx="11064240" cy="0"/>
          </a:xfrm>
          <a:prstGeom prst="line">
            <a:avLst/>
          </a:prstGeom>
          <a:noFill/>
          <a:ln w="12700">
            <a:solidFill>
              <a:srgbClr val="DDE2ED"/>
            </a:solidFill>
            <a:prstDash val="solid"/>
          </a:ln>
        </p:spPr>
      </p:sp>
      <p:sp>
        <p:nvSpPr>
          <p:cNvPr id="5" name="Text 3"/>
          <p:cNvSpPr/>
          <p:nvPr/>
        </p:nvSpPr>
        <p:spPr>
          <a:xfrm>
            <a:off x="548640" y="6519672"/>
            <a:ext cx="8869680" cy="164592"/>
          </a:xfrm>
          <a:prstGeom prst="rect">
            <a:avLst/>
          </a:prstGeom>
          <a:noFill/>
          <a:ln/>
        </p:spPr>
        <p:txBody>
          <a:bodyPr wrap="square" lIns="0" tIns="0" rIns="0" bIns="0" rtlCol="0" anchor="ctr">
            <a:normAutofit/>
          </a:bodyPr>
          <a:lstStyle/>
          <a:p>
            <a:pPr indent="0" marL="0">
              <a:buNone/>
            </a:pPr>
            <a:r>
              <a:rPr lang="en-US" sz="800" dirty="0">
                <a:solidFill>
                  <a:srgbClr val="677087"/>
                </a:solidFill>
                <a:latin typeface="Malgun Gothic" pitchFamily="34" charset="0"/>
                <a:ea typeface="Malgun Gothic" pitchFamily="34" charset="-122"/>
                <a:cs typeface="Malgun Gothic" pitchFamily="34" charset="-120"/>
              </a:rPr>
              <a:t>CleanTouch  |  사업화 현황 진단  |  2026.10.15</a:t>
            </a:r>
            <a:endParaRPr lang="en-US" sz="800" dirty="0"/>
          </a:p>
        </p:txBody>
      </p:sp>
      <p:sp>
        <p:nvSpPr>
          <p:cNvPr id="6" name="Text 4"/>
          <p:cNvSpPr/>
          <p:nvPr/>
        </p:nvSpPr>
        <p:spPr>
          <a:xfrm>
            <a:off x="10698480" y="6501384"/>
            <a:ext cx="914400" cy="182880"/>
          </a:xfrm>
          <a:prstGeom prst="rect">
            <a:avLst/>
          </a:prstGeom>
          <a:noFill/>
          <a:ln/>
        </p:spPr>
        <p:txBody>
          <a:bodyPr wrap="square" lIns="0" tIns="0" rIns="0" bIns="0" rtlCol="0" anchor="ctr">
            <a:normAutofit/>
          </a:bodyPr>
          <a:lstStyle/>
          <a:p>
            <a:pPr algn="r" indent="0" marL="0">
              <a:buNone/>
            </a:pPr>
            <a:r>
              <a:rPr lang="en-US" sz="800" dirty="0">
                <a:solidFill>
                  <a:srgbClr val="677087"/>
                </a:solidFill>
                <a:latin typeface="Malgun Gothic" pitchFamily="34" charset="0"/>
                <a:ea typeface="Malgun Gothic" pitchFamily="34" charset="-122"/>
                <a:cs typeface="Malgun Gothic" pitchFamily="34" charset="-120"/>
              </a:rPr>
              <a:t>16 / 24</a:t>
            </a:r>
            <a:endParaRPr lang="en-US" sz="800" dirty="0"/>
          </a:p>
        </p:txBody>
      </p:sp>
      <p:sp>
        <p:nvSpPr>
          <p:cNvPr id="7" name="Text 5"/>
          <p:cNvSpPr/>
          <p:nvPr/>
        </p:nvSpPr>
        <p:spPr>
          <a:xfrm>
            <a:off x="594360" y="6364224"/>
            <a:ext cx="10881360" cy="118872"/>
          </a:xfrm>
          <a:prstGeom prst="rect">
            <a:avLst/>
          </a:prstGeom>
          <a:noFill/>
          <a:ln/>
        </p:spPr>
        <p:txBody>
          <a:bodyPr wrap="square" lIns="0" tIns="0" rIns="0" bIns="0" rtlCol="0" anchor="ctr">
            <a:normAutofit/>
          </a:bodyPr>
          <a:lstStyle/>
          <a:p>
            <a:pPr indent="0" marL="0">
              <a:buNone/>
            </a:pPr>
            <a:r>
              <a:rPr lang="en-US" sz="700" dirty="0">
                <a:solidFill>
                  <a:srgbClr val="677087"/>
                </a:solidFill>
                <a:latin typeface="Malgun Gothic" pitchFamily="34" charset="0"/>
                <a:ea typeface="Malgun Gothic" pitchFamily="34" charset="-122"/>
                <a:cs typeface="Malgun Gothic" pitchFamily="34" charset="-120"/>
              </a:rPr>
              <a:t>S8 Stripe · Subscription webhooks</a:t>
            </a:r>
            <a:endParaRPr lang="en-US" sz="700" dirty="0"/>
          </a:p>
        </p:txBody>
      </p:sp>
      <p:sp>
        <p:nvSpPr>
          <p:cNvPr id="8" name="Shape 6"/>
          <p:cNvSpPr/>
          <p:nvPr/>
        </p:nvSpPr>
        <p:spPr>
          <a:xfrm>
            <a:off x="548640" y="1901952"/>
            <a:ext cx="2103120" cy="614172"/>
          </a:xfrm>
          <a:prstGeom prst="rect">
            <a:avLst/>
          </a:prstGeom>
          <a:solidFill>
            <a:srgbClr val="171A2D"/>
          </a:solidFill>
          <a:ln w="12700">
            <a:solidFill>
              <a:srgbClr val="171A2D"/>
            </a:solidFill>
            <a:prstDash val="solid"/>
          </a:ln>
        </p:spPr>
      </p:sp>
      <p:sp>
        <p:nvSpPr>
          <p:cNvPr id="9" name="Text 7"/>
          <p:cNvSpPr/>
          <p:nvPr/>
        </p:nvSpPr>
        <p:spPr>
          <a:xfrm>
            <a:off x="685800" y="2011680"/>
            <a:ext cx="1828800" cy="431292"/>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패키지 제안</a:t>
            </a:r>
            <a:endParaRPr lang="en-US" sz="1400" dirty="0"/>
          </a:p>
        </p:txBody>
      </p:sp>
      <p:sp>
        <p:nvSpPr>
          <p:cNvPr id="10" name="Shape 8"/>
          <p:cNvSpPr/>
          <p:nvPr/>
        </p:nvSpPr>
        <p:spPr>
          <a:xfrm>
            <a:off x="2651760" y="1901952"/>
            <a:ext cx="4343400" cy="614172"/>
          </a:xfrm>
          <a:prstGeom prst="rect">
            <a:avLst/>
          </a:prstGeom>
          <a:solidFill>
            <a:srgbClr val="171A2D"/>
          </a:solidFill>
          <a:ln w="12700">
            <a:solidFill>
              <a:srgbClr val="171A2D"/>
            </a:solidFill>
            <a:prstDash val="solid"/>
          </a:ln>
        </p:spPr>
      </p:sp>
      <p:sp>
        <p:nvSpPr>
          <p:cNvPr id="11" name="Text 9"/>
          <p:cNvSpPr/>
          <p:nvPr/>
        </p:nvSpPr>
        <p:spPr>
          <a:xfrm>
            <a:off x="2788920" y="2011680"/>
            <a:ext cx="4069080" cy="431292"/>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제공·판매 방식</a:t>
            </a:r>
            <a:endParaRPr lang="en-US" sz="1400" dirty="0"/>
          </a:p>
        </p:txBody>
      </p:sp>
      <p:sp>
        <p:nvSpPr>
          <p:cNvPr id="12" name="Shape 10"/>
          <p:cNvSpPr/>
          <p:nvPr/>
        </p:nvSpPr>
        <p:spPr>
          <a:xfrm>
            <a:off x="6995160" y="1901952"/>
            <a:ext cx="4617720" cy="614172"/>
          </a:xfrm>
          <a:prstGeom prst="rect">
            <a:avLst/>
          </a:prstGeom>
          <a:solidFill>
            <a:srgbClr val="171A2D"/>
          </a:solidFill>
          <a:ln w="12700">
            <a:solidFill>
              <a:srgbClr val="171A2D"/>
            </a:solidFill>
            <a:prstDash val="solid"/>
          </a:ln>
        </p:spPr>
      </p:sp>
      <p:sp>
        <p:nvSpPr>
          <p:cNvPr id="13" name="Text 11"/>
          <p:cNvSpPr/>
          <p:nvPr/>
        </p:nvSpPr>
        <p:spPr>
          <a:xfrm>
            <a:off x="7132320" y="2011680"/>
            <a:ext cx="4343400" cy="431292"/>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구매 이유 / 원가 보호</a:t>
            </a:r>
            <a:endParaRPr lang="en-US" sz="1400" dirty="0"/>
          </a:p>
        </p:txBody>
      </p:sp>
      <p:sp>
        <p:nvSpPr>
          <p:cNvPr id="14" name="Shape 12"/>
          <p:cNvSpPr/>
          <p:nvPr/>
        </p:nvSpPr>
        <p:spPr>
          <a:xfrm>
            <a:off x="548640" y="2516124"/>
            <a:ext cx="2103120" cy="614172"/>
          </a:xfrm>
          <a:prstGeom prst="rect">
            <a:avLst/>
          </a:prstGeom>
          <a:solidFill>
            <a:srgbClr val="FFFFFF"/>
          </a:solidFill>
          <a:ln w="6350">
            <a:solidFill>
              <a:srgbClr val="DDE2ED"/>
            </a:solidFill>
            <a:prstDash val="solid"/>
          </a:ln>
        </p:spPr>
      </p:sp>
      <p:sp>
        <p:nvSpPr>
          <p:cNvPr id="15" name="Text 13"/>
          <p:cNvSpPr/>
          <p:nvPr/>
        </p:nvSpPr>
        <p:spPr>
          <a:xfrm>
            <a:off x="685800" y="2616708"/>
            <a:ext cx="1828800" cy="431292"/>
          </a:xfrm>
          <a:prstGeom prst="rect">
            <a:avLst/>
          </a:prstGeom>
          <a:noFill/>
          <a:ln/>
        </p:spPr>
        <p:txBody>
          <a:bodyPr wrap="square" lIns="0" tIns="0" rIns="0" bIns="0" rtlCol="0" anchor="ctr">
            <a:normAutofit/>
          </a:bodyPr>
          <a:lstStyle/>
          <a:p>
            <a:pPr indent="0" marL="0">
              <a:buNone/>
            </a:pPr>
            <a:r>
              <a:rPr lang="en-US" sz="1330" b="1" dirty="0">
                <a:solidFill>
                  <a:srgbClr val="7150E8"/>
                </a:solidFill>
                <a:latin typeface="Malgun Gothic" pitchFamily="34" charset="0"/>
                <a:ea typeface="Malgun Gothic" pitchFamily="34" charset="-122"/>
                <a:cs typeface="Malgun Gothic" pitchFamily="34" charset="-120"/>
              </a:rPr>
              <a:t>개인 Free / Pro</a:t>
            </a:r>
            <a:endParaRPr lang="en-US" sz="1330" dirty="0"/>
          </a:p>
        </p:txBody>
      </p:sp>
      <p:sp>
        <p:nvSpPr>
          <p:cNvPr id="16" name="Shape 14"/>
          <p:cNvSpPr/>
          <p:nvPr/>
        </p:nvSpPr>
        <p:spPr>
          <a:xfrm>
            <a:off x="2651760" y="2516124"/>
            <a:ext cx="4343400" cy="614172"/>
          </a:xfrm>
          <a:prstGeom prst="rect">
            <a:avLst/>
          </a:prstGeom>
          <a:solidFill>
            <a:srgbClr val="FFFFFF"/>
          </a:solidFill>
          <a:ln w="6350">
            <a:solidFill>
              <a:srgbClr val="DDE2ED"/>
            </a:solidFill>
            <a:prstDash val="solid"/>
          </a:ln>
        </p:spPr>
      </p:sp>
      <p:sp>
        <p:nvSpPr>
          <p:cNvPr id="17" name="Text 15"/>
          <p:cNvSpPr/>
          <p:nvPr/>
        </p:nvSpPr>
        <p:spPr>
          <a:xfrm>
            <a:off x="2788920" y="2616708"/>
            <a:ext cx="406908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앱 설치 + 제한 체험 / 월·연 구독</a:t>
            </a:r>
            <a:endParaRPr lang="en-US" sz="1330" dirty="0"/>
          </a:p>
        </p:txBody>
      </p:sp>
      <p:sp>
        <p:nvSpPr>
          <p:cNvPr id="18" name="Shape 16"/>
          <p:cNvSpPr/>
          <p:nvPr/>
        </p:nvSpPr>
        <p:spPr>
          <a:xfrm>
            <a:off x="6995160" y="2516124"/>
            <a:ext cx="4617720" cy="614172"/>
          </a:xfrm>
          <a:prstGeom prst="rect">
            <a:avLst/>
          </a:prstGeom>
          <a:solidFill>
            <a:srgbClr val="FFFFFF"/>
          </a:solidFill>
          <a:ln w="6350">
            <a:solidFill>
              <a:srgbClr val="DDE2ED"/>
            </a:solidFill>
            <a:prstDash val="solid"/>
          </a:ln>
        </p:spPr>
      </p:sp>
      <p:sp>
        <p:nvSpPr>
          <p:cNvPr id="19" name="Text 17"/>
          <p:cNvSpPr/>
          <p:nvPr/>
        </p:nvSpPr>
        <p:spPr>
          <a:xfrm>
            <a:off x="7132320" y="2616708"/>
            <a:ext cx="434340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보관·재탐색 편의 / 월 사용량·추가 이용 동의</a:t>
            </a:r>
            <a:endParaRPr lang="en-US" sz="1330" dirty="0"/>
          </a:p>
        </p:txBody>
      </p:sp>
      <p:sp>
        <p:nvSpPr>
          <p:cNvPr id="20" name="Shape 18"/>
          <p:cNvSpPr/>
          <p:nvPr/>
        </p:nvSpPr>
        <p:spPr>
          <a:xfrm>
            <a:off x="548640" y="3130296"/>
            <a:ext cx="2103120" cy="614172"/>
          </a:xfrm>
          <a:prstGeom prst="rect">
            <a:avLst/>
          </a:prstGeom>
          <a:solidFill>
            <a:srgbClr val="F8F9FC"/>
          </a:solidFill>
          <a:ln w="6350">
            <a:solidFill>
              <a:srgbClr val="DDE2ED"/>
            </a:solidFill>
            <a:prstDash val="solid"/>
          </a:ln>
        </p:spPr>
      </p:sp>
      <p:sp>
        <p:nvSpPr>
          <p:cNvPr id="21" name="Text 19"/>
          <p:cNvSpPr/>
          <p:nvPr/>
        </p:nvSpPr>
        <p:spPr>
          <a:xfrm>
            <a:off x="685800" y="3230880"/>
            <a:ext cx="1828800" cy="431292"/>
          </a:xfrm>
          <a:prstGeom prst="rect">
            <a:avLst/>
          </a:prstGeom>
          <a:noFill/>
          <a:ln/>
        </p:spPr>
        <p:txBody>
          <a:bodyPr wrap="square" lIns="0" tIns="0" rIns="0" bIns="0" rtlCol="0" anchor="ctr">
            <a:normAutofit/>
          </a:bodyPr>
          <a:lstStyle/>
          <a:p>
            <a:pPr indent="0" marL="0">
              <a:buNone/>
            </a:pPr>
            <a:r>
              <a:rPr lang="en-US" sz="1330" b="1" dirty="0">
                <a:solidFill>
                  <a:srgbClr val="7150E8"/>
                </a:solidFill>
                <a:latin typeface="Malgun Gothic" pitchFamily="34" charset="0"/>
                <a:ea typeface="Malgun Gothic" pitchFamily="34" charset="-122"/>
                <a:cs typeface="Malgun Gothic" pitchFamily="34" charset="-120"/>
              </a:rPr>
              <a:t>Business</a:t>
            </a:r>
            <a:endParaRPr lang="en-US" sz="1330" dirty="0"/>
          </a:p>
        </p:txBody>
      </p:sp>
      <p:sp>
        <p:nvSpPr>
          <p:cNvPr id="22" name="Shape 20"/>
          <p:cNvSpPr/>
          <p:nvPr/>
        </p:nvSpPr>
        <p:spPr>
          <a:xfrm>
            <a:off x="2651760" y="3130296"/>
            <a:ext cx="4343400" cy="614172"/>
          </a:xfrm>
          <a:prstGeom prst="rect">
            <a:avLst/>
          </a:prstGeom>
          <a:solidFill>
            <a:srgbClr val="F8F9FC"/>
          </a:solidFill>
          <a:ln w="6350">
            <a:solidFill>
              <a:srgbClr val="DDE2ED"/>
            </a:solidFill>
            <a:prstDash val="solid"/>
          </a:ln>
        </p:spPr>
      </p:sp>
      <p:sp>
        <p:nvSpPr>
          <p:cNvPr id="23" name="Text 21"/>
          <p:cNvSpPr/>
          <p:nvPr/>
        </p:nvSpPr>
        <p:spPr>
          <a:xfrm>
            <a:off x="2788920" y="3230880"/>
            <a:ext cx="406908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웹 SDK·Studio + 팀 구독</a:t>
            </a:r>
            <a:endParaRPr lang="en-US" sz="1330" dirty="0"/>
          </a:p>
        </p:txBody>
      </p:sp>
      <p:sp>
        <p:nvSpPr>
          <p:cNvPr id="24" name="Shape 22"/>
          <p:cNvSpPr/>
          <p:nvPr/>
        </p:nvSpPr>
        <p:spPr>
          <a:xfrm>
            <a:off x="6995160" y="3130296"/>
            <a:ext cx="4617720" cy="614172"/>
          </a:xfrm>
          <a:prstGeom prst="rect">
            <a:avLst/>
          </a:prstGeom>
          <a:solidFill>
            <a:srgbClr val="F8F9FC"/>
          </a:solidFill>
          <a:ln w="6350">
            <a:solidFill>
              <a:srgbClr val="DDE2ED"/>
            </a:solidFill>
            <a:prstDash val="solid"/>
          </a:ln>
        </p:spPr>
      </p:sp>
      <p:sp>
        <p:nvSpPr>
          <p:cNvPr id="25" name="Text 23"/>
          <p:cNvSpPr/>
          <p:nvPr/>
        </p:nvSpPr>
        <p:spPr>
          <a:xfrm>
            <a:off x="7132320" y="3230880"/>
            <a:ext cx="434340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SKU 태그·검수·분석 / 기본료+측정 사용량</a:t>
            </a:r>
            <a:endParaRPr lang="en-US" sz="1330" dirty="0"/>
          </a:p>
        </p:txBody>
      </p:sp>
      <p:sp>
        <p:nvSpPr>
          <p:cNvPr id="26" name="Shape 24"/>
          <p:cNvSpPr/>
          <p:nvPr/>
        </p:nvSpPr>
        <p:spPr>
          <a:xfrm>
            <a:off x="548640" y="3744468"/>
            <a:ext cx="2103120" cy="614172"/>
          </a:xfrm>
          <a:prstGeom prst="rect">
            <a:avLst/>
          </a:prstGeom>
          <a:solidFill>
            <a:srgbClr val="FFFFFF"/>
          </a:solidFill>
          <a:ln w="6350">
            <a:solidFill>
              <a:srgbClr val="DDE2ED"/>
            </a:solidFill>
            <a:prstDash val="solid"/>
          </a:ln>
        </p:spPr>
      </p:sp>
      <p:sp>
        <p:nvSpPr>
          <p:cNvPr id="27" name="Text 25"/>
          <p:cNvSpPr/>
          <p:nvPr/>
        </p:nvSpPr>
        <p:spPr>
          <a:xfrm>
            <a:off x="685800" y="3845052"/>
            <a:ext cx="1828800" cy="431292"/>
          </a:xfrm>
          <a:prstGeom prst="rect">
            <a:avLst/>
          </a:prstGeom>
          <a:noFill/>
          <a:ln/>
        </p:spPr>
        <p:txBody>
          <a:bodyPr wrap="square" lIns="0" tIns="0" rIns="0" bIns="0" rtlCol="0" anchor="ctr">
            <a:normAutofit/>
          </a:bodyPr>
          <a:lstStyle/>
          <a:p>
            <a:pPr indent="0" marL="0">
              <a:buNone/>
            </a:pPr>
            <a:r>
              <a:rPr lang="en-US" sz="1330" b="1" dirty="0">
                <a:solidFill>
                  <a:srgbClr val="7150E8"/>
                </a:solidFill>
                <a:latin typeface="Malgun Gothic" pitchFamily="34" charset="0"/>
                <a:ea typeface="Malgun Gothic" pitchFamily="34" charset="-122"/>
                <a:cs typeface="Malgun Gothic" pitchFamily="34" charset="-120"/>
              </a:rPr>
              <a:t>Enterprise</a:t>
            </a:r>
            <a:endParaRPr lang="en-US" sz="1330" dirty="0"/>
          </a:p>
        </p:txBody>
      </p:sp>
      <p:sp>
        <p:nvSpPr>
          <p:cNvPr id="28" name="Shape 26"/>
          <p:cNvSpPr/>
          <p:nvPr/>
        </p:nvSpPr>
        <p:spPr>
          <a:xfrm>
            <a:off x="2651760" y="3744468"/>
            <a:ext cx="4343400" cy="614172"/>
          </a:xfrm>
          <a:prstGeom prst="rect">
            <a:avLst/>
          </a:prstGeom>
          <a:solidFill>
            <a:srgbClr val="FFFFFF"/>
          </a:solidFill>
          <a:ln w="6350">
            <a:solidFill>
              <a:srgbClr val="DDE2ED"/>
            </a:solidFill>
            <a:prstDash val="solid"/>
          </a:ln>
        </p:spPr>
      </p:sp>
      <p:sp>
        <p:nvSpPr>
          <p:cNvPr id="29" name="Text 27"/>
          <p:cNvSpPr/>
          <p:nvPr/>
        </p:nvSpPr>
        <p:spPr>
          <a:xfrm>
            <a:off x="2788920" y="3845052"/>
            <a:ext cx="406908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연간 계약 + 전용 배포·통합 지원</a:t>
            </a:r>
            <a:endParaRPr lang="en-US" sz="1330" dirty="0"/>
          </a:p>
        </p:txBody>
      </p:sp>
      <p:sp>
        <p:nvSpPr>
          <p:cNvPr id="30" name="Shape 28"/>
          <p:cNvSpPr/>
          <p:nvPr/>
        </p:nvSpPr>
        <p:spPr>
          <a:xfrm>
            <a:off x="6995160" y="3744468"/>
            <a:ext cx="4617720" cy="614172"/>
          </a:xfrm>
          <a:prstGeom prst="rect">
            <a:avLst/>
          </a:prstGeom>
          <a:solidFill>
            <a:srgbClr val="FFFFFF"/>
          </a:solidFill>
          <a:ln w="6350">
            <a:solidFill>
              <a:srgbClr val="DDE2ED"/>
            </a:solidFill>
            <a:prstDash val="solid"/>
          </a:ln>
        </p:spPr>
      </p:sp>
      <p:sp>
        <p:nvSpPr>
          <p:cNvPr id="31" name="Text 29"/>
          <p:cNvSpPr/>
          <p:nvPr/>
        </p:nvSpPr>
        <p:spPr>
          <a:xfrm>
            <a:off x="7132320" y="3845052"/>
            <a:ext cx="434340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SSO·감사·SLA / 좌석·용량·지원 범위 계약</a:t>
            </a:r>
            <a:endParaRPr lang="en-US" sz="1330" dirty="0"/>
          </a:p>
        </p:txBody>
      </p:sp>
      <p:sp>
        <p:nvSpPr>
          <p:cNvPr id="32" name="Shape 30"/>
          <p:cNvSpPr/>
          <p:nvPr/>
        </p:nvSpPr>
        <p:spPr>
          <a:xfrm>
            <a:off x="548640" y="4358640"/>
            <a:ext cx="2103120" cy="614172"/>
          </a:xfrm>
          <a:prstGeom prst="rect">
            <a:avLst/>
          </a:prstGeom>
          <a:solidFill>
            <a:srgbClr val="F8F9FC"/>
          </a:solidFill>
          <a:ln w="6350">
            <a:solidFill>
              <a:srgbClr val="DDE2ED"/>
            </a:solidFill>
            <a:prstDash val="solid"/>
          </a:ln>
        </p:spPr>
      </p:sp>
      <p:sp>
        <p:nvSpPr>
          <p:cNvPr id="33" name="Text 31"/>
          <p:cNvSpPr/>
          <p:nvPr/>
        </p:nvSpPr>
        <p:spPr>
          <a:xfrm>
            <a:off x="685800" y="4459224"/>
            <a:ext cx="1828800" cy="431292"/>
          </a:xfrm>
          <a:prstGeom prst="rect">
            <a:avLst/>
          </a:prstGeom>
          <a:noFill/>
          <a:ln/>
        </p:spPr>
        <p:txBody>
          <a:bodyPr wrap="square" lIns="0" tIns="0" rIns="0" bIns="0" rtlCol="0" anchor="ctr">
            <a:normAutofit/>
          </a:bodyPr>
          <a:lstStyle/>
          <a:p>
            <a:pPr indent="0" marL="0">
              <a:buNone/>
            </a:pPr>
            <a:r>
              <a:rPr lang="en-US" sz="1330" b="1" dirty="0">
                <a:solidFill>
                  <a:srgbClr val="7150E8"/>
                </a:solidFill>
                <a:latin typeface="Malgun Gothic" pitchFamily="34" charset="0"/>
                <a:ea typeface="Malgun Gothic" pitchFamily="34" charset="-122"/>
                <a:cs typeface="Malgun Gothic" pitchFamily="34" charset="-120"/>
              </a:rPr>
              <a:t>설치 라이선스</a:t>
            </a:r>
            <a:endParaRPr lang="en-US" sz="1330" dirty="0"/>
          </a:p>
        </p:txBody>
      </p:sp>
      <p:sp>
        <p:nvSpPr>
          <p:cNvPr id="34" name="Shape 32"/>
          <p:cNvSpPr/>
          <p:nvPr/>
        </p:nvSpPr>
        <p:spPr>
          <a:xfrm>
            <a:off x="2651760" y="4358640"/>
            <a:ext cx="4343400" cy="614172"/>
          </a:xfrm>
          <a:prstGeom prst="rect">
            <a:avLst/>
          </a:prstGeom>
          <a:solidFill>
            <a:srgbClr val="F8F9FC"/>
          </a:solidFill>
          <a:ln w="6350">
            <a:solidFill>
              <a:srgbClr val="DDE2ED"/>
            </a:solidFill>
            <a:prstDash val="solid"/>
          </a:ln>
        </p:spPr>
      </p:sp>
      <p:sp>
        <p:nvSpPr>
          <p:cNvPr id="35" name="Text 33"/>
          <p:cNvSpPr/>
          <p:nvPr/>
        </p:nvSpPr>
        <p:spPr>
          <a:xfrm>
            <a:off x="2788920" y="4459224"/>
            <a:ext cx="406908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기기/사이트 라이선스 + 유지보수</a:t>
            </a:r>
            <a:endParaRPr lang="en-US" sz="1330" dirty="0"/>
          </a:p>
        </p:txBody>
      </p:sp>
      <p:sp>
        <p:nvSpPr>
          <p:cNvPr id="36" name="Shape 34"/>
          <p:cNvSpPr/>
          <p:nvPr/>
        </p:nvSpPr>
        <p:spPr>
          <a:xfrm>
            <a:off x="6995160" y="4358640"/>
            <a:ext cx="4617720" cy="614172"/>
          </a:xfrm>
          <a:prstGeom prst="rect">
            <a:avLst/>
          </a:prstGeom>
          <a:solidFill>
            <a:srgbClr val="F8F9FC"/>
          </a:solidFill>
          <a:ln w="6350">
            <a:solidFill>
              <a:srgbClr val="DDE2ED"/>
            </a:solidFill>
            <a:prstDash val="solid"/>
          </a:ln>
        </p:spPr>
      </p:sp>
      <p:sp>
        <p:nvSpPr>
          <p:cNvPr id="37" name="Text 35"/>
          <p:cNvSpPr/>
          <p:nvPr/>
        </p:nvSpPr>
        <p:spPr>
          <a:xfrm>
            <a:off x="7132320" y="4459224"/>
            <a:ext cx="434340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업데이트·배포 관리 / 클라우드 추론비 분리</a:t>
            </a:r>
            <a:endParaRPr lang="en-US" sz="1330" dirty="0"/>
          </a:p>
        </p:txBody>
      </p:sp>
      <p:sp>
        <p:nvSpPr>
          <p:cNvPr id="38" name="Shape 36"/>
          <p:cNvSpPr/>
          <p:nvPr/>
        </p:nvSpPr>
        <p:spPr>
          <a:xfrm>
            <a:off x="548640" y="4972812"/>
            <a:ext cx="2103120" cy="614172"/>
          </a:xfrm>
          <a:prstGeom prst="rect">
            <a:avLst/>
          </a:prstGeom>
          <a:solidFill>
            <a:srgbClr val="FFFFFF"/>
          </a:solidFill>
          <a:ln w="6350">
            <a:solidFill>
              <a:srgbClr val="DDE2ED"/>
            </a:solidFill>
            <a:prstDash val="solid"/>
          </a:ln>
        </p:spPr>
      </p:sp>
      <p:sp>
        <p:nvSpPr>
          <p:cNvPr id="39" name="Text 37"/>
          <p:cNvSpPr/>
          <p:nvPr/>
        </p:nvSpPr>
        <p:spPr>
          <a:xfrm>
            <a:off x="685800" y="5073396"/>
            <a:ext cx="1828800" cy="431292"/>
          </a:xfrm>
          <a:prstGeom prst="rect">
            <a:avLst/>
          </a:prstGeom>
          <a:noFill/>
          <a:ln/>
        </p:spPr>
        <p:txBody>
          <a:bodyPr wrap="square" lIns="0" tIns="0" rIns="0" bIns="0" rtlCol="0" anchor="ctr">
            <a:normAutofit/>
          </a:bodyPr>
          <a:lstStyle/>
          <a:p>
            <a:pPr indent="0" marL="0">
              <a:buNone/>
            </a:pPr>
            <a:r>
              <a:rPr lang="en-US" sz="1330" b="1" dirty="0">
                <a:solidFill>
                  <a:srgbClr val="7150E8"/>
                </a:solidFill>
                <a:latin typeface="Malgun Gothic" pitchFamily="34" charset="0"/>
                <a:ea typeface="Malgun Gothic" pitchFamily="34" charset="-122"/>
                <a:cs typeface="Malgun Gothic" pitchFamily="34" charset="-120"/>
              </a:rPr>
              <a:t>제휴 수익</a:t>
            </a:r>
            <a:endParaRPr lang="en-US" sz="1330" dirty="0"/>
          </a:p>
        </p:txBody>
      </p:sp>
      <p:sp>
        <p:nvSpPr>
          <p:cNvPr id="40" name="Shape 38"/>
          <p:cNvSpPr/>
          <p:nvPr/>
        </p:nvSpPr>
        <p:spPr>
          <a:xfrm>
            <a:off x="2651760" y="4972812"/>
            <a:ext cx="4343400" cy="614172"/>
          </a:xfrm>
          <a:prstGeom prst="rect">
            <a:avLst/>
          </a:prstGeom>
          <a:solidFill>
            <a:srgbClr val="FFFFFF"/>
          </a:solidFill>
          <a:ln w="6350">
            <a:solidFill>
              <a:srgbClr val="DDE2ED"/>
            </a:solidFill>
            <a:prstDash val="solid"/>
          </a:ln>
        </p:spPr>
      </p:sp>
      <p:sp>
        <p:nvSpPr>
          <p:cNvPr id="41" name="Text 39"/>
          <p:cNvSpPr/>
          <p:nvPr/>
        </p:nvSpPr>
        <p:spPr>
          <a:xfrm>
            <a:off x="2788920" y="5073396"/>
            <a:ext cx="406908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승인된 판매처의 성과형 제휴</a:t>
            </a:r>
            <a:endParaRPr lang="en-US" sz="1330" dirty="0"/>
          </a:p>
        </p:txBody>
      </p:sp>
      <p:sp>
        <p:nvSpPr>
          <p:cNvPr id="42" name="Shape 40"/>
          <p:cNvSpPr/>
          <p:nvPr/>
        </p:nvSpPr>
        <p:spPr>
          <a:xfrm>
            <a:off x="6995160" y="4972812"/>
            <a:ext cx="4617720" cy="614172"/>
          </a:xfrm>
          <a:prstGeom prst="rect">
            <a:avLst/>
          </a:prstGeom>
          <a:solidFill>
            <a:srgbClr val="FFFFFF"/>
          </a:solidFill>
          <a:ln w="6350">
            <a:solidFill>
              <a:srgbClr val="DDE2ED"/>
            </a:solidFill>
            <a:prstDash val="solid"/>
          </a:ln>
        </p:spPr>
      </p:sp>
      <p:sp>
        <p:nvSpPr>
          <p:cNvPr id="43" name="Text 41"/>
          <p:cNvSpPr/>
          <p:nvPr/>
        </p:nvSpPr>
        <p:spPr>
          <a:xfrm>
            <a:off x="7132320" y="5073396"/>
            <a:ext cx="434340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보조 수익 / 제휴 표시·순위 영향 투명성</a:t>
            </a:r>
            <a:endParaRPr lang="en-US" sz="1330" dirty="0"/>
          </a:p>
        </p:txBody>
      </p:sp>
      <p:sp>
        <p:nvSpPr>
          <p:cNvPr id="44" name="Shape 42"/>
          <p:cNvSpPr/>
          <p:nvPr/>
        </p:nvSpPr>
        <p:spPr>
          <a:xfrm>
            <a:off x="548640" y="5824728"/>
            <a:ext cx="11082528" cy="438912"/>
          </a:xfrm>
          <a:prstGeom prst="roundRect">
            <a:avLst>
              <a:gd name="adj" fmla="val 33333"/>
            </a:avLst>
          </a:prstGeom>
          <a:solidFill>
            <a:srgbClr val="EEE9FD"/>
          </a:solidFill>
          <a:ln w="7620">
            <a:solidFill>
              <a:srgbClr val="EEE9FD"/>
            </a:solidFill>
            <a:prstDash val="solid"/>
          </a:ln>
        </p:spPr>
      </p:sp>
      <p:sp>
        <p:nvSpPr>
          <p:cNvPr id="45" name="Text 43"/>
          <p:cNvSpPr/>
          <p:nvPr/>
        </p:nvSpPr>
        <p:spPr>
          <a:xfrm>
            <a:off x="731520" y="5916168"/>
            <a:ext cx="10698480" cy="237744"/>
          </a:xfrm>
          <a:prstGeom prst="rect">
            <a:avLst/>
          </a:prstGeom>
          <a:noFill/>
          <a:ln/>
        </p:spPr>
        <p:txBody>
          <a:bodyPr wrap="square" lIns="0" tIns="0" rIns="0" bIns="0" rtlCol="0" anchor="ctr">
            <a:normAutofit/>
          </a:bodyPr>
          <a:lstStyle/>
          <a:p>
            <a:pPr indent="0" marL="0">
              <a:buNone/>
            </a:pPr>
            <a:r>
              <a:rPr lang="en-US" sz="1140" b="1" dirty="0">
                <a:solidFill>
                  <a:srgbClr val="7150E8"/>
                </a:solidFill>
                <a:latin typeface="Malgun Gothic" pitchFamily="34" charset="0"/>
                <a:ea typeface="Malgun Gothic" pitchFamily="34" charset="-122"/>
                <a:cs typeface="Malgun Gothic" pitchFamily="34" charset="-120"/>
              </a:rPr>
              <a:t>가격은 아직 가설. 무제한 AI·무기한 업데이트·평생 클라우드 사용을 먼저 약속하지 않는다.</a:t>
            </a:r>
            <a:endParaRPr lang="en-US" sz="114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548640" y="274320"/>
            <a:ext cx="10058400" cy="228600"/>
          </a:xfrm>
          <a:prstGeom prst="rect">
            <a:avLst/>
          </a:prstGeom>
          <a:noFill/>
          <a:ln/>
        </p:spPr>
        <p:txBody>
          <a:bodyPr wrap="square" lIns="0" tIns="0" rIns="0" bIns="0" rtlCol="0" anchor="ctr">
            <a:normAutofit/>
          </a:bodyPr>
          <a:lstStyle/>
          <a:p>
            <a:pPr indent="0" marL="0">
              <a:buNone/>
            </a:pPr>
            <a:r>
              <a:rPr lang="en-US" sz="900" b="1" spc="160" kern="0" dirty="0">
                <a:solidFill>
                  <a:srgbClr val="7150E8"/>
                </a:solidFill>
                <a:latin typeface="Malgun Gothic" pitchFamily="34" charset="0"/>
                <a:ea typeface="Malgun Gothic" pitchFamily="34" charset="-122"/>
                <a:cs typeface="Malgun Gothic" pitchFamily="34" charset="-120"/>
              </a:rPr>
              <a:t>03 / UNIT ECONOMICS</a:t>
            </a:r>
            <a:endParaRPr lang="en-US" sz="900" dirty="0"/>
          </a:p>
        </p:txBody>
      </p:sp>
      <p:sp>
        <p:nvSpPr>
          <p:cNvPr id="3" name="Text 1"/>
          <p:cNvSpPr/>
          <p:nvPr/>
        </p:nvSpPr>
        <p:spPr>
          <a:xfrm>
            <a:off x="548640" y="758952"/>
            <a:ext cx="11082528" cy="795528"/>
          </a:xfrm>
          <a:prstGeom prst="rect">
            <a:avLst/>
          </a:prstGeom>
          <a:noFill/>
          <a:ln/>
        </p:spPr>
        <p:txBody>
          <a:bodyPr wrap="square" lIns="0" tIns="0" rIns="0" bIns="0" rtlCol="0" anchor="ctr">
            <a:normAutofit/>
          </a:bodyPr>
          <a:lstStyle/>
          <a:p>
            <a:pPr indent="0" marL="0">
              <a:buNone/>
            </a:pPr>
            <a:r>
              <a:rPr lang="en-US" sz="2700" b="1" dirty="0">
                <a:solidFill>
                  <a:srgbClr val="20243A"/>
                </a:solidFill>
                <a:latin typeface="Malgun Gothic" pitchFamily="34" charset="0"/>
                <a:ea typeface="Malgun Gothic" pitchFamily="34" charset="-122"/>
                <a:cs typeface="Malgun Gothic" pitchFamily="34" charset="-120"/>
              </a:rPr>
              <a:t>평균 사용자보다 많이 쓰는 사용자가 수익성을 결정한다</a:t>
            </a:r>
            <a:endParaRPr lang="en-US" sz="2700" dirty="0"/>
          </a:p>
        </p:txBody>
      </p:sp>
      <p:sp>
        <p:nvSpPr>
          <p:cNvPr id="4" name="Shape 2"/>
          <p:cNvSpPr/>
          <p:nvPr/>
        </p:nvSpPr>
        <p:spPr>
          <a:xfrm>
            <a:off x="548640" y="1682496"/>
            <a:ext cx="11064240" cy="0"/>
          </a:xfrm>
          <a:prstGeom prst="line">
            <a:avLst/>
          </a:prstGeom>
          <a:noFill/>
          <a:ln w="12700">
            <a:solidFill>
              <a:srgbClr val="DDE2ED"/>
            </a:solidFill>
            <a:prstDash val="solid"/>
          </a:ln>
        </p:spPr>
      </p:sp>
      <p:sp>
        <p:nvSpPr>
          <p:cNvPr id="5" name="Text 3"/>
          <p:cNvSpPr/>
          <p:nvPr/>
        </p:nvSpPr>
        <p:spPr>
          <a:xfrm>
            <a:off x="548640" y="6519672"/>
            <a:ext cx="8869680" cy="164592"/>
          </a:xfrm>
          <a:prstGeom prst="rect">
            <a:avLst/>
          </a:prstGeom>
          <a:noFill/>
          <a:ln/>
        </p:spPr>
        <p:txBody>
          <a:bodyPr wrap="square" lIns="0" tIns="0" rIns="0" bIns="0" rtlCol="0" anchor="ctr">
            <a:normAutofit/>
          </a:bodyPr>
          <a:lstStyle/>
          <a:p>
            <a:pPr indent="0" marL="0">
              <a:buNone/>
            </a:pPr>
            <a:r>
              <a:rPr lang="en-US" sz="800" dirty="0">
                <a:solidFill>
                  <a:srgbClr val="677087"/>
                </a:solidFill>
                <a:latin typeface="Malgun Gothic" pitchFamily="34" charset="0"/>
                <a:ea typeface="Malgun Gothic" pitchFamily="34" charset="-122"/>
                <a:cs typeface="Malgun Gothic" pitchFamily="34" charset="-120"/>
              </a:rPr>
              <a:t>CleanTouch  |  사업화 현황 진단  |  2026.10.15</a:t>
            </a:r>
            <a:endParaRPr lang="en-US" sz="800" dirty="0"/>
          </a:p>
        </p:txBody>
      </p:sp>
      <p:sp>
        <p:nvSpPr>
          <p:cNvPr id="6" name="Text 4"/>
          <p:cNvSpPr/>
          <p:nvPr/>
        </p:nvSpPr>
        <p:spPr>
          <a:xfrm>
            <a:off x="10698480" y="6501384"/>
            <a:ext cx="914400" cy="182880"/>
          </a:xfrm>
          <a:prstGeom prst="rect">
            <a:avLst/>
          </a:prstGeom>
          <a:noFill/>
          <a:ln/>
        </p:spPr>
        <p:txBody>
          <a:bodyPr wrap="square" lIns="0" tIns="0" rIns="0" bIns="0" rtlCol="0" anchor="ctr">
            <a:normAutofit/>
          </a:bodyPr>
          <a:lstStyle/>
          <a:p>
            <a:pPr algn="r" indent="0" marL="0">
              <a:buNone/>
            </a:pPr>
            <a:r>
              <a:rPr lang="en-US" sz="800" dirty="0">
                <a:solidFill>
                  <a:srgbClr val="677087"/>
                </a:solidFill>
                <a:latin typeface="Malgun Gothic" pitchFamily="34" charset="0"/>
                <a:ea typeface="Malgun Gothic" pitchFamily="34" charset="-122"/>
                <a:cs typeface="Malgun Gothic" pitchFamily="34" charset="-120"/>
              </a:rPr>
              <a:t>17 / 24</a:t>
            </a:r>
            <a:endParaRPr lang="en-US" sz="800" dirty="0"/>
          </a:p>
        </p:txBody>
      </p:sp>
      <p:sp>
        <p:nvSpPr>
          <p:cNvPr id="7" name="Text 5"/>
          <p:cNvSpPr/>
          <p:nvPr/>
        </p:nvSpPr>
        <p:spPr>
          <a:xfrm>
            <a:off x="594360" y="6364224"/>
            <a:ext cx="10881360" cy="118872"/>
          </a:xfrm>
          <a:prstGeom prst="rect">
            <a:avLst/>
          </a:prstGeom>
          <a:noFill/>
          <a:ln/>
        </p:spPr>
        <p:txBody>
          <a:bodyPr wrap="square" lIns="0" tIns="0" rIns="0" bIns="0" rtlCol="0" anchor="ctr">
            <a:normAutofit/>
          </a:bodyPr>
          <a:lstStyle/>
          <a:p>
            <a:pPr indent="0" marL="0">
              <a:buNone/>
            </a:pPr>
            <a:r>
              <a:rPr lang="en-US" sz="700" dirty="0">
                <a:solidFill>
                  <a:srgbClr val="677087"/>
                </a:solidFill>
                <a:latin typeface="Malgun Gothic" pitchFamily="34" charset="0"/>
                <a:ea typeface="Malgun Gothic" pitchFamily="34" charset="-122"/>
                <a:cs typeface="Malgun Gothic" pitchFamily="34" charset="-120"/>
              </a:rPr>
              <a:t>S8 Stripe · Subscription webhooks</a:t>
            </a:r>
            <a:endParaRPr lang="en-US" sz="700" dirty="0"/>
          </a:p>
        </p:txBody>
      </p:sp>
      <p:sp>
        <p:nvSpPr>
          <p:cNvPr id="8" name="Shape 6"/>
          <p:cNvSpPr/>
          <p:nvPr/>
        </p:nvSpPr>
        <p:spPr>
          <a:xfrm>
            <a:off x="548640" y="1865376"/>
            <a:ext cx="5413248" cy="1645920"/>
          </a:xfrm>
          <a:prstGeom prst="roundRect">
            <a:avLst>
              <a:gd name="adj" fmla="val 8889"/>
            </a:avLst>
          </a:prstGeom>
          <a:solidFill>
            <a:srgbClr val="FFFFFF"/>
          </a:solidFill>
          <a:ln w="7620">
            <a:solidFill>
              <a:srgbClr val="DDE2ED"/>
            </a:solidFill>
            <a:prstDash val="solid"/>
          </a:ln>
        </p:spPr>
      </p:sp>
      <p:sp>
        <p:nvSpPr>
          <p:cNvPr id="9" name="Shape 7"/>
          <p:cNvSpPr/>
          <p:nvPr/>
        </p:nvSpPr>
        <p:spPr>
          <a:xfrm>
            <a:off x="713232" y="2075688"/>
            <a:ext cx="41148" cy="1225296"/>
          </a:xfrm>
          <a:prstGeom prst="rect">
            <a:avLst/>
          </a:prstGeom>
          <a:solidFill>
            <a:srgbClr val="7150E8"/>
          </a:solidFill>
          <a:ln w="12700">
            <a:solidFill>
              <a:srgbClr val="7150E8">
                <a:alpha val="0"/>
              </a:srgbClr>
            </a:solidFill>
            <a:prstDash val="solid"/>
          </a:ln>
        </p:spPr>
      </p:sp>
      <p:sp>
        <p:nvSpPr>
          <p:cNvPr id="10" name="Text 8"/>
          <p:cNvSpPr/>
          <p:nvPr/>
        </p:nvSpPr>
        <p:spPr>
          <a:xfrm>
            <a:off x="914400" y="2066544"/>
            <a:ext cx="4773168" cy="338328"/>
          </a:xfrm>
          <a:prstGeom prst="rect">
            <a:avLst/>
          </a:prstGeom>
          <a:noFill/>
          <a:ln/>
        </p:spPr>
        <p:txBody>
          <a:bodyPr wrap="square" lIns="0" tIns="0" rIns="0" bIns="0" rtlCol="0" anchor="ctr">
            <a:normAutofit/>
          </a:bodyPr>
          <a:lstStyle/>
          <a:p>
            <a:pPr indent="0" marL="0">
              <a:buNone/>
            </a:pPr>
            <a:r>
              <a:rPr lang="en-US" sz="1700" b="1" dirty="0">
                <a:solidFill>
                  <a:srgbClr val="7150E8"/>
                </a:solidFill>
                <a:latin typeface="Malgun Gothic" pitchFamily="34" charset="0"/>
                <a:ea typeface="Malgun Gothic" pitchFamily="34" charset="-122"/>
                <a:cs typeface="Malgun Gothic" pitchFamily="34" charset="-120"/>
              </a:rPr>
              <a:t>계산 기준</a:t>
            </a:r>
            <a:endParaRPr lang="en-US" sz="1700" dirty="0"/>
          </a:p>
        </p:txBody>
      </p:sp>
      <p:sp>
        <p:nvSpPr>
          <p:cNvPr id="11" name="Text 9"/>
          <p:cNvSpPr/>
          <p:nvPr/>
        </p:nvSpPr>
        <p:spPr>
          <a:xfrm>
            <a:off x="914400" y="2642616"/>
            <a:ext cx="4718304" cy="704088"/>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성공 1건 원가 = 성공/실패 AI·검색·전송 총비용 ÷ 검증 성공 건수</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음성·Live·지원·데이터 갱신 비용도 별도 계측</a:t>
            </a:r>
            <a:endParaRPr lang="en-US" sz="1500" dirty="0"/>
          </a:p>
        </p:txBody>
      </p:sp>
      <p:sp>
        <p:nvSpPr>
          <p:cNvPr id="12" name="Shape 10"/>
          <p:cNvSpPr/>
          <p:nvPr/>
        </p:nvSpPr>
        <p:spPr>
          <a:xfrm>
            <a:off x="6217920" y="1865376"/>
            <a:ext cx="5413248" cy="1645920"/>
          </a:xfrm>
          <a:prstGeom prst="roundRect">
            <a:avLst>
              <a:gd name="adj" fmla="val 8889"/>
            </a:avLst>
          </a:prstGeom>
          <a:solidFill>
            <a:srgbClr val="FFFFFF"/>
          </a:solidFill>
          <a:ln w="7620">
            <a:solidFill>
              <a:srgbClr val="DDE2ED"/>
            </a:solidFill>
            <a:prstDash val="solid"/>
          </a:ln>
        </p:spPr>
      </p:sp>
      <p:sp>
        <p:nvSpPr>
          <p:cNvPr id="13" name="Shape 11"/>
          <p:cNvSpPr/>
          <p:nvPr/>
        </p:nvSpPr>
        <p:spPr>
          <a:xfrm>
            <a:off x="6382512" y="2075688"/>
            <a:ext cx="41148" cy="1225296"/>
          </a:xfrm>
          <a:prstGeom prst="rect">
            <a:avLst/>
          </a:prstGeom>
          <a:solidFill>
            <a:srgbClr val="147D7A"/>
          </a:solidFill>
          <a:ln w="12700">
            <a:solidFill>
              <a:srgbClr val="147D7A">
                <a:alpha val="0"/>
              </a:srgbClr>
            </a:solidFill>
            <a:prstDash val="solid"/>
          </a:ln>
        </p:spPr>
      </p:sp>
      <p:sp>
        <p:nvSpPr>
          <p:cNvPr id="14" name="Text 12"/>
          <p:cNvSpPr/>
          <p:nvPr/>
        </p:nvSpPr>
        <p:spPr>
          <a:xfrm>
            <a:off x="6583680" y="2066544"/>
            <a:ext cx="4773168" cy="338328"/>
          </a:xfrm>
          <a:prstGeom prst="rect">
            <a:avLst/>
          </a:prstGeom>
          <a:noFill/>
          <a:ln/>
        </p:spPr>
        <p:txBody>
          <a:bodyPr wrap="square" lIns="0" tIns="0" rIns="0" bIns="0" rtlCol="0" anchor="ctr">
            <a:normAutofit/>
          </a:bodyPr>
          <a:lstStyle/>
          <a:p>
            <a:pPr indent="0" marL="0">
              <a:buNone/>
            </a:pPr>
            <a:r>
              <a:rPr lang="en-US" sz="1700" b="1" dirty="0">
                <a:solidFill>
                  <a:srgbClr val="147D7A"/>
                </a:solidFill>
                <a:latin typeface="Malgun Gothic" pitchFamily="34" charset="0"/>
                <a:ea typeface="Malgun Gothic" pitchFamily="34" charset="-122"/>
                <a:cs typeface="Malgun Gothic" pitchFamily="34" charset="-120"/>
              </a:rPr>
              <a:t>운영 장치</a:t>
            </a:r>
            <a:endParaRPr lang="en-US" sz="1700" dirty="0"/>
          </a:p>
        </p:txBody>
      </p:sp>
      <p:sp>
        <p:nvSpPr>
          <p:cNvPr id="15" name="Text 13"/>
          <p:cNvSpPr/>
          <p:nvPr/>
        </p:nvSpPr>
        <p:spPr>
          <a:xfrm>
            <a:off x="6583680" y="2642616"/>
            <a:ext cx="4718304" cy="704088"/>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사용자·조직별 한도와 예산 알림 · 캐시·배치·중복 제거</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결제 웹훅 서명·중복 처리 · 사용량 원장·환불/실패 정책</a:t>
            </a:r>
            <a:endParaRPr lang="en-US" sz="1500" dirty="0"/>
          </a:p>
        </p:txBody>
      </p:sp>
      <p:sp>
        <p:nvSpPr>
          <p:cNvPr id="16" name="Shape 14"/>
          <p:cNvSpPr/>
          <p:nvPr/>
        </p:nvSpPr>
        <p:spPr>
          <a:xfrm>
            <a:off x="548640" y="3685032"/>
            <a:ext cx="3767328" cy="387706"/>
          </a:xfrm>
          <a:prstGeom prst="rect">
            <a:avLst/>
          </a:prstGeom>
          <a:solidFill>
            <a:srgbClr val="171A2D"/>
          </a:solidFill>
          <a:ln w="12700">
            <a:solidFill>
              <a:srgbClr val="171A2D"/>
            </a:solidFill>
            <a:prstDash val="solid"/>
          </a:ln>
        </p:spPr>
      </p:sp>
      <p:sp>
        <p:nvSpPr>
          <p:cNvPr id="17" name="Text 15"/>
          <p:cNvSpPr/>
          <p:nvPr/>
        </p:nvSpPr>
        <p:spPr>
          <a:xfrm>
            <a:off x="685800" y="3794760"/>
            <a:ext cx="3493008" cy="204826"/>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설명용 시나리오</a:t>
            </a:r>
            <a:endParaRPr lang="en-US" sz="1400" dirty="0"/>
          </a:p>
        </p:txBody>
      </p:sp>
      <p:sp>
        <p:nvSpPr>
          <p:cNvPr id="18" name="Shape 16"/>
          <p:cNvSpPr/>
          <p:nvPr/>
        </p:nvSpPr>
        <p:spPr>
          <a:xfrm>
            <a:off x="4315968" y="3685032"/>
            <a:ext cx="3657600" cy="387706"/>
          </a:xfrm>
          <a:prstGeom prst="rect">
            <a:avLst/>
          </a:prstGeom>
          <a:solidFill>
            <a:srgbClr val="171A2D"/>
          </a:solidFill>
          <a:ln w="12700">
            <a:solidFill>
              <a:srgbClr val="171A2D"/>
            </a:solidFill>
            <a:prstDash val="solid"/>
          </a:ln>
        </p:spPr>
      </p:sp>
      <p:sp>
        <p:nvSpPr>
          <p:cNvPr id="19" name="Text 17"/>
          <p:cNvSpPr/>
          <p:nvPr/>
        </p:nvSpPr>
        <p:spPr>
          <a:xfrm>
            <a:off x="4453128" y="3794760"/>
            <a:ext cx="3383280" cy="204826"/>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일반 이용자 가정</a:t>
            </a:r>
            <a:endParaRPr lang="en-US" sz="1400" dirty="0"/>
          </a:p>
        </p:txBody>
      </p:sp>
      <p:sp>
        <p:nvSpPr>
          <p:cNvPr id="20" name="Shape 18"/>
          <p:cNvSpPr/>
          <p:nvPr/>
        </p:nvSpPr>
        <p:spPr>
          <a:xfrm>
            <a:off x="7973568" y="3685032"/>
            <a:ext cx="3657600" cy="387706"/>
          </a:xfrm>
          <a:prstGeom prst="rect">
            <a:avLst/>
          </a:prstGeom>
          <a:solidFill>
            <a:srgbClr val="171A2D"/>
          </a:solidFill>
          <a:ln w="12700">
            <a:solidFill>
              <a:srgbClr val="171A2D"/>
            </a:solidFill>
            <a:prstDash val="solid"/>
          </a:ln>
        </p:spPr>
      </p:sp>
      <p:sp>
        <p:nvSpPr>
          <p:cNvPr id="21" name="Text 19"/>
          <p:cNvSpPr/>
          <p:nvPr/>
        </p:nvSpPr>
        <p:spPr>
          <a:xfrm>
            <a:off x="8110728" y="3794760"/>
            <a:ext cx="3383280" cy="204826"/>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많이 쓰는 이용자 가정</a:t>
            </a:r>
            <a:endParaRPr lang="en-US" sz="1400" dirty="0"/>
          </a:p>
        </p:txBody>
      </p:sp>
      <p:sp>
        <p:nvSpPr>
          <p:cNvPr id="22" name="Shape 20"/>
          <p:cNvSpPr/>
          <p:nvPr/>
        </p:nvSpPr>
        <p:spPr>
          <a:xfrm>
            <a:off x="548640" y="4072738"/>
            <a:ext cx="3767328" cy="387706"/>
          </a:xfrm>
          <a:prstGeom prst="rect">
            <a:avLst/>
          </a:prstGeom>
          <a:solidFill>
            <a:srgbClr val="FFFFFF"/>
          </a:solidFill>
          <a:ln w="6350">
            <a:solidFill>
              <a:srgbClr val="DDE2ED"/>
            </a:solidFill>
            <a:prstDash val="solid"/>
          </a:ln>
        </p:spPr>
      </p:sp>
      <p:sp>
        <p:nvSpPr>
          <p:cNvPr id="23" name="Text 21"/>
          <p:cNvSpPr/>
          <p:nvPr/>
        </p:nvSpPr>
        <p:spPr>
          <a:xfrm>
            <a:off x="685800" y="4173322"/>
            <a:ext cx="3493008" cy="204826"/>
          </a:xfrm>
          <a:prstGeom prst="rect">
            <a:avLst/>
          </a:prstGeom>
          <a:noFill/>
          <a:ln/>
        </p:spPr>
        <p:txBody>
          <a:bodyPr wrap="square" lIns="0" tIns="0" rIns="0" bIns="0" rtlCol="0" anchor="ctr">
            <a:normAutofit/>
          </a:bodyPr>
          <a:lstStyle/>
          <a:p>
            <a:pPr indent="0" marL="0">
              <a:buNone/>
            </a:pPr>
            <a:r>
              <a:rPr lang="en-US" sz="1330" b="1" dirty="0">
                <a:solidFill>
                  <a:srgbClr val="7150E8"/>
                </a:solidFill>
                <a:latin typeface="Malgun Gothic" pitchFamily="34" charset="0"/>
                <a:ea typeface="Malgun Gothic" pitchFamily="34" charset="-122"/>
                <a:cs typeface="Malgun Gothic" pitchFamily="34" charset="-120"/>
              </a:rPr>
              <a:t>월 순매출 가정</a:t>
            </a:r>
            <a:endParaRPr lang="en-US" sz="1330" dirty="0"/>
          </a:p>
        </p:txBody>
      </p:sp>
      <p:sp>
        <p:nvSpPr>
          <p:cNvPr id="24" name="Shape 22"/>
          <p:cNvSpPr/>
          <p:nvPr/>
        </p:nvSpPr>
        <p:spPr>
          <a:xfrm>
            <a:off x="4315968" y="4072738"/>
            <a:ext cx="3657600" cy="387706"/>
          </a:xfrm>
          <a:prstGeom prst="rect">
            <a:avLst/>
          </a:prstGeom>
          <a:solidFill>
            <a:srgbClr val="FFFFFF"/>
          </a:solidFill>
          <a:ln w="6350">
            <a:solidFill>
              <a:srgbClr val="DDE2ED"/>
            </a:solidFill>
            <a:prstDash val="solid"/>
          </a:ln>
        </p:spPr>
      </p:sp>
      <p:sp>
        <p:nvSpPr>
          <p:cNvPr id="25" name="Text 23"/>
          <p:cNvSpPr/>
          <p:nvPr/>
        </p:nvSpPr>
        <p:spPr>
          <a:xfrm>
            <a:off x="4453128" y="4173322"/>
            <a:ext cx="3383280" cy="204826"/>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10,000원</a:t>
            </a:r>
            <a:endParaRPr lang="en-US" sz="1330" dirty="0"/>
          </a:p>
        </p:txBody>
      </p:sp>
      <p:sp>
        <p:nvSpPr>
          <p:cNvPr id="26" name="Shape 24"/>
          <p:cNvSpPr/>
          <p:nvPr/>
        </p:nvSpPr>
        <p:spPr>
          <a:xfrm>
            <a:off x="7973568" y="4072738"/>
            <a:ext cx="3657600" cy="387706"/>
          </a:xfrm>
          <a:prstGeom prst="rect">
            <a:avLst/>
          </a:prstGeom>
          <a:solidFill>
            <a:srgbClr val="FFFFFF"/>
          </a:solidFill>
          <a:ln w="6350">
            <a:solidFill>
              <a:srgbClr val="DDE2ED"/>
            </a:solidFill>
            <a:prstDash val="solid"/>
          </a:ln>
        </p:spPr>
      </p:sp>
      <p:sp>
        <p:nvSpPr>
          <p:cNvPr id="27" name="Text 25"/>
          <p:cNvSpPr/>
          <p:nvPr/>
        </p:nvSpPr>
        <p:spPr>
          <a:xfrm>
            <a:off x="8110728" y="4173322"/>
            <a:ext cx="3383280" cy="204826"/>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10,000원</a:t>
            </a:r>
            <a:endParaRPr lang="en-US" sz="1330" dirty="0"/>
          </a:p>
        </p:txBody>
      </p:sp>
      <p:sp>
        <p:nvSpPr>
          <p:cNvPr id="28" name="Shape 26"/>
          <p:cNvSpPr/>
          <p:nvPr/>
        </p:nvSpPr>
        <p:spPr>
          <a:xfrm>
            <a:off x="548640" y="4460443"/>
            <a:ext cx="3767328" cy="387706"/>
          </a:xfrm>
          <a:prstGeom prst="rect">
            <a:avLst/>
          </a:prstGeom>
          <a:solidFill>
            <a:srgbClr val="F8F9FC"/>
          </a:solidFill>
          <a:ln w="6350">
            <a:solidFill>
              <a:srgbClr val="DDE2ED"/>
            </a:solidFill>
            <a:prstDash val="solid"/>
          </a:ln>
        </p:spPr>
      </p:sp>
      <p:sp>
        <p:nvSpPr>
          <p:cNvPr id="29" name="Text 27"/>
          <p:cNvSpPr/>
          <p:nvPr/>
        </p:nvSpPr>
        <p:spPr>
          <a:xfrm>
            <a:off x="685800" y="4561027"/>
            <a:ext cx="3493008" cy="204826"/>
          </a:xfrm>
          <a:prstGeom prst="rect">
            <a:avLst/>
          </a:prstGeom>
          <a:noFill/>
          <a:ln/>
        </p:spPr>
        <p:txBody>
          <a:bodyPr wrap="square" lIns="0" tIns="0" rIns="0" bIns="0" rtlCol="0" anchor="ctr">
            <a:normAutofit/>
          </a:bodyPr>
          <a:lstStyle/>
          <a:p>
            <a:pPr indent="0" marL="0">
              <a:buNone/>
            </a:pPr>
            <a:r>
              <a:rPr lang="en-US" sz="1330" b="1" dirty="0">
                <a:solidFill>
                  <a:srgbClr val="7150E8"/>
                </a:solidFill>
                <a:latin typeface="Malgun Gothic" pitchFamily="34" charset="0"/>
                <a:ea typeface="Malgun Gothic" pitchFamily="34" charset="-122"/>
                <a:cs typeface="Malgun Gothic" pitchFamily="34" charset="-120"/>
              </a:rPr>
              <a:t>고객당 고정비 가정</a:t>
            </a:r>
            <a:endParaRPr lang="en-US" sz="1330" dirty="0"/>
          </a:p>
        </p:txBody>
      </p:sp>
      <p:sp>
        <p:nvSpPr>
          <p:cNvPr id="30" name="Shape 28"/>
          <p:cNvSpPr/>
          <p:nvPr/>
        </p:nvSpPr>
        <p:spPr>
          <a:xfrm>
            <a:off x="4315968" y="4460443"/>
            <a:ext cx="3657600" cy="387706"/>
          </a:xfrm>
          <a:prstGeom prst="rect">
            <a:avLst/>
          </a:prstGeom>
          <a:solidFill>
            <a:srgbClr val="F8F9FC"/>
          </a:solidFill>
          <a:ln w="6350">
            <a:solidFill>
              <a:srgbClr val="DDE2ED"/>
            </a:solidFill>
            <a:prstDash val="solid"/>
          </a:ln>
        </p:spPr>
      </p:sp>
      <p:sp>
        <p:nvSpPr>
          <p:cNvPr id="31" name="Text 29"/>
          <p:cNvSpPr/>
          <p:nvPr/>
        </p:nvSpPr>
        <p:spPr>
          <a:xfrm>
            <a:off x="4453128" y="4561027"/>
            <a:ext cx="3383280" cy="204826"/>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1,500원</a:t>
            </a:r>
            <a:endParaRPr lang="en-US" sz="1330" dirty="0"/>
          </a:p>
        </p:txBody>
      </p:sp>
      <p:sp>
        <p:nvSpPr>
          <p:cNvPr id="32" name="Shape 30"/>
          <p:cNvSpPr/>
          <p:nvPr/>
        </p:nvSpPr>
        <p:spPr>
          <a:xfrm>
            <a:off x="7973568" y="4460443"/>
            <a:ext cx="3657600" cy="387706"/>
          </a:xfrm>
          <a:prstGeom prst="rect">
            <a:avLst/>
          </a:prstGeom>
          <a:solidFill>
            <a:srgbClr val="F8F9FC"/>
          </a:solidFill>
          <a:ln w="6350">
            <a:solidFill>
              <a:srgbClr val="DDE2ED"/>
            </a:solidFill>
            <a:prstDash val="solid"/>
          </a:ln>
        </p:spPr>
      </p:sp>
      <p:sp>
        <p:nvSpPr>
          <p:cNvPr id="33" name="Text 31"/>
          <p:cNvSpPr/>
          <p:nvPr/>
        </p:nvSpPr>
        <p:spPr>
          <a:xfrm>
            <a:off x="8110728" y="4561027"/>
            <a:ext cx="3383280" cy="204826"/>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1,500원</a:t>
            </a:r>
            <a:endParaRPr lang="en-US" sz="1330" dirty="0"/>
          </a:p>
        </p:txBody>
      </p:sp>
      <p:sp>
        <p:nvSpPr>
          <p:cNvPr id="34" name="Shape 32"/>
          <p:cNvSpPr/>
          <p:nvPr/>
        </p:nvSpPr>
        <p:spPr>
          <a:xfrm>
            <a:off x="548640" y="4848149"/>
            <a:ext cx="3767328" cy="387706"/>
          </a:xfrm>
          <a:prstGeom prst="rect">
            <a:avLst/>
          </a:prstGeom>
          <a:solidFill>
            <a:srgbClr val="FFFFFF"/>
          </a:solidFill>
          <a:ln w="6350">
            <a:solidFill>
              <a:srgbClr val="DDE2ED"/>
            </a:solidFill>
            <a:prstDash val="solid"/>
          </a:ln>
        </p:spPr>
      </p:sp>
      <p:sp>
        <p:nvSpPr>
          <p:cNvPr id="35" name="Text 33"/>
          <p:cNvSpPr/>
          <p:nvPr/>
        </p:nvSpPr>
        <p:spPr>
          <a:xfrm>
            <a:off x="685800" y="4948733"/>
            <a:ext cx="3493008" cy="204826"/>
          </a:xfrm>
          <a:prstGeom prst="rect">
            <a:avLst/>
          </a:prstGeom>
          <a:noFill/>
          <a:ln/>
        </p:spPr>
        <p:txBody>
          <a:bodyPr wrap="square" lIns="0" tIns="0" rIns="0" bIns="0" rtlCol="0" anchor="ctr">
            <a:normAutofit/>
          </a:bodyPr>
          <a:lstStyle/>
          <a:p>
            <a:pPr indent="0" marL="0">
              <a:buNone/>
            </a:pPr>
            <a:r>
              <a:rPr lang="en-US" sz="1330" b="1" dirty="0">
                <a:solidFill>
                  <a:srgbClr val="7150E8"/>
                </a:solidFill>
                <a:latin typeface="Malgun Gothic" pitchFamily="34" charset="0"/>
                <a:ea typeface="Malgun Gothic" pitchFamily="34" charset="-122"/>
                <a:cs typeface="Malgun Gothic" pitchFamily="34" charset="-120"/>
              </a:rPr>
              <a:t>이용량 × 성공당 원가 가정</a:t>
            </a:r>
            <a:endParaRPr lang="en-US" sz="1330" dirty="0"/>
          </a:p>
        </p:txBody>
      </p:sp>
      <p:sp>
        <p:nvSpPr>
          <p:cNvPr id="36" name="Shape 34"/>
          <p:cNvSpPr/>
          <p:nvPr/>
        </p:nvSpPr>
        <p:spPr>
          <a:xfrm>
            <a:off x="4315968" y="4848149"/>
            <a:ext cx="3657600" cy="387706"/>
          </a:xfrm>
          <a:prstGeom prst="rect">
            <a:avLst/>
          </a:prstGeom>
          <a:solidFill>
            <a:srgbClr val="FFFFFF"/>
          </a:solidFill>
          <a:ln w="6350">
            <a:solidFill>
              <a:srgbClr val="DDE2ED"/>
            </a:solidFill>
            <a:prstDash val="solid"/>
          </a:ln>
        </p:spPr>
      </p:sp>
      <p:sp>
        <p:nvSpPr>
          <p:cNvPr id="37" name="Text 35"/>
          <p:cNvSpPr/>
          <p:nvPr/>
        </p:nvSpPr>
        <p:spPr>
          <a:xfrm>
            <a:off x="4453128" y="4948733"/>
            <a:ext cx="3383280" cy="204826"/>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100건 × 50원</a:t>
            </a:r>
            <a:endParaRPr lang="en-US" sz="1330" dirty="0"/>
          </a:p>
        </p:txBody>
      </p:sp>
      <p:sp>
        <p:nvSpPr>
          <p:cNvPr id="38" name="Shape 36"/>
          <p:cNvSpPr/>
          <p:nvPr/>
        </p:nvSpPr>
        <p:spPr>
          <a:xfrm>
            <a:off x="7973568" y="4848149"/>
            <a:ext cx="3657600" cy="387706"/>
          </a:xfrm>
          <a:prstGeom prst="rect">
            <a:avLst/>
          </a:prstGeom>
          <a:solidFill>
            <a:srgbClr val="FFFFFF"/>
          </a:solidFill>
          <a:ln w="6350">
            <a:solidFill>
              <a:srgbClr val="DDE2ED"/>
            </a:solidFill>
            <a:prstDash val="solid"/>
          </a:ln>
        </p:spPr>
      </p:sp>
      <p:sp>
        <p:nvSpPr>
          <p:cNvPr id="39" name="Text 37"/>
          <p:cNvSpPr/>
          <p:nvPr/>
        </p:nvSpPr>
        <p:spPr>
          <a:xfrm>
            <a:off x="8110728" y="4948733"/>
            <a:ext cx="3383280" cy="204826"/>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300건 × 50원</a:t>
            </a:r>
            <a:endParaRPr lang="en-US" sz="1330" dirty="0"/>
          </a:p>
        </p:txBody>
      </p:sp>
      <p:sp>
        <p:nvSpPr>
          <p:cNvPr id="40" name="Shape 38"/>
          <p:cNvSpPr/>
          <p:nvPr/>
        </p:nvSpPr>
        <p:spPr>
          <a:xfrm>
            <a:off x="548640" y="5235854"/>
            <a:ext cx="3767328" cy="387706"/>
          </a:xfrm>
          <a:prstGeom prst="rect">
            <a:avLst/>
          </a:prstGeom>
          <a:solidFill>
            <a:srgbClr val="F8F9FC"/>
          </a:solidFill>
          <a:ln w="6350">
            <a:solidFill>
              <a:srgbClr val="DDE2ED"/>
            </a:solidFill>
            <a:prstDash val="solid"/>
          </a:ln>
        </p:spPr>
      </p:sp>
      <p:sp>
        <p:nvSpPr>
          <p:cNvPr id="41" name="Text 39"/>
          <p:cNvSpPr/>
          <p:nvPr/>
        </p:nvSpPr>
        <p:spPr>
          <a:xfrm>
            <a:off x="685800" y="5336438"/>
            <a:ext cx="3493008" cy="204826"/>
          </a:xfrm>
          <a:prstGeom prst="rect">
            <a:avLst/>
          </a:prstGeom>
          <a:noFill/>
          <a:ln/>
        </p:spPr>
        <p:txBody>
          <a:bodyPr wrap="square" lIns="0" tIns="0" rIns="0" bIns="0" rtlCol="0" anchor="ctr">
            <a:normAutofit/>
          </a:bodyPr>
          <a:lstStyle/>
          <a:p>
            <a:pPr indent="0" marL="0">
              <a:buNone/>
            </a:pPr>
            <a:r>
              <a:rPr lang="en-US" sz="1330" b="1" dirty="0">
                <a:solidFill>
                  <a:srgbClr val="7150E8"/>
                </a:solidFill>
                <a:latin typeface="Malgun Gothic" pitchFamily="34" charset="0"/>
                <a:ea typeface="Malgun Gothic" pitchFamily="34" charset="-122"/>
                <a:cs typeface="Malgun Gothic" pitchFamily="34" charset="-120"/>
              </a:rPr>
              <a:t>단순 기여액</a:t>
            </a:r>
            <a:endParaRPr lang="en-US" sz="1330" dirty="0"/>
          </a:p>
        </p:txBody>
      </p:sp>
      <p:sp>
        <p:nvSpPr>
          <p:cNvPr id="42" name="Shape 40"/>
          <p:cNvSpPr/>
          <p:nvPr/>
        </p:nvSpPr>
        <p:spPr>
          <a:xfrm>
            <a:off x="4315968" y="5235854"/>
            <a:ext cx="3657600" cy="387706"/>
          </a:xfrm>
          <a:prstGeom prst="rect">
            <a:avLst/>
          </a:prstGeom>
          <a:solidFill>
            <a:srgbClr val="F8F9FC"/>
          </a:solidFill>
          <a:ln w="6350">
            <a:solidFill>
              <a:srgbClr val="DDE2ED"/>
            </a:solidFill>
            <a:prstDash val="solid"/>
          </a:ln>
        </p:spPr>
      </p:sp>
      <p:sp>
        <p:nvSpPr>
          <p:cNvPr id="43" name="Text 41"/>
          <p:cNvSpPr/>
          <p:nvPr/>
        </p:nvSpPr>
        <p:spPr>
          <a:xfrm>
            <a:off x="4453128" y="5336438"/>
            <a:ext cx="3383280" cy="204826"/>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+3,500원</a:t>
            </a:r>
            <a:endParaRPr lang="en-US" sz="1330" dirty="0"/>
          </a:p>
        </p:txBody>
      </p:sp>
      <p:sp>
        <p:nvSpPr>
          <p:cNvPr id="44" name="Shape 42"/>
          <p:cNvSpPr/>
          <p:nvPr/>
        </p:nvSpPr>
        <p:spPr>
          <a:xfrm>
            <a:off x="7973568" y="5235854"/>
            <a:ext cx="3657600" cy="387706"/>
          </a:xfrm>
          <a:prstGeom prst="rect">
            <a:avLst/>
          </a:prstGeom>
          <a:solidFill>
            <a:srgbClr val="F8F9FC"/>
          </a:solidFill>
          <a:ln w="6350">
            <a:solidFill>
              <a:srgbClr val="DDE2ED"/>
            </a:solidFill>
            <a:prstDash val="solid"/>
          </a:ln>
        </p:spPr>
      </p:sp>
      <p:sp>
        <p:nvSpPr>
          <p:cNvPr id="45" name="Text 43"/>
          <p:cNvSpPr/>
          <p:nvPr/>
        </p:nvSpPr>
        <p:spPr>
          <a:xfrm>
            <a:off x="8110728" y="5336438"/>
            <a:ext cx="3383280" cy="204826"/>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−6,500원</a:t>
            </a:r>
            <a:endParaRPr lang="en-US" sz="1330" dirty="0"/>
          </a:p>
        </p:txBody>
      </p:sp>
      <p:sp>
        <p:nvSpPr>
          <p:cNvPr id="46" name="Shape 44"/>
          <p:cNvSpPr/>
          <p:nvPr/>
        </p:nvSpPr>
        <p:spPr>
          <a:xfrm>
            <a:off x="548640" y="5824728"/>
            <a:ext cx="11082528" cy="438912"/>
          </a:xfrm>
          <a:prstGeom prst="roundRect">
            <a:avLst>
              <a:gd name="adj" fmla="val 33333"/>
            </a:avLst>
          </a:prstGeom>
          <a:solidFill>
            <a:srgbClr val="EEE9FD"/>
          </a:solidFill>
          <a:ln w="7620">
            <a:solidFill>
              <a:srgbClr val="EEE9FD"/>
            </a:solidFill>
            <a:prstDash val="solid"/>
          </a:ln>
        </p:spPr>
      </p:sp>
      <p:sp>
        <p:nvSpPr>
          <p:cNvPr id="47" name="Text 45"/>
          <p:cNvSpPr/>
          <p:nvPr/>
        </p:nvSpPr>
        <p:spPr>
          <a:xfrm>
            <a:off x="731520" y="5916168"/>
            <a:ext cx="10698480" cy="237744"/>
          </a:xfrm>
          <a:prstGeom prst="rect">
            <a:avLst/>
          </a:prstGeom>
          <a:noFill/>
          <a:ln/>
        </p:spPr>
        <p:txBody>
          <a:bodyPr wrap="square" lIns="0" tIns="0" rIns="0" bIns="0" rtlCol="0" anchor="ctr">
            <a:normAutofit/>
          </a:bodyPr>
          <a:lstStyle/>
          <a:p>
            <a:pPr indent="0" marL="0">
              <a:buNone/>
            </a:pPr>
            <a:r>
              <a:rPr lang="en-US" sz="1140" b="1" dirty="0">
                <a:solidFill>
                  <a:srgbClr val="7150E8"/>
                </a:solidFill>
                <a:latin typeface="Malgun Gothic" pitchFamily="34" charset="0"/>
                <a:ea typeface="Malgun Gothic" pitchFamily="34" charset="-122"/>
                <a:cs typeface="Malgun Gothic" pitchFamily="34" charset="-120"/>
              </a:rPr>
              <a:t>모든 금액은 설명용 가정. 실제 요금·API 단가·수익 예측이 아니며, 개발비·세금 등은 제외했다.</a:t>
            </a:r>
            <a:endParaRPr lang="en-US" sz="114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548640" y="274320"/>
            <a:ext cx="10058400" cy="228600"/>
          </a:xfrm>
          <a:prstGeom prst="rect">
            <a:avLst/>
          </a:prstGeom>
          <a:noFill/>
          <a:ln/>
        </p:spPr>
        <p:txBody>
          <a:bodyPr wrap="square" lIns="0" tIns="0" rIns="0" bIns="0" rtlCol="0" anchor="ctr">
            <a:normAutofit/>
          </a:bodyPr>
          <a:lstStyle/>
          <a:p>
            <a:pPr indent="0" marL="0">
              <a:buNone/>
            </a:pPr>
            <a:r>
              <a:rPr lang="en-US" sz="900" b="1" spc="160" kern="0" dirty="0">
                <a:solidFill>
                  <a:srgbClr val="7150E8"/>
                </a:solidFill>
                <a:latin typeface="Malgun Gothic" pitchFamily="34" charset="0"/>
                <a:ea typeface="Malgun Gothic" pitchFamily="34" charset="-122"/>
                <a:cs typeface="Malgun Gothic" pitchFamily="34" charset="-120"/>
              </a:rPr>
              <a:t>04 / SECURITY &amp; OPERATIONS</a:t>
            </a:r>
            <a:endParaRPr lang="en-US" sz="900" dirty="0"/>
          </a:p>
        </p:txBody>
      </p:sp>
      <p:sp>
        <p:nvSpPr>
          <p:cNvPr id="3" name="Text 1"/>
          <p:cNvSpPr/>
          <p:nvPr/>
        </p:nvSpPr>
        <p:spPr>
          <a:xfrm>
            <a:off x="548640" y="758952"/>
            <a:ext cx="11082528" cy="795528"/>
          </a:xfrm>
          <a:prstGeom prst="rect">
            <a:avLst/>
          </a:prstGeom>
          <a:noFill/>
          <a:ln/>
        </p:spPr>
        <p:txBody>
          <a:bodyPr wrap="square" lIns="0" tIns="0" rIns="0" bIns="0" rtlCol="0" anchor="ctr">
            <a:normAutofit/>
          </a:bodyPr>
          <a:lstStyle/>
          <a:p>
            <a:pPr indent="0" marL="0">
              <a:buNone/>
            </a:pPr>
            <a:r>
              <a:rPr lang="en-US" sz="2700" b="1" dirty="0">
                <a:solidFill>
                  <a:srgbClr val="20243A"/>
                </a:solidFill>
                <a:latin typeface="Malgun Gothic" pitchFamily="34" charset="0"/>
                <a:ea typeface="Malgun Gothic" pitchFamily="34" charset="-122"/>
                <a:cs typeface="Malgun Gothic" pitchFamily="34" charset="-120"/>
              </a:rPr>
              <a:t>기업 판매에 필요한 것은 보안 기능보다 운영 가능한 통제</a:t>
            </a:r>
            <a:endParaRPr lang="en-US" sz="2700" dirty="0"/>
          </a:p>
        </p:txBody>
      </p:sp>
      <p:sp>
        <p:nvSpPr>
          <p:cNvPr id="4" name="Shape 2"/>
          <p:cNvSpPr/>
          <p:nvPr/>
        </p:nvSpPr>
        <p:spPr>
          <a:xfrm>
            <a:off x="548640" y="1682496"/>
            <a:ext cx="11064240" cy="0"/>
          </a:xfrm>
          <a:prstGeom prst="line">
            <a:avLst/>
          </a:prstGeom>
          <a:noFill/>
          <a:ln w="12700">
            <a:solidFill>
              <a:srgbClr val="DDE2ED"/>
            </a:solidFill>
            <a:prstDash val="solid"/>
          </a:ln>
        </p:spPr>
      </p:sp>
      <p:sp>
        <p:nvSpPr>
          <p:cNvPr id="5" name="Text 3"/>
          <p:cNvSpPr/>
          <p:nvPr/>
        </p:nvSpPr>
        <p:spPr>
          <a:xfrm>
            <a:off x="548640" y="6519672"/>
            <a:ext cx="8869680" cy="164592"/>
          </a:xfrm>
          <a:prstGeom prst="rect">
            <a:avLst/>
          </a:prstGeom>
          <a:noFill/>
          <a:ln/>
        </p:spPr>
        <p:txBody>
          <a:bodyPr wrap="square" lIns="0" tIns="0" rIns="0" bIns="0" rtlCol="0" anchor="ctr">
            <a:normAutofit/>
          </a:bodyPr>
          <a:lstStyle/>
          <a:p>
            <a:pPr indent="0" marL="0">
              <a:buNone/>
            </a:pPr>
            <a:r>
              <a:rPr lang="en-US" sz="800" dirty="0">
                <a:solidFill>
                  <a:srgbClr val="677087"/>
                </a:solidFill>
                <a:latin typeface="Malgun Gothic" pitchFamily="34" charset="0"/>
                <a:ea typeface="Malgun Gothic" pitchFamily="34" charset="-122"/>
                <a:cs typeface="Malgun Gothic" pitchFamily="34" charset="-120"/>
              </a:rPr>
              <a:t>CleanTouch  |  사업화 현황 진단  |  2026.10.15</a:t>
            </a:r>
            <a:endParaRPr lang="en-US" sz="800" dirty="0"/>
          </a:p>
        </p:txBody>
      </p:sp>
      <p:sp>
        <p:nvSpPr>
          <p:cNvPr id="6" name="Text 4"/>
          <p:cNvSpPr/>
          <p:nvPr/>
        </p:nvSpPr>
        <p:spPr>
          <a:xfrm>
            <a:off x="10698480" y="6501384"/>
            <a:ext cx="914400" cy="182880"/>
          </a:xfrm>
          <a:prstGeom prst="rect">
            <a:avLst/>
          </a:prstGeom>
          <a:noFill/>
          <a:ln/>
        </p:spPr>
        <p:txBody>
          <a:bodyPr wrap="square" lIns="0" tIns="0" rIns="0" bIns="0" rtlCol="0" anchor="ctr">
            <a:normAutofit/>
          </a:bodyPr>
          <a:lstStyle/>
          <a:p>
            <a:pPr algn="r" indent="0" marL="0">
              <a:buNone/>
            </a:pPr>
            <a:r>
              <a:rPr lang="en-US" sz="800" dirty="0">
                <a:solidFill>
                  <a:srgbClr val="677087"/>
                </a:solidFill>
                <a:latin typeface="Malgun Gothic" pitchFamily="34" charset="0"/>
                <a:ea typeface="Malgun Gothic" pitchFamily="34" charset="-122"/>
                <a:cs typeface="Malgun Gothic" pitchFamily="34" charset="-120"/>
              </a:rPr>
              <a:t>18 / 24</a:t>
            </a:r>
            <a:endParaRPr lang="en-US" sz="800" dirty="0"/>
          </a:p>
        </p:txBody>
      </p:sp>
      <p:sp>
        <p:nvSpPr>
          <p:cNvPr id="7" name="Text 5"/>
          <p:cNvSpPr/>
          <p:nvPr/>
        </p:nvSpPr>
        <p:spPr>
          <a:xfrm>
            <a:off x="594360" y="6364224"/>
            <a:ext cx="10881360" cy="118872"/>
          </a:xfrm>
          <a:prstGeom prst="rect">
            <a:avLst/>
          </a:prstGeom>
          <a:noFill/>
          <a:ln/>
        </p:spPr>
        <p:txBody>
          <a:bodyPr wrap="square" lIns="0" tIns="0" rIns="0" bIns="0" rtlCol="0" anchor="ctr">
            <a:normAutofit/>
          </a:bodyPr>
          <a:lstStyle/>
          <a:p>
            <a:pPr indent="0" marL="0">
              <a:buNone/>
            </a:pPr>
            <a:r>
              <a:rPr lang="en-US" sz="700" dirty="0">
                <a:solidFill>
                  <a:srgbClr val="677087"/>
                </a:solidFill>
                <a:latin typeface="Malgun Gothic" pitchFamily="34" charset="0"/>
                <a:ea typeface="Malgun Gothic" pitchFamily="34" charset="-122"/>
                <a:cs typeface="Malgun Gothic" pitchFamily="34" charset="-120"/>
              </a:rPr>
              <a:t>S7 MCP · Security best practices  ·  S9 European Commission · International data protection</a:t>
            </a:r>
            <a:endParaRPr lang="en-US" sz="700" dirty="0"/>
          </a:p>
        </p:txBody>
      </p:sp>
      <p:sp>
        <p:nvSpPr>
          <p:cNvPr id="8" name="Shape 6"/>
          <p:cNvSpPr/>
          <p:nvPr/>
        </p:nvSpPr>
        <p:spPr>
          <a:xfrm>
            <a:off x="548640" y="1901952"/>
            <a:ext cx="5413248" cy="1700784"/>
          </a:xfrm>
          <a:prstGeom prst="roundRect">
            <a:avLst>
              <a:gd name="adj" fmla="val 8602"/>
            </a:avLst>
          </a:prstGeom>
          <a:solidFill>
            <a:srgbClr val="FFFFFF"/>
          </a:solidFill>
          <a:ln w="7620">
            <a:solidFill>
              <a:srgbClr val="DDE2ED"/>
            </a:solidFill>
            <a:prstDash val="solid"/>
          </a:ln>
        </p:spPr>
      </p:sp>
      <p:sp>
        <p:nvSpPr>
          <p:cNvPr id="9" name="Shape 7"/>
          <p:cNvSpPr/>
          <p:nvPr/>
        </p:nvSpPr>
        <p:spPr>
          <a:xfrm>
            <a:off x="713232" y="2112264"/>
            <a:ext cx="41148" cy="1280160"/>
          </a:xfrm>
          <a:prstGeom prst="rect">
            <a:avLst/>
          </a:prstGeom>
          <a:solidFill>
            <a:srgbClr val="7150E8"/>
          </a:solidFill>
          <a:ln w="12700">
            <a:solidFill>
              <a:srgbClr val="7150E8">
                <a:alpha val="0"/>
              </a:srgbClr>
            </a:solidFill>
            <a:prstDash val="solid"/>
          </a:ln>
        </p:spPr>
      </p:sp>
      <p:sp>
        <p:nvSpPr>
          <p:cNvPr id="10" name="Text 8"/>
          <p:cNvSpPr/>
          <p:nvPr/>
        </p:nvSpPr>
        <p:spPr>
          <a:xfrm>
            <a:off x="914400" y="2103120"/>
            <a:ext cx="4773168" cy="338328"/>
          </a:xfrm>
          <a:prstGeom prst="rect">
            <a:avLst/>
          </a:prstGeom>
          <a:noFill/>
          <a:ln/>
        </p:spPr>
        <p:txBody>
          <a:bodyPr wrap="square" lIns="0" tIns="0" rIns="0" bIns="0" rtlCol="0" anchor="ctr">
            <a:normAutofit/>
          </a:bodyPr>
          <a:lstStyle/>
          <a:p>
            <a:pPr indent="0" marL="0">
              <a:buNone/>
            </a:pPr>
            <a:r>
              <a:rPr lang="en-US" sz="1700" b="1" dirty="0">
                <a:solidFill>
                  <a:srgbClr val="7150E8"/>
                </a:solidFill>
                <a:latin typeface="Malgun Gothic" pitchFamily="34" charset="0"/>
                <a:ea typeface="Malgun Gothic" pitchFamily="34" charset="-122"/>
                <a:cs typeface="Malgun Gothic" pitchFamily="34" charset="-120"/>
              </a:rPr>
              <a:t>현재 기반 · 코드 기준</a:t>
            </a:r>
            <a:endParaRPr lang="en-US" sz="1700" dirty="0"/>
          </a:p>
        </p:txBody>
      </p:sp>
      <p:sp>
        <p:nvSpPr>
          <p:cNvPr id="11" name="Text 9"/>
          <p:cNvSpPr/>
          <p:nvPr/>
        </p:nvSpPr>
        <p:spPr>
          <a:xfrm>
            <a:off x="914400" y="2679192"/>
            <a:ext cx="4718304" cy="758952"/>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키를 중계 환경에 보관 · 요청/링크 검사</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Electron 격리 · 기기별 대화 암호화 경로</a:t>
            </a:r>
            <a:endParaRPr lang="en-US" sz="1500" dirty="0"/>
          </a:p>
        </p:txBody>
      </p:sp>
      <p:sp>
        <p:nvSpPr>
          <p:cNvPr id="12" name="Shape 10"/>
          <p:cNvSpPr/>
          <p:nvPr/>
        </p:nvSpPr>
        <p:spPr>
          <a:xfrm>
            <a:off x="6217920" y="1901952"/>
            <a:ext cx="5413248" cy="1700784"/>
          </a:xfrm>
          <a:prstGeom prst="roundRect">
            <a:avLst>
              <a:gd name="adj" fmla="val 8602"/>
            </a:avLst>
          </a:prstGeom>
          <a:solidFill>
            <a:srgbClr val="FFFFFF"/>
          </a:solidFill>
          <a:ln w="7620">
            <a:solidFill>
              <a:srgbClr val="DDE2ED"/>
            </a:solidFill>
            <a:prstDash val="solid"/>
          </a:ln>
        </p:spPr>
      </p:sp>
      <p:sp>
        <p:nvSpPr>
          <p:cNvPr id="13" name="Shape 11"/>
          <p:cNvSpPr/>
          <p:nvPr/>
        </p:nvSpPr>
        <p:spPr>
          <a:xfrm>
            <a:off x="6382512" y="2112264"/>
            <a:ext cx="41148" cy="1280160"/>
          </a:xfrm>
          <a:prstGeom prst="rect">
            <a:avLst/>
          </a:prstGeom>
          <a:solidFill>
            <a:srgbClr val="147D7A"/>
          </a:solidFill>
          <a:ln w="12700">
            <a:solidFill>
              <a:srgbClr val="147D7A">
                <a:alpha val="0"/>
              </a:srgbClr>
            </a:solidFill>
            <a:prstDash val="solid"/>
          </a:ln>
        </p:spPr>
      </p:sp>
      <p:sp>
        <p:nvSpPr>
          <p:cNvPr id="14" name="Text 12"/>
          <p:cNvSpPr/>
          <p:nvPr/>
        </p:nvSpPr>
        <p:spPr>
          <a:xfrm>
            <a:off x="6583680" y="2103120"/>
            <a:ext cx="4773168" cy="338328"/>
          </a:xfrm>
          <a:prstGeom prst="rect">
            <a:avLst/>
          </a:prstGeom>
          <a:noFill/>
          <a:ln/>
        </p:spPr>
        <p:txBody>
          <a:bodyPr wrap="square" lIns="0" tIns="0" rIns="0" bIns="0" rtlCol="0" anchor="ctr">
            <a:normAutofit/>
          </a:bodyPr>
          <a:lstStyle/>
          <a:p>
            <a:pPr indent="0" marL="0">
              <a:buNone/>
            </a:pPr>
            <a:r>
              <a:rPr lang="en-US" sz="1700" b="1" dirty="0">
                <a:solidFill>
                  <a:srgbClr val="147D7A"/>
                </a:solidFill>
                <a:latin typeface="Malgun Gothic" pitchFamily="34" charset="0"/>
                <a:ea typeface="Malgun Gothic" pitchFamily="34" charset="-122"/>
                <a:cs typeface="Malgun Gothic" pitchFamily="34" charset="-120"/>
              </a:rPr>
              <a:t>P0 · 계정과 비용 보호</a:t>
            </a:r>
            <a:endParaRPr lang="en-US" sz="1700" dirty="0"/>
          </a:p>
        </p:txBody>
      </p:sp>
      <p:sp>
        <p:nvSpPr>
          <p:cNvPr id="15" name="Text 13"/>
          <p:cNvSpPr/>
          <p:nvPr/>
        </p:nvSpPr>
        <p:spPr>
          <a:xfrm>
            <a:off x="6583680" y="2679192"/>
            <a:ext cx="4718304" cy="758952"/>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로그인·조직/역할·서버측 권한·분산 쿼터</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결제 상태와 이용 권한의 일관성 · 남용 탐지</a:t>
            </a:r>
            <a:endParaRPr lang="en-US" sz="1500" dirty="0"/>
          </a:p>
        </p:txBody>
      </p:sp>
      <p:sp>
        <p:nvSpPr>
          <p:cNvPr id="16" name="Shape 14"/>
          <p:cNvSpPr/>
          <p:nvPr/>
        </p:nvSpPr>
        <p:spPr>
          <a:xfrm>
            <a:off x="548640" y="3785616"/>
            <a:ext cx="5413248" cy="1700784"/>
          </a:xfrm>
          <a:prstGeom prst="roundRect">
            <a:avLst>
              <a:gd name="adj" fmla="val 8602"/>
            </a:avLst>
          </a:prstGeom>
          <a:solidFill>
            <a:srgbClr val="FFFFFF"/>
          </a:solidFill>
          <a:ln w="7620">
            <a:solidFill>
              <a:srgbClr val="DDE2ED"/>
            </a:solidFill>
            <a:prstDash val="solid"/>
          </a:ln>
        </p:spPr>
      </p:sp>
      <p:sp>
        <p:nvSpPr>
          <p:cNvPr id="17" name="Shape 15"/>
          <p:cNvSpPr/>
          <p:nvPr/>
        </p:nvSpPr>
        <p:spPr>
          <a:xfrm>
            <a:off x="713232" y="3995928"/>
            <a:ext cx="41148" cy="1280160"/>
          </a:xfrm>
          <a:prstGeom prst="rect">
            <a:avLst/>
          </a:prstGeom>
          <a:solidFill>
            <a:srgbClr val="7150E8"/>
          </a:solidFill>
          <a:ln w="12700">
            <a:solidFill>
              <a:srgbClr val="7150E8">
                <a:alpha val="0"/>
              </a:srgbClr>
            </a:solidFill>
            <a:prstDash val="solid"/>
          </a:ln>
        </p:spPr>
      </p:sp>
      <p:sp>
        <p:nvSpPr>
          <p:cNvPr id="18" name="Text 16"/>
          <p:cNvSpPr/>
          <p:nvPr/>
        </p:nvSpPr>
        <p:spPr>
          <a:xfrm>
            <a:off x="914400" y="3986784"/>
            <a:ext cx="4773168" cy="338328"/>
          </a:xfrm>
          <a:prstGeom prst="rect">
            <a:avLst/>
          </a:prstGeom>
          <a:noFill/>
          <a:ln/>
        </p:spPr>
        <p:txBody>
          <a:bodyPr wrap="square" lIns="0" tIns="0" rIns="0" bIns="0" rtlCol="0" anchor="ctr">
            <a:normAutofit/>
          </a:bodyPr>
          <a:lstStyle/>
          <a:p>
            <a:pPr indent="0" marL="0">
              <a:buNone/>
            </a:pPr>
            <a:r>
              <a:rPr lang="en-US" sz="1700" b="1" dirty="0">
                <a:solidFill>
                  <a:srgbClr val="7150E8"/>
                </a:solidFill>
                <a:latin typeface="Malgun Gothic" pitchFamily="34" charset="0"/>
                <a:ea typeface="Malgun Gothic" pitchFamily="34" charset="-122"/>
                <a:cs typeface="Malgun Gothic" pitchFamily="34" charset="-120"/>
              </a:rPr>
              <a:t>P0 · 배포·문서 정비</a:t>
            </a:r>
            <a:endParaRPr lang="en-US" sz="1700" dirty="0"/>
          </a:p>
        </p:txBody>
      </p:sp>
      <p:sp>
        <p:nvSpPr>
          <p:cNvPr id="19" name="Text 17"/>
          <p:cNvSpPr/>
          <p:nvPr/>
        </p:nvSpPr>
        <p:spPr>
          <a:xfrm>
            <a:off x="914400" y="4562856"/>
            <a:ext cx="4718304" cy="758952"/>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SDK 데모키 기본값 제거 · 운영 CORS/권한 정리</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실제 코드 서명·업데이트 검증 · 음성/보관 안내 갱신</a:t>
            </a:r>
            <a:endParaRPr lang="en-US" sz="1500" dirty="0"/>
          </a:p>
        </p:txBody>
      </p:sp>
      <p:sp>
        <p:nvSpPr>
          <p:cNvPr id="20" name="Shape 18"/>
          <p:cNvSpPr/>
          <p:nvPr/>
        </p:nvSpPr>
        <p:spPr>
          <a:xfrm>
            <a:off x="6217920" y="3785616"/>
            <a:ext cx="5413248" cy="1700784"/>
          </a:xfrm>
          <a:prstGeom prst="roundRect">
            <a:avLst>
              <a:gd name="adj" fmla="val 8602"/>
            </a:avLst>
          </a:prstGeom>
          <a:solidFill>
            <a:srgbClr val="FFFFFF"/>
          </a:solidFill>
          <a:ln w="7620">
            <a:solidFill>
              <a:srgbClr val="DDE2ED"/>
            </a:solidFill>
            <a:prstDash val="solid"/>
          </a:ln>
        </p:spPr>
      </p:sp>
      <p:sp>
        <p:nvSpPr>
          <p:cNvPr id="21" name="Shape 19"/>
          <p:cNvSpPr/>
          <p:nvPr/>
        </p:nvSpPr>
        <p:spPr>
          <a:xfrm>
            <a:off x="6382512" y="3995928"/>
            <a:ext cx="41148" cy="1280160"/>
          </a:xfrm>
          <a:prstGeom prst="rect">
            <a:avLst/>
          </a:prstGeom>
          <a:solidFill>
            <a:srgbClr val="147D7A"/>
          </a:solidFill>
          <a:ln w="12700">
            <a:solidFill>
              <a:srgbClr val="147D7A">
                <a:alpha val="0"/>
              </a:srgbClr>
            </a:solidFill>
            <a:prstDash val="solid"/>
          </a:ln>
        </p:spPr>
      </p:sp>
      <p:sp>
        <p:nvSpPr>
          <p:cNvPr id="22" name="Text 20"/>
          <p:cNvSpPr/>
          <p:nvPr/>
        </p:nvSpPr>
        <p:spPr>
          <a:xfrm>
            <a:off x="6583680" y="3986784"/>
            <a:ext cx="4773168" cy="338328"/>
          </a:xfrm>
          <a:prstGeom prst="rect">
            <a:avLst/>
          </a:prstGeom>
          <a:noFill/>
          <a:ln/>
        </p:spPr>
        <p:txBody>
          <a:bodyPr wrap="square" lIns="0" tIns="0" rIns="0" bIns="0" rtlCol="0" anchor="ctr">
            <a:normAutofit/>
          </a:bodyPr>
          <a:lstStyle/>
          <a:p>
            <a:pPr indent="0" marL="0">
              <a:buNone/>
            </a:pPr>
            <a:r>
              <a:rPr lang="en-US" sz="1700" b="1" dirty="0">
                <a:solidFill>
                  <a:srgbClr val="147D7A"/>
                </a:solidFill>
                <a:latin typeface="Malgun Gothic" pitchFamily="34" charset="0"/>
                <a:ea typeface="Malgun Gothic" pitchFamily="34" charset="-122"/>
                <a:cs typeface="Malgun Gothic" pitchFamily="34" charset="-120"/>
              </a:rPr>
              <a:t>기업 계약을 위한 추가 조건</a:t>
            </a:r>
            <a:endParaRPr lang="en-US" sz="1700" dirty="0"/>
          </a:p>
        </p:txBody>
      </p:sp>
      <p:sp>
        <p:nvSpPr>
          <p:cNvPr id="23" name="Text 21"/>
          <p:cNvSpPr/>
          <p:nvPr/>
        </p:nvSpPr>
        <p:spPr>
          <a:xfrm>
            <a:off x="6583680" y="4562856"/>
            <a:ext cx="4718304" cy="758952"/>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SSO·감사 로그·보관/삭제·백업 복구·장애 대응</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데이터 반출 정책·DPA·위탁사·외부 보안 검증</a:t>
            </a:r>
            <a:endParaRPr lang="en-US" sz="1500" dirty="0"/>
          </a:p>
        </p:txBody>
      </p:sp>
      <p:sp>
        <p:nvSpPr>
          <p:cNvPr id="24" name="Shape 22"/>
          <p:cNvSpPr/>
          <p:nvPr/>
        </p:nvSpPr>
        <p:spPr>
          <a:xfrm>
            <a:off x="548640" y="5824728"/>
            <a:ext cx="11082528" cy="438912"/>
          </a:xfrm>
          <a:prstGeom prst="roundRect">
            <a:avLst>
              <a:gd name="adj" fmla="val 33333"/>
            </a:avLst>
          </a:prstGeom>
          <a:solidFill>
            <a:srgbClr val="EEE9FD"/>
          </a:solidFill>
          <a:ln w="7620">
            <a:solidFill>
              <a:srgbClr val="EEE9FD"/>
            </a:solidFill>
            <a:prstDash val="solid"/>
          </a:ln>
        </p:spPr>
      </p:sp>
      <p:sp>
        <p:nvSpPr>
          <p:cNvPr id="25" name="Text 23"/>
          <p:cNvSpPr/>
          <p:nvPr/>
        </p:nvSpPr>
        <p:spPr>
          <a:xfrm>
            <a:off x="731520" y="5916168"/>
            <a:ext cx="10698480" cy="237744"/>
          </a:xfrm>
          <a:prstGeom prst="rect">
            <a:avLst/>
          </a:prstGeom>
          <a:noFill/>
          <a:ln/>
        </p:spPr>
        <p:txBody>
          <a:bodyPr wrap="square" lIns="0" tIns="0" rIns="0" bIns="0" rtlCol="0" anchor="ctr">
            <a:normAutofit/>
          </a:bodyPr>
          <a:lstStyle/>
          <a:p>
            <a:pPr indent="0" marL="0">
              <a:buNone/>
            </a:pPr>
            <a:r>
              <a:rPr lang="en-US" sz="1140" b="1" dirty="0">
                <a:solidFill>
                  <a:srgbClr val="7150E8"/>
                </a:solidFill>
                <a:latin typeface="Malgun Gothic" pitchFamily="34" charset="0"/>
                <a:ea typeface="Malgun Gothic" pitchFamily="34" charset="-122"/>
                <a:cs typeface="Malgun Gothic" pitchFamily="34" charset="-120"/>
              </a:rPr>
              <a:t>공개 중계의 메모리 기반 제한은 여러 인스턴스의 고객별 사용량을 보장하는 과금 장치가 아니다.</a:t>
            </a:r>
            <a:endParaRPr lang="en-US" sz="114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548640" y="274320"/>
            <a:ext cx="10058400" cy="228600"/>
          </a:xfrm>
          <a:prstGeom prst="rect">
            <a:avLst/>
          </a:prstGeom>
          <a:noFill/>
          <a:ln/>
        </p:spPr>
        <p:txBody>
          <a:bodyPr wrap="square" lIns="0" tIns="0" rIns="0" bIns="0" rtlCol="0" anchor="ctr">
            <a:normAutofit/>
          </a:bodyPr>
          <a:lstStyle/>
          <a:p>
            <a:pPr indent="0" marL="0">
              <a:buNone/>
            </a:pPr>
            <a:r>
              <a:rPr lang="en-US" sz="900" b="1" spc="160" kern="0" dirty="0">
                <a:solidFill>
                  <a:srgbClr val="7150E8"/>
                </a:solidFill>
                <a:latin typeface="Malgun Gothic" pitchFamily="34" charset="0"/>
                <a:ea typeface="Malgun Gothic" pitchFamily="34" charset="-122"/>
                <a:cs typeface="Malgun Gothic" pitchFamily="34" charset="-120"/>
              </a:rPr>
              <a:t>04 / GLOBAL READINESS</a:t>
            </a:r>
            <a:endParaRPr lang="en-US" sz="900" dirty="0"/>
          </a:p>
        </p:txBody>
      </p:sp>
      <p:sp>
        <p:nvSpPr>
          <p:cNvPr id="3" name="Text 1"/>
          <p:cNvSpPr/>
          <p:nvPr/>
        </p:nvSpPr>
        <p:spPr>
          <a:xfrm>
            <a:off x="548640" y="758952"/>
            <a:ext cx="11082528" cy="795528"/>
          </a:xfrm>
          <a:prstGeom prst="rect">
            <a:avLst/>
          </a:prstGeom>
          <a:noFill/>
          <a:ln/>
        </p:spPr>
        <p:txBody>
          <a:bodyPr wrap="square" lIns="0" tIns="0" rIns="0" bIns="0" rtlCol="0" anchor="ctr">
            <a:normAutofit/>
          </a:bodyPr>
          <a:lstStyle/>
          <a:p>
            <a:pPr indent="0" marL="0">
              <a:buNone/>
            </a:pPr>
            <a:r>
              <a:rPr lang="en-US" sz="2700" b="1" dirty="0">
                <a:solidFill>
                  <a:srgbClr val="20243A"/>
                </a:solidFill>
                <a:latin typeface="Malgun Gothic" pitchFamily="34" charset="0"/>
                <a:ea typeface="Malgun Gothic" pitchFamily="34" charset="-122"/>
                <a:cs typeface="Malgun Gothic" pitchFamily="34" charset="-120"/>
              </a:rPr>
              <a:t>글로벌화는 번역보다 판매 데이터와 운영 국가를 늘리는 일</a:t>
            </a:r>
            <a:endParaRPr lang="en-US" sz="2700" dirty="0"/>
          </a:p>
        </p:txBody>
      </p:sp>
      <p:sp>
        <p:nvSpPr>
          <p:cNvPr id="4" name="Shape 2"/>
          <p:cNvSpPr/>
          <p:nvPr/>
        </p:nvSpPr>
        <p:spPr>
          <a:xfrm>
            <a:off x="548640" y="1682496"/>
            <a:ext cx="11064240" cy="0"/>
          </a:xfrm>
          <a:prstGeom prst="line">
            <a:avLst/>
          </a:prstGeom>
          <a:noFill/>
          <a:ln w="12700">
            <a:solidFill>
              <a:srgbClr val="DDE2ED"/>
            </a:solidFill>
            <a:prstDash val="solid"/>
          </a:ln>
        </p:spPr>
      </p:sp>
      <p:sp>
        <p:nvSpPr>
          <p:cNvPr id="5" name="Text 3"/>
          <p:cNvSpPr/>
          <p:nvPr/>
        </p:nvSpPr>
        <p:spPr>
          <a:xfrm>
            <a:off x="548640" y="6519672"/>
            <a:ext cx="8869680" cy="164592"/>
          </a:xfrm>
          <a:prstGeom prst="rect">
            <a:avLst/>
          </a:prstGeom>
          <a:noFill/>
          <a:ln/>
        </p:spPr>
        <p:txBody>
          <a:bodyPr wrap="square" lIns="0" tIns="0" rIns="0" bIns="0" rtlCol="0" anchor="ctr">
            <a:normAutofit/>
          </a:bodyPr>
          <a:lstStyle/>
          <a:p>
            <a:pPr indent="0" marL="0">
              <a:buNone/>
            </a:pPr>
            <a:r>
              <a:rPr lang="en-US" sz="800" dirty="0">
                <a:solidFill>
                  <a:srgbClr val="677087"/>
                </a:solidFill>
                <a:latin typeface="Malgun Gothic" pitchFamily="34" charset="0"/>
                <a:ea typeface="Malgun Gothic" pitchFamily="34" charset="-122"/>
                <a:cs typeface="Malgun Gothic" pitchFamily="34" charset="-120"/>
              </a:rPr>
              <a:t>CleanTouch  |  사업화 현황 진단  |  2026.10.15</a:t>
            </a:r>
            <a:endParaRPr lang="en-US" sz="800" dirty="0"/>
          </a:p>
        </p:txBody>
      </p:sp>
      <p:sp>
        <p:nvSpPr>
          <p:cNvPr id="6" name="Text 4"/>
          <p:cNvSpPr/>
          <p:nvPr/>
        </p:nvSpPr>
        <p:spPr>
          <a:xfrm>
            <a:off x="10698480" y="6501384"/>
            <a:ext cx="914400" cy="182880"/>
          </a:xfrm>
          <a:prstGeom prst="rect">
            <a:avLst/>
          </a:prstGeom>
          <a:noFill/>
          <a:ln/>
        </p:spPr>
        <p:txBody>
          <a:bodyPr wrap="square" lIns="0" tIns="0" rIns="0" bIns="0" rtlCol="0" anchor="ctr">
            <a:normAutofit/>
          </a:bodyPr>
          <a:lstStyle/>
          <a:p>
            <a:pPr algn="r" indent="0" marL="0">
              <a:buNone/>
            </a:pPr>
            <a:r>
              <a:rPr lang="en-US" sz="800" dirty="0">
                <a:solidFill>
                  <a:srgbClr val="677087"/>
                </a:solidFill>
                <a:latin typeface="Malgun Gothic" pitchFamily="34" charset="0"/>
                <a:ea typeface="Malgun Gothic" pitchFamily="34" charset="-122"/>
                <a:cs typeface="Malgun Gothic" pitchFamily="34" charset="-120"/>
              </a:rPr>
              <a:t>19 / 24</a:t>
            </a:r>
            <a:endParaRPr lang="en-US" sz="800" dirty="0"/>
          </a:p>
        </p:txBody>
      </p:sp>
      <p:sp>
        <p:nvSpPr>
          <p:cNvPr id="7" name="Text 5"/>
          <p:cNvSpPr/>
          <p:nvPr/>
        </p:nvSpPr>
        <p:spPr>
          <a:xfrm>
            <a:off x="594360" y="6364224"/>
            <a:ext cx="10881360" cy="118872"/>
          </a:xfrm>
          <a:prstGeom prst="rect">
            <a:avLst/>
          </a:prstGeom>
          <a:noFill/>
          <a:ln/>
        </p:spPr>
        <p:txBody>
          <a:bodyPr wrap="square" lIns="0" tIns="0" rIns="0" bIns="0" rtlCol="0" anchor="ctr">
            <a:normAutofit/>
          </a:bodyPr>
          <a:lstStyle/>
          <a:p>
            <a:pPr indent="0" marL="0">
              <a:buNone/>
            </a:pPr>
            <a:r>
              <a:rPr lang="en-US" sz="700" dirty="0">
                <a:solidFill>
                  <a:srgbClr val="677087"/>
                </a:solidFill>
                <a:latin typeface="Malgun Gothic" pitchFamily="34" charset="0"/>
                <a:ea typeface="Malgun Gothic" pitchFamily="34" charset="-122"/>
                <a:cs typeface="Malgun Gothic" pitchFamily="34" charset="-120"/>
              </a:rPr>
              <a:t>S9 European Commission · International data protection</a:t>
            </a:r>
            <a:endParaRPr lang="en-US" sz="700" dirty="0"/>
          </a:p>
        </p:txBody>
      </p:sp>
      <p:sp>
        <p:nvSpPr>
          <p:cNvPr id="8" name="Shape 6"/>
          <p:cNvSpPr/>
          <p:nvPr/>
        </p:nvSpPr>
        <p:spPr>
          <a:xfrm>
            <a:off x="548640" y="1901952"/>
            <a:ext cx="5413248" cy="1700784"/>
          </a:xfrm>
          <a:prstGeom prst="roundRect">
            <a:avLst>
              <a:gd name="adj" fmla="val 8602"/>
            </a:avLst>
          </a:prstGeom>
          <a:solidFill>
            <a:srgbClr val="FFFFFF"/>
          </a:solidFill>
          <a:ln w="7620">
            <a:solidFill>
              <a:srgbClr val="DDE2ED"/>
            </a:solidFill>
            <a:prstDash val="solid"/>
          </a:ln>
        </p:spPr>
      </p:sp>
      <p:sp>
        <p:nvSpPr>
          <p:cNvPr id="9" name="Shape 7"/>
          <p:cNvSpPr/>
          <p:nvPr/>
        </p:nvSpPr>
        <p:spPr>
          <a:xfrm>
            <a:off x="713232" y="2112264"/>
            <a:ext cx="41148" cy="1280160"/>
          </a:xfrm>
          <a:prstGeom prst="rect">
            <a:avLst/>
          </a:prstGeom>
          <a:solidFill>
            <a:srgbClr val="7150E8"/>
          </a:solidFill>
          <a:ln w="12700">
            <a:solidFill>
              <a:srgbClr val="7150E8">
                <a:alpha val="0"/>
              </a:srgbClr>
            </a:solidFill>
            <a:prstDash val="solid"/>
          </a:ln>
        </p:spPr>
      </p:sp>
      <p:sp>
        <p:nvSpPr>
          <p:cNvPr id="10" name="Text 8"/>
          <p:cNvSpPr/>
          <p:nvPr/>
        </p:nvSpPr>
        <p:spPr>
          <a:xfrm>
            <a:off x="914400" y="2103120"/>
            <a:ext cx="4773168" cy="338328"/>
          </a:xfrm>
          <a:prstGeom prst="rect">
            <a:avLst/>
          </a:prstGeom>
          <a:noFill/>
          <a:ln/>
        </p:spPr>
        <p:txBody>
          <a:bodyPr wrap="square" lIns="0" tIns="0" rIns="0" bIns="0" rtlCol="0" anchor="ctr">
            <a:normAutofit/>
          </a:bodyPr>
          <a:lstStyle/>
          <a:p>
            <a:pPr indent="0" marL="0">
              <a:buNone/>
            </a:pPr>
            <a:r>
              <a:rPr lang="en-US" sz="1700" b="1" dirty="0">
                <a:solidFill>
                  <a:srgbClr val="7150E8"/>
                </a:solidFill>
                <a:latin typeface="Malgun Gothic" pitchFamily="34" charset="0"/>
                <a:ea typeface="Malgun Gothic" pitchFamily="34" charset="-122"/>
                <a:cs typeface="Malgun Gothic" pitchFamily="34" charset="-120"/>
              </a:rPr>
              <a:t>상품·판매 데이터</a:t>
            </a:r>
            <a:endParaRPr lang="en-US" sz="1700" dirty="0"/>
          </a:p>
        </p:txBody>
      </p:sp>
      <p:sp>
        <p:nvSpPr>
          <p:cNvPr id="11" name="Text 9"/>
          <p:cNvSpPr/>
          <p:nvPr/>
        </p:nvSpPr>
        <p:spPr>
          <a:xfrm>
            <a:off x="914400" y="2679192"/>
            <a:ext cx="4718304" cy="758952"/>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국가별 SKU·색/사이즈 체계·현지 판매처·배송</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통화·세금/관세 표시 · 품절·링크 갱신 정책</a:t>
            </a:r>
            <a:endParaRPr lang="en-US" sz="1500" dirty="0"/>
          </a:p>
        </p:txBody>
      </p:sp>
      <p:sp>
        <p:nvSpPr>
          <p:cNvPr id="12" name="Shape 10"/>
          <p:cNvSpPr/>
          <p:nvPr/>
        </p:nvSpPr>
        <p:spPr>
          <a:xfrm>
            <a:off x="6217920" y="1901952"/>
            <a:ext cx="5413248" cy="1700784"/>
          </a:xfrm>
          <a:prstGeom prst="roundRect">
            <a:avLst>
              <a:gd name="adj" fmla="val 8602"/>
            </a:avLst>
          </a:prstGeom>
          <a:solidFill>
            <a:srgbClr val="FFFFFF"/>
          </a:solidFill>
          <a:ln w="7620">
            <a:solidFill>
              <a:srgbClr val="DDE2ED"/>
            </a:solidFill>
            <a:prstDash val="solid"/>
          </a:ln>
        </p:spPr>
      </p:sp>
      <p:sp>
        <p:nvSpPr>
          <p:cNvPr id="13" name="Shape 11"/>
          <p:cNvSpPr/>
          <p:nvPr/>
        </p:nvSpPr>
        <p:spPr>
          <a:xfrm>
            <a:off x="6382512" y="2112264"/>
            <a:ext cx="41148" cy="1280160"/>
          </a:xfrm>
          <a:prstGeom prst="rect">
            <a:avLst/>
          </a:prstGeom>
          <a:solidFill>
            <a:srgbClr val="147D7A"/>
          </a:solidFill>
          <a:ln w="12700">
            <a:solidFill>
              <a:srgbClr val="147D7A">
                <a:alpha val="0"/>
              </a:srgbClr>
            </a:solidFill>
            <a:prstDash val="solid"/>
          </a:ln>
        </p:spPr>
      </p:sp>
      <p:sp>
        <p:nvSpPr>
          <p:cNvPr id="14" name="Text 12"/>
          <p:cNvSpPr/>
          <p:nvPr/>
        </p:nvSpPr>
        <p:spPr>
          <a:xfrm>
            <a:off x="6583680" y="2103120"/>
            <a:ext cx="4773168" cy="338328"/>
          </a:xfrm>
          <a:prstGeom prst="rect">
            <a:avLst/>
          </a:prstGeom>
          <a:noFill/>
          <a:ln/>
        </p:spPr>
        <p:txBody>
          <a:bodyPr wrap="square" lIns="0" tIns="0" rIns="0" bIns="0" rtlCol="0" anchor="ctr">
            <a:normAutofit/>
          </a:bodyPr>
          <a:lstStyle/>
          <a:p>
            <a:pPr indent="0" marL="0">
              <a:buNone/>
            </a:pPr>
            <a:r>
              <a:rPr lang="en-US" sz="1700" b="1" dirty="0">
                <a:solidFill>
                  <a:srgbClr val="147D7A"/>
                </a:solidFill>
                <a:latin typeface="Malgun Gothic" pitchFamily="34" charset="0"/>
                <a:ea typeface="Malgun Gothic" pitchFamily="34" charset="-122"/>
                <a:cs typeface="Malgun Gothic" pitchFamily="34" charset="-120"/>
              </a:rPr>
              <a:t>언어와 사용 경험</a:t>
            </a:r>
            <a:endParaRPr lang="en-US" sz="1700" dirty="0"/>
          </a:p>
        </p:txBody>
      </p:sp>
      <p:sp>
        <p:nvSpPr>
          <p:cNvPr id="15" name="Text 13"/>
          <p:cNvSpPr/>
          <p:nvPr/>
        </p:nvSpPr>
        <p:spPr>
          <a:xfrm>
            <a:off x="6583680" y="2679192"/>
            <a:ext cx="4718304" cy="758952"/>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한·영 UI/검색/음성부터 검증 · 현지 단위/시간</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접근성·저사양 기기 · 국가별 결제 실패 대응</a:t>
            </a:r>
            <a:endParaRPr lang="en-US" sz="1500" dirty="0"/>
          </a:p>
        </p:txBody>
      </p:sp>
      <p:sp>
        <p:nvSpPr>
          <p:cNvPr id="16" name="Shape 14"/>
          <p:cNvSpPr/>
          <p:nvPr/>
        </p:nvSpPr>
        <p:spPr>
          <a:xfrm>
            <a:off x="548640" y="3785616"/>
            <a:ext cx="5413248" cy="1700784"/>
          </a:xfrm>
          <a:prstGeom prst="roundRect">
            <a:avLst>
              <a:gd name="adj" fmla="val 8602"/>
            </a:avLst>
          </a:prstGeom>
          <a:solidFill>
            <a:srgbClr val="FFFFFF"/>
          </a:solidFill>
          <a:ln w="7620">
            <a:solidFill>
              <a:srgbClr val="DDE2ED"/>
            </a:solidFill>
            <a:prstDash val="solid"/>
          </a:ln>
        </p:spPr>
      </p:sp>
      <p:sp>
        <p:nvSpPr>
          <p:cNvPr id="17" name="Shape 15"/>
          <p:cNvSpPr/>
          <p:nvPr/>
        </p:nvSpPr>
        <p:spPr>
          <a:xfrm>
            <a:off x="713232" y="3995928"/>
            <a:ext cx="41148" cy="1280160"/>
          </a:xfrm>
          <a:prstGeom prst="rect">
            <a:avLst/>
          </a:prstGeom>
          <a:solidFill>
            <a:srgbClr val="7150E8"/>
          </a:solidFill>
          <a:ln w="12700">
            <a:solidFill>
              <a:srgbClr val="7150E8">
                <a:alpha val="0"/>
              </a:srgbClr>
            </a:solidFill>
            <a:prstDash val="solid"/>
          </a:ln>
        </p:spPr>
      </p:sp>
      <p:sp>
        <p:nvSpPr>
          <p:cNvPr id="18" name="Text 16"/>
          <p:cNvSpPr/>
          <p:nvPr/>
        </p:nvSpPr>
        <p:spPr>
          <a:xfrm>
            <a:off x="914400" y="3986784"/>
            <a:ext cx="4773168" cy="338328"/>
          </a:xfrm>
          <a:prstGeom prst="rect">
            <a:avLst/>
          </a:prstGeom>
          <a:noFill/>
          <a:ln/>
        </p:spPr>
        <p:txBody>
          <a:bodyPr wrap="square" lIns="0" tIns="0" rIns="0" bIns="0" rtlCol="0" anchor="ctr">
            <a:normAutofit/>
          </a:bodyPr>
          <a:lstStyle/>
          <a:p>
            <a:pPr indent="0" marL="0">
              <a:buNone/>
            </a:pPr>
            <a:r>
              <a:rPr lang="en-US" sz="1700" b="1" dirty="0">
                <a:solidFill>
                  <a:srgbClr val="7150E8"/>
                </a:solidFill>
                <a:latin typeface="Malgun Gothic" pitchFamily="34" charset="0"/>
                <a:ea typeface="Malgun Gothic" pitchFamily="34" charset="-122"/>
                <a:cs typeface="Malgun Gothic" pitchFamily="34" charset="-120"/>
              </a:rPr>
              <a:t>정책과 신뢰</a:t>
            </a:r>
            <a:endParaRPr lang="en-US" sz="1700" dirty="0"/>
          </a:p>
        </p:txBody>
      </p:sp>
      <p:sp>
        <p:nvSpPr>
          <p:cNvPr id="19" name="Text 17"/>
          <p:cNvSpPr/>
          <p:nvPr/>
        </p:nvSpPr>
        <p:spPr>
          <a:xfrm>
            <a:off x="914400" y="4562856"/>
            <a:ext cx="4718304" cy="758952"/>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개인정보·국외 이전·삭제 요청·소비자 고지</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스토어/판매처 정책·상품 이미지 사용권 확인</a:t>
            </a:r>
            <a:endParaRPr lang="en-US" sz="1500" dirty="0"/>
          </a:p>
        </p:txBody>
      </p:sp>
      <p:sp>
        <p:nvSpPr>
          <p:cNvPr id="20" name="Shape 18"/>
          <p:cNvSpPr/>
          <p:nvPr/>
        </p:nvSpPr>
        <p:spPr>
          <a:xfrm>
            <a:off x="6217920" y="3785616"/>
            <a:ext cx="5413248" cy="1700784"/>
          </a:xfrm>
          <a:prstGeom prst="roundRect">
            <a:avLst>
              <a:gd name="adj" fmla="val 8602"/>
            </a:avLst>
          </a:prstGeom>
          <a:solidFill>
            <a:srgbClr val="FFFFFF"/>
          </a:solidFill>
          <a:ln w="7620">
            <a:solidFill>
              <a:srgbClr val="DDE2ED"/>
            </a:solidFill>
            <a:prstDash val="solid"/>
          </a:ln>
        </p:spPr>
      </p:sp>
      <p:sp>
        <p:nvSpPr>
          <p:cNvPr id="21" name="Shape 19"/>
          <p:cNvSpPr/>
          <p:nvPr/>
        </p:nvSpPr>
        <p:spPr>
          <a:xfrm>
            <a:off x="6382512" y="3995928"/>
            <a:ext cx="41148" cy="1280160"/>
          </a:xfrm>
          <a:prstGeom prst="rect">
            <a:avLst/>
          </a:prstGeom>
          <a:solidFill>
            <a:srgbClr val="147D7A"/>
          </a:solidFill>
          <a:ln w="12700">
            <a:solidFill>
              <a:srgbClr val="147D7A">
                <a:alpha val="0"/>
              </a:srgbClr>
            </a:solidFill>
            <a:prstDash val="solid"/>
          </a:ln>
        </p:spPr>
      </p:sp>
      <p:sp>
        <p:nvSpPr>
          <p:cNvPr id="22" name="Text 20"/>
          <p:cNvSpPr/>
          <p:nvPr/>
        </p:nvSpPr>
        <p:spPr>
          <a:xfrm>
            <a:off x="6583680" y="3986784"/>
            <a:ext cx="4773168" cy="338328"/>
          </a:xfrm>
          <a:prstGeom prst="rect">
            <a:avLst/>
          </a:prstGeom>
          <a:noFill/>
          <a:ln/>
        </p:spPr>
        <p:txBody>
          <a:bodyPr wrap="square" lIns="0" tIns="0" rIns="0" bIns="0" rtlCol="0" anchor="ctr">
            <a:normAutofit/>
          </a:bodyPr>
          <a:lstStyle/>
          <a:p>
            <a:pPr indent="0" marL="0">
              <a:buNone/>
            </a:pPr>
            <a:r>
              <a:rPr lang="en-US" sz="1700" b="1" dirty="0">
                <a:solidFill>
                  <a:srgbClr val="147D7A"/>
                </a:solidFill>
                <a:latin typeface="Malgun Gothic" pitchFamily="34" charset="0"/>
                <a:ea typeface="Malgun Gothic" pitchFamily="34" charset="-122"/>
                <a:cs typeface="Malgun Gothic" pitchFamily="34" charset="-120"/>
              </a:rPr>
              <a:t>진입 순서 · 제안</a:t>
            </a:r>
            <a:endParaRPr lang="en-US" sz="1700" dirty="0"/>
          </a:p>
        </p:txBody>
      </p:sp>
      <p:sp>
        <p:nvSpPr>
          <p:cNvPr id="23" name="Text 21"/>
          <p:cNvSpPr/>
          <p:nvPr/>
        </p:nvSpPr>
        <p:spPr>
          <a:xfrm>
            <a:off x="6583680" y="4562856"/>
            <a:ext cx="4718304" cy="758952"/>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한국의 제한 카탈로그 실증 → 영어권 한 국가</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현지 공급·지원 파트너 확보 후 다음 국가 확대</a:t>
            </a:r>
            <a:endParaRPr lang="en-US" sz="1500" dirty="0"/>
          </a:p>
        </p:txBody>
      </p:sp>
      <p:sp>
        <p:nvSpPr>
          <p:cNvPr id="24" name="Shape 22"/>
          <p:cNvSpPr/>
          <p:nvPr/>
        </p:nvSpPr>
        <p:spPr>
          <a:xfrm>
            <a:off x="548640" y="5824728"/>
            <a:ext cx="11082528" cy="438912"/>
          </a:xfrm>
          <a:prstGeom prst="roundRect">
            <a:avLst>
              <a:gd name="adj" fmla="val 33333"/>
            </a:avLst>
          </a:prstGeom>
          <a:solidFill>
            <a:srgbClr val="EEE9FD"/>
          </a:solidFill>
          <a:ln w="7620">
            <a:solidFill>
              <a:srgbClr val="EEE9FD"/>
            </a:solidFill>
            <a:prstDash val="solid"/>
          </a:ln>
        </p:spPr>
      </p:sp>
      <p:sp>
        <p:nvSpPr>
          <p:cNvPr id="25" name="Text 23"/>
          <p:cNvSpPr/>
          <p:nvPr/>
        </p:nvSpPr>
        <p:spPr>
          <a:xfrm>
            <a:off x="731520" y="5916168"/>
            <a:ext cx="10698480" cy="237744"/>
          </a:xfrm>
          <a:prstGeom prst="rect">
            <a:avLst/>
          </a:prstGeom>
          <a:noFill/>
          <a:ln/>
        </p:spPr>
        <p:txBody>
          <a:bodyPr wrap="square" lIns="0" tIns="0" rIns="0" bIns="0" rtlCol="0" anchor="ctr">
            <a:normAutofit/>
          </a:bodyPr>
          <a:lstStyle/>
          <a:p>
            <a:pPr indent="0" marL="0">
              <a:buNone/>
            </a:pPr>
            <a:r>
              <a:rPr lang="en-US" sz="1140" b="1" dirty="0">
                <a:solidFill>
                  <a:srgbClr val="7150E8"/>
                </a:solidFill>
                <a:latin typeface="Malgun Gothic" pitchFamily="34" charset="0"/>
                <a:ea typeface="Malgun Gothic" pitchFamily="34" charset="-122"/>
                <a:cs typeface="Malgun Gothic" pitchFamily="34" charset="-120"/>
              </a:rPr>
              <a:t>해외 진출의 합격 기준은 언어 수가 아니라, 해당 국가에서 실제 구매 가능한 상품을 찾는 비율이다.</a:t>
            </a:r>
            <a:endParaRPr lang="en-US" sz="114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548640" y="274320"/>
            <a:ext cx="10058400" cy="228600"/>
          </a:xfrm>
          <a:prstGeom prst="rect">
            <a:avLst/>
          </a:prstGeom>
          <a:noFill/>
          <a:ln/>
        </p:spPr>
        <p:txBody>
          <a:bodyPr wrap="square" lIns="0" tIns="0" rIns="0" bIns="0" rtlCol="0" anchor="ctr">
            <a:normAutofit/>
          </a:bodyPr>
          <a:lstStyle/>
          <a:p>
            <a:pPr indent="0" marL="0">
              <a:buNone/>
            </a:pPr>
            <a:r>
              <a:rPr lang="en-US" sz="900" b="1" spc="160" kern="0" dirty="0">
                <a:solidFill>
                  <a:srgbClr val="7150E8"/>
                </a:solidFill>
                <a:latin typeface="Malgun Gothic" pitchFamily="34" charset="0"/>
                <a:ea typeface="Malgun Gothic" pitchFamily="34" charset="-122"/>
                <a:cs typeface="Malgun Gothic" pitchFamily="34" charset="-120"/>
              </a:rPr>
              <a:t>05 / PROPOSED RELEASE GATES</a:t>
            </a:r>
            <a:endParaRPr lang="en-US" sz="900" dirty="0"/>
          </a:p>
        </p:txBody>
      </p:sp>
      <p:sp>
        <p:nvSpPr>
          <p:cNvPr id="3" name="Text 1"/>
          <p:cNvSpPr/>
          <p:nvPr/>
        </p:nvSpPr>
        <p:spPr>
          <a:xfrm>
            <a:off x="548640" y="758952"/>
            <a:ext cx="11082528" cy="795528"/>
          </a:xfrm>
          <a:prstGeom prst="rect">
            <a:avLst/>
          </a:prstGeom>
          <a:noFill/>
          <a:ln/>
        </p:spPr>
        <p:txBody>
          <a:bodyPr wrap="square" lIns="0" tIns="0" rIns="0" bIns="0" rtlCol="0" anchor="ctr">
            <a:normAutofit/>
          </a:bodyPr>
          <a:lstStyle/>
          <a:p>
            <a:pPr indent="0" marL="0">
              <a:buNone/>
            </a:pPr>
            <a:r>
              <a:rPr lang="en-US" sz="2700" b="1" dirty="0">
                <a:solidFill>
                  <a:srgbClr val="20243A"/>
                </a:solidFill>
                <a:latin typeface="Malgun Gothic" pitchFamily="34" charset="0"/>
                <a:ea typeface="Malgun Gothic" pitchFamily="34" charset="-122"/>
                <a:cs typeface="Malgun Gothic" pitchFamily="34" charset="-120"/>
              </a:rPr>
              <a:t>출시 판단은 테스트 수가 아니라 고객 결과로 한다</a:t>
            </a:r>
            <a:endParaRPr lang="en-US" sz="2700" dirty="0"/>
          </a:p>
        </p:txBody>
      </p:sp>
      <p:sp>
        <p:nvSpPr>
          <p:cNvPr id="4" name="Shape 2"/>
          <p:cNvSpPr/>
          <p:nvPr/>
        </p:nvSpPr>
        <p:spPr>
          <a:xfrm>
            <a:off x="548640" y="1682496"/>
            <a:ext cx="11064240" cy="0"/>
          </a:xfrm>
          <a:prstGeom prst="line">
            <a:avLst/>
          </a:prstGeom>
          <a:noFill/>
          <a:ln w="12700">
            <a:solidFill>
              <a:srgbClr val="DDE2ED"/>
            </a:solidFill>
            <a:prstDash val="solid"/>
          </a:ln>
        </p:spPr>
      </p:sp>
      <p:sp>
        <p:nvSpPr>
          <p:cNvPr id="5" name="Text 3"/>
          <p:cNvSpPr/>
          <p:nvPr/>
        </p:nvSpPr>
        <p:spPr>
          <a:xfrm>
            <a:off x="548640" y="6519672"/>
            <a:ext cx="8869680" cy="164592"/>
          </a:xfrm>
          <a:prstGeom prst="rect">
            <a:avLst/>
          </a:prstGeom>
          <a:noFill/>
          <a:ln/>
        </p:spPr>
        <p:txBody>
          <a:bodyPr wrap="square" lIns="0" tIns="0" rIns="0" bIns="0" rtlCol="0" anchor="ctr">
            <a:normAutofit/>
          </a:bodyPr>
          <a:lstStyle/>
          <a:p>
            <a:pPr indent="0" marL="0">
              <a:buNone/>
            </a:pPr>
            <a:r>
              <a:rPr lang="en-US" sz="800" dirty="0">
                <a:solidFill>
                  <a:srgbClr val="677087"/>
                </a:solidFill>
                <a:latin typeface="Malgun Gothic" pitchFamily="34" charset="0"/>
                <a:ea typeface="Malgun Gothic" pitchFamily="34" charset="-122"/>
                <a:cs typeface="Malgun Gothic" pitchFamily="34" charset="-120"/>
              </a:rPr>
              <a:t>CleanTouch  |  사업화 현황 진단  |  2026.10.15</a:t>
            </a:r>
            <a:endParaRPr lang="en-US" sz="800" dirty="0"/>
          </a:p>
        </p:txBody>
      </p:sp>
      <p:sp>
        <p:nvSpPr>
          <p:cNvPr id="6" name="Text 4"/>
          <p:cNvSpPr/>
          <p:nvPr/>
        </p:nvSpPr>
        <p:spPr>
          <a:xfrm>
            <a:off x="10698480" y="6501384"/>
            <a:ext cx="914400" cy="182880"/>
          </a:xfrm>
          <a:prstGeom prst="rect">
            <a:avLst/>
          </a:prstGeom>
          <a:noFill/>
          <a:ln/>
        </p:spPr>
        <p:txBody>
          <a:bodyPr wrap="square" lIns="0" tIns="0" rIns="0" bIns="0" rtlCol="0" anchor="ctr">
            <a:normAutofit/>
          </a:bodyPr>
          <a:lstStyle/>
          <a:p>
            <a:pPr algn="r" indent="0" marL="0">
              <a:buNone/>
            </a:pPr>
            <a:r>
              <a:rPr lang="en-US" sz="800" dirty="0">
                <a:solidFill>
                  <a:srgbClr val="677087"/>
                </a:solidFill>
                <a:latin typeface="Malgun Gothic" pitchFamily="34" charset="0"/>
                <a:ea typeface="Malgun Gothic" pitchFamily="34" charset="-122"/>
                <a:cs typeface="Malgun Gothic" pitchFamily="34" charset="-120"/>
              </a:rPr>
              <a:t>20 / 24</a:t>
            </a:r>
            <a:endParaRPr lang="en-US" sz="800" dirty="0"/>
          </a:p>
        </p:txBody>
      </p:sp>
      <p:sp>
        <p:nvSpPr>
          <p:cNvPr id="7" name="Shape 5"/>
          <p:cNvSpPr/>
          <p:nvPr/>
        </p:nvSpPr>
        <p:spPr>
          <a:xfrm>
            <a:off x="548640" y="1901952"/>
            <a:ext cx="2377440" cy="614172"/>
          </a:xfrm>
          <a:prstGeom prst="rect">
            <a:avLst/>
          </a:prstGeom>
          <a:solidFill>
            <a:srgbClr val="171A2D"/>
          </a:solidFill>
          <a:ln w="12700">
            <a:solidFill>
              <a:srgbClr val="171A2D"/>
            </a:solidFill>
            <a:prstDash val="solid"/>
          </a:ln>
        </p:spPr>
      </p:sp>
      <p:sp>
        <p:nvSpPr>
          <p:cNvPr id="8" name="Text 6"/>
          <p:cNvSpPr/>
          <p:nvPr/>
        </p:nvSpPr>
        <p:spPr>
          <a:xfrm>
            <a:off x="685800" y="2011680"/>
            <a:ext cx="2103120" cy="431292"/>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지표</a:t>
            </a:r>
            <a:endParaRPr lang="en-US" sz="1400" dirty="0"/>
          </a:p>
        </p:txBody>
      </p:sp>
      <p:sp>
        <p:nvSpPr>
          <p:cNvPr id="9" name="Shape 7"/>
          <p:cNvSpPr/>
          <p:nvPr/>
        </p:nvSpPr>
        <p:spPr>
          <a:xfrm>
            <a:off x="2926080" y="1901952"/>
            <a:ext cx="4709160" cy="614172"/>
          </a:xfrm>
          <a:prstGeom prst="rect">
            <a:avLst/>
          </a:prstGeom>
          <a:solidFill>
            <a:srgbClr val="171A2D"/>
          </a:solidFill>
          <a:ln w="12700">
            <a:solidFill>
              <a:srgbClr val="171A2D"/>
            </a:solidFill>
            <a:prstDash val="solid"/>
          </a:ln>
        </p:spPr>
      </p:sp>
      <p:sp>
        <p:nvSpPr>
          <p:cNvPr id="10" name="Text 8"/>
          <p:cNvSpPr/>
          <p:nvPr/>
        </p:nvSpPr>
        <p:spPr>
          <a:xfrm>
            <a:off x="3063240" y="2011680"/>
            <a:ext cx="4434840" cy="431292"/>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측정 방법</a:t>
            </a:r>
            <a:endParaRPr lang="en-US" sz="1400" dirty="0"/>
          </a:p>
        </p:txBody>
      </p:sp>
      <p:sp>
        <p:nvSpPr>
          <p:cNvPr id="11" name="Shape 9"/>
          <p:cNvSpPr/>
          <p:nvPr/>
        </p:nvSpPr>
        <p:spPr>
          <a:xfrm>
            <a:off x="7635240" y="1901952"/>
            <a:ext cx="3977640" cy="614172"/>
          </a:xfrm>
          <a:prstGeom prst="rect">
            <a:avLst/>
          </a:prstGeom>
          <a:solidFill>
            <a:srgbClr val="171A2D"/>
          </a:solidFill>
          <a:ln w="12700">
            <a:solidFill>
              <a:srgbClr val="171A2D"/>
            </a:solidFill>
            <a:prstDash val="solid"/>
          </a:ln>
        </p:spPr>
      </p:sp>
      <p:sp>
        <p:nvSpPr>
          <p:cNvPr id="12" name="Text 10"/>
          <p:cNvSpPr/>
          <p:nvPr/>
        </p:nvSpPr>
        <p:spPr>
          <a:xfrm>
            <a:off x="7772400" y="2011680"/>
            <a:ext cx="3703320" cy="431292"/>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파일럿 목표 예시</a:t>
            </a:r>
            <a:endParaRPr lang="en-US" sz="1400" dirty="0"/>
          </a:p>
        </p:txBody>
      </p:sp>
      <p:sp>
        <p:nvSpPr>
          <p:cNvPr id="13" name="Shape 11"/>
          <p:cNvSpPr/>
          <p:nvPr/>
        </p:nvSpPr>
        <p:spPr>
          <a:xfrm>
            <a:off x="548640" y="2516124"/>
            <a:ext cx="2377440" cy="614172"/>
          </a:xfrm>
          <a:prstGeom prst="rect">
            <a:avLst/>
          </a:prstGeom>
          <a:solidFill>
            <a:srgbClr val="FFFFFF"/>
          </a:solidFill>
          <a:ln w="6350">
            <a:solidFill>
              <a:srgbClr val="DDE2ED"/>
            </a:solidFill>
            <a:prstDash val="solid"/>
          </a:ln>
        </p:spPr>
      </p:sp>
      <p:sp>
        <p:nvSpPr>
          <p:cNvPr id="14" name="Text 12"/>
          <p:cNvSpPr/>
          <p:nvPr/>
        </p:nvSpPr>
        <p:spPr>
          <a:xfrm>
            <a:off x="685800" y="2616708"/>
            <a:ext cx="2103120" cy="431292"/>
          </a:xfrm>
          <a:prstGeom prst="rect">
            <a:avLst/>
          </a:prstGeom>
          <a:noFill/>
          <a:ln/>
        </p:spPr>
        <p:txBody>
          <a:bodyPr wrap="square" lIns="0" tIns="0" rIns="0" bIns="0" rtlCol="0" anchor="ctr">
            <a:normAutofit/>
          </a:bodyPr>
          <a:lstStyle/>
          <a:p>
            <a:pPr indent="0" marL="0">
              <a:buNone/>
            </a:pPr>
            <a:r>
              <a:rPr lang="en-US" sz="1330" b="1" dirty="0">
                <a:solidFill>
                  <a:srgbClr val="7150E8"/>
                </a:solidFill>
                <a:latin typeface="Malgun Gothic" pitchFamily="34" charset="0"/>
                <a:ea typeface="Malgun Gothic" pitchFamily="34" charset="-122"/>
                <a:cs typeface="Malgun Gothic" pitchFamily="34" charset="-120"/>
              </a:rPr>
              <a:t>동일 상품 오표시율</a:t>
            </a:r>
            <a:endParaRPr lang="en-US" sz="1330" dirty="0"/>
          </a:p>
        </p:txBody>
      </p:sp>
      <p:sp>
        <p:nvSpPr>
          <p:cNvPr id="15" name="Shape 13"/>
          <p:cNvSpPr/>
          <p:nvPr/>
        </p:nvSpPr>
        <p:spPr>
          <a:xfrm>
            <a:off x="2926080" y="2516124"/>
            <a:ext cx="4709160" cy="614172"/>
          </a:xfrm>
          <a:prstGeom prst="rect">
            <a:avLst/>
          </a:prstGeom>
          <a:solidFill>
            <a:srgbClr val="FFFFFF"/>
          </a:solidFill>
          <a:ln w="6350">
            <a:solidFill>
              <a:srgbClr val="DDE2ED"/>
            </a:solidFill>
            <a:prstDash val="solid"/>
          </a:ln>
        </p:spPr>
      </p:sp>
      <p:sp>
        <p:nvSpPr>
          <p:cNvPr id="16" name="Text 14"/>
          <p:cNvSpPr/>
          <p:nvPr/>
        </p:nvSpPr>
        <p:spPr>
          <a:xfrm>
            <a:off x="3063240" y="2616708"/>
            <a:ext cx="443484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동일 모델이라고 표시한 결과 중 오답 비율</a:t>
            </a:r>
            <a:endParaRPr lang="en-US" sz="1330" dirty="0"/>
          </a:p>
        </p:txBody>
      </p:sp>
      <p:sp>
        <p:nvSpPr>
          <p:cNvPr id="17" name="Shape 15"/>
          <p:cNvSpPr/>
          <p:nvPr/>
        </p:nvSpPr>
        <p:spPr>
          <a:xfrm>
            <a:off x="7635240" y="2516124"/>
            <a:ext cx="3977640" cy="614172"/>
          </a:xfrm>
          <a:prstGeom prst="rect">
            <a:avLst/>
          </a:prstGeom>
          <a:solidFill>
            <a:srgbClr val="FFFFFF"/>
          </a:solidFill>
          <a:ln w="6350">
            <a:solidFill>
              <a:srgbClr val="DDE2ED"/>
            </a:solidFill>
            <a:prstDash val="solid"/>
          </a:ln>
        </p:spPr>
      </p:sp>
      <p:sp>
        <p:nvSpPr>
          <p:cNvPr id="18" name="Text 16"/>
          <p:cNvSpPr/>
          <p:nvPr/>
        </p:nvSpPr>
        <p:spPr>
          <a:xfrm>
            <a:off x="7772400" y="2616708"/>
            <a:ext cx="370332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1% 이하 · 가려진 상품 등 별도 집계</a:t>
            </a:r>
            <a:endParaRPr lang="en-US" sz="1330" dirty="0"/>
          </a:p>
        </p:txBody>
      </p:sp>
      <p:sp>
        <p:nvSpPr>
          <p:cNvPr id="19" name="Shape 17"/>
          <p:cNvSpPr/>
          <p:nvPr/>
        </p:nvSpPr>
        <p:spPr>
          <a:xfrm>
            <a:off x="548640" y="3130296"/>
            <a:ext cx="2377440" cy="614172"/>
          </a:xfrm>
          <a:prstGeom prst="rect">
            <a:avLst/>
          </a:prstGeom>
          <a:solidFill>
            <a:srgbClr val="F8F9FC"/>
          </a:solidFill>
          <a:ln w="6350">
            <a:solidFill>
              <a:srgbClr val="DDE2ED"/>
            </a:solidFill>
            <a:prstDash val="solid"/>
          </a:ln>
        </p:spPr>
      </p:sp>
      <p:sp>
        <p:nvSpPr>
          <p:cNvPr id="20" name="Text 18"/>
          <p:cNvSpPr/>
          <p:nvPr/>
        </p:nvSpPr>
        <p:spPr>
          <a:xfrm>
            <a:off x="685800" y="3230880"/>
            <a:ext cx="2103120" cy="431292"/>
          </a:xfrm>
          <a:prstGeom prst="rect">
            <a:avLst/>
          </a:prstGeom>
          <a:noFill/>
          <a:ln/>
        </p:spPr>
        <p:txBody>
          <a:bodyPr wrap="square" lIns="0" tIns="0" rIns="0" bIns="0" rtlCol="0" anchor="ctr">
            <a:normAutofit/>
          </a:bodyPr>
          <a:lstStyle/>
          <a:p>
            <a:pPr indent="0" marL="0">
              <a:buNone/>
            </a:pPr>
            <a:r>
              <a:rPr lang="en-US" sz="1330" b="1" dirty="0">
                <a:solidFill>
                  <a:srgbClr val="7150E8"/>
                </a:solidFill>
                <a:latin typeface="Malgun Gothic" pitchFamily="34" charset="0"/>
                <a:ea typeface="Malgun Gothic" pitchFamily="34" charset="-122"/>
                <a:cs typeface="Malgun Gothic" pitchFamily="34" charset="-120"/>
              </a:rPr>
              <a:t>카탈로그 Top-1</a:t>
            </a:r>
            <a:endParaRPr lang="en-US" sz="1330" dirty="0"/>
          </a:p>
        </p:txBody>
      </p:sp>
      <p:sp>
        <p:nvSpPr>
          <p:cNvPr id="21" name="Shape 19"/>
          <p:cNvSpPr/>
          <p:nvPr/>
        </p:nvSpPr>
        <p:spPr>
          <a:xfrm>
            <a:off x="2926080" y="3130296"/>
            <a:ext cx="4709160" cy="614172"/>
          </a:xfrm>
          <a:prstGeom prst="rect">
            <a:avLst/>
          </a:prstGeom>
          <a:solidFill>
            <a:srgbClr val="F8F9FC"/>
          </a:solidFill>
          <a:ln w="6350">
            <a:solidFill>
              <a:srgbClr val="DDE2ED"/>
            </a:solidFill>
            <a:prstDash val="solid"/>
          </a:ln>
        </p:spPr>
      </p:sp>
      <p:sp>
        <p:nvSpPr>
          <p:cNvPr id="22" name="Text 20"/>
          <p:cNvSpPr/>
          <p:nvPr/>
        </p:nvSpPr>
        <p:spPr>
          <a:xfrm>
            <a:off x="3063240" y="3230880"/>
            <a:ext cx="443484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정답 SKU가 포함된 평가셋의 첫 후보 정확도</a:t>
            </a:r>
            <a:endParaRPr lang="en-US" sz="1330" dirty="0"/>
          </a:p>
        </p:txBody>
      </p:sp>
      <p:sp>
        <p:nvSpPr>
          <p:cNvPr id="23" name="Shape 21"/>
          <p:cNvSpPr/>
          <p:nvPr/>
        </p:nvSpPr>
        <p:spPr>
          <a:xfrm>
            <a:off x="7635240" y="3130296"/>
            <a:ext cx="3977640" cy="614172"/>
          </a:xfrm>
          <a:prstGeom prst="rect">
            <a:avLst/>
          </a:prstGeom>
          <a:solidFill>
            <a:srgbClr val="F8F9FC"/>
          </a:solidFill>
          <a:ln w="6350">
            <a:solidFill>
              <a:srgbClr val="DDE2ED"/>
            </a:solidFill>
            <a:prstDash val="solid"/>
          </a:ln>
        </p:spPr>
      </p:sp>
      <p:sp>
        <p:nvSpPr>
          <p:cNvPr id="24" name="Text 22"/>
          <p:cNvSpPr/>
          <p:nvPr/>
        </p:nvSpPr>
        <p:spPr>
          <a:xfrm>
            <a:off x="7772400" y="3230880"/>
            <a:ext cx="370332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90% 이상 · 범위 밖 입력과 분리</a:t>
            </a:r>
            <a:endParaRPr lang="en-US" sz="1330" dirty="0"/>
          </a:p>
        </p:txBody>
      </p:sp>
      <p:sp>
        <p:nvSpPr>
          <p:cNvPr id="25" name="Shape 23"/>
          <p:cNvSpPr/>
          <p:nvPr/>
        </p:nvSpPr>
        <p:spPr>
          <a:xfrm>
            <a:off x="548640" y="3744468"/>
            <a:ext cx="2377440" cy="614172"/>
          </a:xfrm>
          <a:prstGeom prst="rect">
            <a:avLst/>
          </a:prstGeom>
          <a:solidFill>
            <a:srgbClr val="FFFFFF"/>
          </a:solidFill>
          <a:ln w="6350">
            <a:solidFill>
              <a:srgbClr val="DDE2ED"/>
            </a:solidFill>
            <a:prstDash val="solid"/>
          </a:ln>
        </p:spPr>
      </p:sp>
      <p:sp>
        <p:nvSpPr>
          <p:cNvPr id="26" name="Text 24"/>
          <p:cNvSpPr/>
          <p:nvPr/>
        </p:nvSpPr>
        <p:spPr>
          <a:xfrm>
            <a:off x="685800" y="3845052"/>
            <a:ext cx="2103120" cy="431292"/>
          </a:xfrm>
          <a:prstGeom prst="rect">
            <a:avLst/>
          </a:prstGeom>
          <a:noFill/>
          <a:ln/>
        </p:spPr>
        <p:txBody>
          <a:bodyPr wrap="square" lIns="0" tIns="0" rIns="0" bIns="0" rtlCol="0" anchor="ctr">
            <a:normAutofit/>
          </a:bodyPr>
          <a:lstStyle/>
          <a:p>
            <a:pPr indent="0" marL="0">
              <a:buNone/>
            </a:pPr>
            <a:r>
              <a:rPr lang="en-US" sz="1330" b="1" dirty="0">
                <a:solidFill>
                  <a:srgbClr val="7150E8"/>
                </a:solidFill>
                <a:latin typeface="Malgun Gothic" pitchFamily="34" charset="0"/>
                <a:ea typeface="Malgun Gothic" pitchFamily="34" charset="-122"/>
                <a:cs typeface="Malgun Gothic" pitchFamily="34" charset="-120"/>
              </a:rPr>
              <a:t>판매 페이지 유효성</a:t>
            </a:r>
            <a:endParaRPr lang="en-US" sz="1330" dirty="0"/>
          </a:p>
        </p:txBody>
      </p:sp>
      <p:sp>
        <p:nvSpPr>
          <p:cNvPr id="27" name="Shape 25"/>
          <p:cNvSpPr/>
          <p:nvPr/>
        </p:nvSpPr>
        <p:spPr>
          <a:xfrm>
            <a:off x="2926080" y="3744468"/>
            <a:ext cx="4709160" cy="614172"/>
          </a:xfrm>
          <a:prstGeom prst="rect">
            <a:avLst/>
          </a:prstGeom>
          <a:solidFill>
            <a:srgbClr val="FFFFFF"/>
          </a:solidFill>
          <a:ln w="6350">
            <a:solidFill>
              <a:srgbClr val="DDE2ED"/>
            </a:solidFill>
            <a:prstDash val="solid"/>
          </a:ln>
        </p:spPr>
      </p:sp>
      <p:sp>
        <p:nvSpPr>
          <p:cNvPr id="28" name="Text 26"/>
          <p:cNvSpPr/>
          <p:nvPr/>
        </p:nvSpPr>
        <p:spPr>
          <a:xfrm>
            <a:off x="3063240" y="3845052"/>
            <a:ext cx="443484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후보 링크가 실제 해당 SKU/옵션 상세인지</a:t>
            </a:r>
            <a:endParaRPr lang="en-US" sz="1330" dirty="0"/>
          </a:p>
        </p:txBody>
      </p:sp>
      <p:sp>
        <p:nvSpPr>
          <p:cNvPr id="29" name="Shape 27"/>
          <p:cNvSpPr/>
          <p:nvPr/>
        </p:nvSpPr>
        <p:spPr>
          <a:xfrm>
            <a:off x="7635240" y="3744468"/>
            <a:ext cx="3977640" cy="614172"/>
          </a:xfrm>
          <a:prstGeom prst="rect">
            <a:avLst/>
          </a:prstGeom>
          <a:solidFill>
            <a:srgbClr val="FFFFFF"/>
          </a:solidFill>
          <a:ln w="6350">
            <a:solidFill>
              <a:srgbClr val="DDE2ED"/>
            </a:solidFill>
            <a:prstDash val="solid"/>
          </a:ln>
        </p:spPr>
      </p:sp>
      <p:sp>
        <p:nvSpPr>
          <p:cNvPr id="30" name="Text 28"/>
          <p:cNvSpPr/>
          <p:nvPr/>
        </p:nvSpPr>
        <p:spPr>
          <a:xfrm>
            <a:off x="7772400" y="3845052"/>
            <a:ext cx="370332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98% 이상 · 품절은 별도 표시</a:t>
            </a:r>
            <a:endParaRPr lang="en-US" sz="1330" dirty="0"/>
          </a:p>
        </p:txBody>
      </p:sp>
      <p:sp>
        <p:nvSpPr>
          <p:cNvPr id="31" name="Shape 29"/>
          <p:cNvSpPr/>
          <p:nvPr/>
        </p:nvSpPr>
        <p:spPr>
          <a:xfrm>
            <a:off x="548640" y="4358640"/>
            <a:ext cx="2377440" cy="614172"/>
          </a:xfrm>
          <a:prstGeom prst="rect">
            <a:avLst/>
          </a:prstGeom>
          <a:solidFill>
            <a:srgbClr val="F8F9FC"/>
          </a:solidFill>
          <a:ln w="6350">
            <a:solidFill>
              <a:srgbClr val="DDE2ED"/>
            </a:solidFill>
            <a:prstDash val="solid"/>
          </a:ln>
        </p:spPr>
      </p:sp>
      <p:sp>
        <p:nvSpPr>
          <p:cNvPr id="32" name="Text 30"/>
          <p:cNvSpPr/>
          <p:nvPr/>
        </p:nvSpPr>
        <p:spPr>
          <a:xfrm>
            <a:off x="685800" y="4459224"/>
            <a:ext cx="2103120" cy="431292"/>
          </a:xfrm>
          <a:prstGeom prst="rect">
            <a:avLst/>
          </a:prstGeom>
          <a:noFill/>
          <a:ln/>
        </p:spPr>
        <p:txBody>
          <a:bodyPr wrap="square" lIns="0" tIns="0" rIns="0" bIns="0" rtlCol="0" anchor="ctr">
            <a:normAutofit/>
          </a:bodyPr>
          <a:lstStyle/>
          <a:p>
            <a:pPr indent="0" marL="0">
              <a:buNone/>
            </a:pPr>
            <a:r>
              <a:rPr lang="en-US" sz="1330" b="1" dirty="0">
                <a:solidFill>
                  <a:srgbClr val="7150E8"/>
                </a:solidFill>
                <a:latin typeface="Malgun Gothic" pitchFamily="34" charset="0"/>
                <a:ea typeface="Malgun Gothic" pitchFamily="34" charset="-122"/>
                <a:cs typeface="Malgun Gothic" pitchFamily="34" charset="-120"/>
              </a:rPr>
              <a:t>응답/안정성</a:t>
            </a:r>
            <a:endParaRPr lang="en-US" sz="1330" dirty="0"/>
          </a:p>
        </p:txBody>
      </p:sp>
      <p:sp>
        <p:nvSpPr>
          <p:cNvPr id="33" name="Shape 31"/>
          <p:cNvSpPr/>
          <p:nvPr/>
        </p:nvSpPr>
        <p:spPr>
          <a:xfrm>
            <a:off x="2926080" y="4358640"/>
            <a:ext cx="4709160" cy="614172"/>
          </a:xfrm>
          <a:prstGeom prst="rect">
            <a:avLst/>
          </a:prstGeom>
          <a:solidFill>
            <a:srgbClr val="F8F9FC"/>
          </a:solidFill>
          <a:ln w="6350">
            <a:solidFill>
              <a:srgbClr val="DDE2ED"/>
            </a:solidFill>
            <a:prstDash val="solid"/>
          </a:ln>
        </p:spPr>
      </p:sp>
      <p:sp>
        <p:nvSpPr>
          <p:cNvPr id="34" name="Text 32"/>
          <p:cNvSpPr/>
          <p:nvPr/>
        </p:nvSpPr>
        <p:spPr>
          <a:xfrm>
            <a:off x="3063240" y="4459224"/>
            <a:ext cx="443484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응답 95%가 도착하는 시간 / 무중단 세션 비율</a:t>
            </a:r>
            <a:endParaRPr lang="en-US" sz="1330" dirty="0"/>
          </a:p>
        </p:txBody>
      </p:sp>
      <p:sp>
        <p:nvSpPr>
          <p:cNvPr id="35" name="Shape 33"/>
          <p:cNvSpPr/>
          <p:nvPr/>
        </p:nvSpPr>
        <p:spPr>
          <a:xfrm>
            <a:off x="7635240" y="4358640"/>
            <a:ext cx="3977640" cy="614172"/>
          </a:xfrm>
          <a:prstGeom prst="rect">
            <a:avLst/>
          </a:prstGeom>
          <a:solidFill>
            <a:srgbClr val="F8F9FC"/>
          </a:solidFill>
          <a:ln w="6350">
            <a:solidFill>
              <a:srgbClr val="DDE2ED"/>
            </a:solidFill>
            <a:prstDash val="solid"/>
          </a:ln>
        </p:spPr>
      </p:sp>
      <p:sp>
        <p:nvSpPr>
          <p:cNvPr id="36" name="Text 34"/>
          <p:cNvSpPr/>
          <p:nvPr/>
        </p:nvSpPr>
        <p:spPr>
          <a:xfrm>
            <a:off x="7772400" y="4459224"/>
            <a:ext cx="370332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10초 이내 / 99.5% 이상</a:t>
            </a:r>
            <a:endParaRPr lang="en-US" sz="1330" dirty="0"/>
          </a:p>
        </p:txBody>
      </p:sp>
      <p:sp>
        <p:nvSpPr>
          <p:cNvPr id="37" name="Shape 35"/>
          <p:cNvSpPr/>
          <p:nvPr/>
        </p:nvSpPr>
        <p:spPr>
          <a:xfrm>
            <a:off x="548640" y="4972812"/>
            <a:ext cx="2377440" cy="614172"/>
          </a:xfrm>
          <a:prstGeom prst="rect">
            <a:avLst/>
          </a:prstGeom>
          <a:solidFill>
            <a:srgbClr val="FFFFFF"/>
          </a:solidFill>
          <a:ln w="6350">
            <a:solidFill>
              <a:srgbClr val="DDE2ED"/>
            </a:solidFill>
            <a:prstDash val="solid"/>
          </a:ln>
        </p:spPr>
      </p:sp>
      <p:sp>
        <p:nvSpPr>
          <p:cNvPr id="38" name="Text 36"/>
          <p:cNvSpPr/>
          <p:nvPr/>
        </p:nvSpPr>
        <p:spPr>
          <a:xfrm>
            <a:off x="685800" y="5073396"/>
            <a:ext cx="2103120" cy="431292"/>
          </a:xfrm>
          <a:prstGeom prst="rect">
            <a:avLst/>
          </a:prstGeom>
          <a:noFill/>
          <a:ln/>
        </p:spPr>
        <p:txBody>
          <a:bodyPr wrap="square" lIns="0" tIns="0" rIns="0" bIns="0" rtlCol="0" anchor="ctr">
            <a:normAutofit/>
          </a:bodyPr>
          <a:lstStyle/>
          <a:p>
            <a:pPr indent="0" marL="0">
              <a:buNone/>
            </a:pPr>
            <a:r>
              <a:rPr lang="en-US" sz="1330" b="1" dirty="0">
                <a:solidFill>
                  <a:srgbClr val="7150E8"/>
                </a:solidFill>
                <a:latin typeface="Malgun Gothic" pitchFamily="34" charset="0"/>
                <a:ea typeface="Malgun Gothic" pitchFamily="34" charset="-122"/>
                <a:cs typeface="Malgun Gothic" pitchFamily="34" charset="-120"/>
              </a:rPr>
              <a:t>사업성과 원가</a:t>
            </a:r>
            <a:endParaRPr lang="en-US" sz="1330" dirty="0"/>
          </a:p>
        </p:txBody>
      </p:sp>
      <p:sp>
        <p:nvSpPr>
          <p:cNvPr id="39" name="Shape 37"/>
          <p:cNvSpPr/>
          <p:nvPr/>
        </p:nvSpPr>
        <p:spPr>
          <a:xfrm>
            <a:off x="2926080" y="4972812"/>
            <a:ext cx="4709160" cy="614172"/>
          </a:xfrm>
          <a:prstGeom prst="rect">
            <a:avLst/>
          </a:prstGeom>
          <a:solidFill>
            <a:srgbClr val="FFFFFF"/>
          </a:solidFill>
          <a:ln w="6350">
            <a:solidFill>
              <a:srgbClr val="DDE2ED"/>
            </a:solidFill>
            <a:prstDash val="solid"/>
          </a:ln>
        </p:spPr>
      </p:sp>
      <p:sp>
        <p:nvSpPr>
          <p:cNvPr id="40" name="Text 38"/>
          <p:cNvSpPr/>
          <p:nvPr/>
        </p:nvSpPr>
        <p:spPr>
          <a:xfrm>
            <a:off x="3063240" y="5073396"/>
            <a:ext cx="443484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업무 시간·구매 완료·성공당 원가·유지율</a:t>
            </a:r>
            <a:endParaRPr lang="en-US" sz="1330" dirty="0"/>
          </a:p>
        </p:txBody>
      </p:sp>
      <p:sp>
        <p:nvSpPr>
          <p:cNvPr id="41" name="Shape 39"/>
          <p:cNvSpPr/>
          <p:nvPr/>
        </p:nvSpPr>
        <p:spPr>
          <a:xfrm>
            <a:off x="7635240" y="4972812"/>
            <a:ext cx="3977640" cy="614172"/>
          </a:xfrm>
          <a:prstGeom prst="rect">
            <a:avLst/>
          </a:prstGeom>
          <a:solidFill>
            <a:srgbClr val="FFFFFF"/>
          </a:solidFill>
          <a:ln w="6350">
            <a:solidFill>
              <a:srgbClr val="DDE2ED"/>
            </a:solidFill>
            <a:prstDash val="solid"/>
          </a:ln>
        </p:spPr>
      </p:sp>
      <p:sp>
        <p:nvSpPr>
          <p:cNvPr id="42" name="Text 40"/>
          <p:cNvSpPr/>
          <p:nvPr/>
        </p:nvSpPr>
        <p:spPr>
          <a:xfrm>
            <a:off x="7772400" y="5073396"/>
            <a:ext cx="3703320" cy="431292"/>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고객별 목표 합의 후 유료 전환</a:t>
            </a:r>
            <a:endParaRPr lang="en-US" sz="1330" dirty="0"/>
          </a:p>
        </p:txBody>
      </p:sp>
      <p:sp>
        <p:nvSpPr>
          <p:cNvPr id="43" name="Shape 41"/>
          <p:cNvSpPr/>
          <p:nvPr/>
        </p:nvSpPr>
        <p:spPr>
          <a:xfrm>
            <a:off x="548640" y="5824728"/>
            <a:ext cx="11082528" cy="438912"/>
          </a:xfrm>
          <a:prstGeom prst="roundRect">
            <a:avLst>
              <a:gd name="adj" fmla="val 33333"/>
            </a:avLst>
          </a:prstGeom>
          <a:solidFill>
            <a:srgbClr val="EEE9FD"/>
          </a:solidFill>
          <a:ln w="7620">
            <a:solidFill>
              <a:srgbClr val="EEE9FD"/>
            </a:solidFill>
            <a:prstDash val="solid"/>
          </a:ln>
        </p:spPr>
      </p:sp>
      <p:sp>
        <p:nvSpPr>
          <p:cNvPr id="44" name="Text 42"/>
          <p:cNvSpPr/>
          <p:nvPr/>
        </p:nvSpPr>
        <p:spPr>
          <a:xfrm>
            <a:off x="731520" y="5916168"/>
            <a:ext cx="10698480" cy="237744"/>
          </a:xfrm>
          <a:prstGeom prst="rect">
            <a:avLst/>
          </a:prstGeom>
          <a:noFill/>
          <a:ln/>
        </p:spPr>
        <p:txBody>
          <a:bodyPr wrap="square" lIns="0" tIns="0" rIns="0" bIns="0" rtlCol="0" anchor="ctr">
            <a:normAutofit/>
          </a:bodyPr>
          <a:lstStyle/>
          <a:p>
            <a:pPr indent="0" marL="0">
              <a:buNone/>
            </a:pPr>
            <a:r>
              <a:rPr lang="en-US" sz="1140" b="1" dirty="0">
                <a:solidFill>
                  <a:srgbClr val="7150E8"/>
                </a:solidFill>
                <a:latin typeface="Malgun Gothic" pitchFamily="34" charset="0"/>
                <a:ea typeface="Malgun Gothic" pitchFamily="34" charset="-122"/>
                <a:cs typeface="Malgun Gothic" pitchFamily="34" charset="-120"/>
              </a:rPr>
              <a:t>모든 수치는 제안 목표이며 현재 달성값이 아니다. 오답과 “모르겠음”, 카탈로그 밖 입력을 분리한다.</a:t>
            </a:r>
            <a:endParaRPr lang="en-US" sz="114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548640" y="274320"/>
            <a:ext cx="10058400" cy="228600"/>
          </a:xfrm>
          <a:prstGeom prst="rect">
            <a:avLst/>
          </a:prstGeom>
          <a:noFill/>
          <a:ln/>
        </p:spPr>
        <p:txBody>
          <a:bodyPr wrap="square" lIns="0" tIns="0" rIns="0" bIns="0" rtlCol="0" anchor="ctr">
            <a:normAutofit/>
          </a:bodyPr>
          <a:lstStyle/>
          <a:p>
            <a:pPr indent="0" marL="0">
              <a:buNone/>
            </a:pPr>
            <a:r>
              <a:rPr lang="en-US" sz="900" b="1" spc="160" kern="0" dirty="0">
                <a:solidFill>
                  <a:srgbClr val="7150E8"/>
                </a:solidFill>
                <a:latin typeface="Malgun Gothic" pitchFamily="34" charset="0"/>
                <a:ea typeface="Malgun Gothic" pitchFamily="34" charset="-122"/>
                <a:cs typeface="Malgun Gothic" pitchFamily="34" charset="-120"/>
              </a:rPr>
              <a:t>05 / PHASED EXECUTION</a:t>
            </a:r>
            <a:endParaRPr lang="en-US" sz="900" dirty="0"/>
          </a:p>
        </p:txBody>
      </p:sp>
      <p:sp>
        <p:nvSpPr>
          <p:cNvPr id="3" name="Text 1"/>
          <p:cNvSpPr/>
          <p:nvPr/>
        </p:nvSpPr>
        <p:spPr>
          <a:xfrm>
            <a:off x="548640" y="758952"/>
            <a:ext cx="11082528" cy="795528"/>
          </a:xfrm>
          <a:prstGeom prst="rect">
            <a:avLst/>
          </a:prstGeom>
          <a:noFill/>
          <a:ln/>
        </p:spPr>
        <p:txBody>
          <a:bodyPr wrap="square" lIns="0" tIns="0" rIns="0" bIns="0" rtlCol="0" anchor="ctr">
            <a:normAutofit/>
          </a:bodyPr>
          <a:lstStyle/>
          <a:p>
            <a:pPr indent="0" marL="0">
              <a:buNone/>
            </a:pPr>
            <a:r>
              <a:rPr lang="en-US" sz="2700" b="1" dirty="0">
                <a:solidFill>
                  <a:srgbClr val="20243A"/>
                </a:solidFill>
                <a:latin typeface="Malgun Gothic" pitchFamily="34" charset="0"/>
                <a:ea typeface="Malgun Gothic" pitchFamily="34" charset="-122"/>
                <a:cs typeface="Malgun Gothic" pitchFamily="34" charset="-120"/>
              </a:rPr>
              <a:t>완료 날짜보다 통과 조건으로 다음 투자를 결정한다</a:t>
            </a:r>
            <a:endParaRPr lang="en-US" sz="2700" dirty="0"/>
          </a:p>
        </p:txBody>
      </p:sp>
      <p:sp>
        <p:nvSpPr>
          <p:cNvPr id="4" name="Shape 2"/>
          <p:cNvSpPr/>
          <p:nvPr/>
        </p:nvSpPr>
        <p:spPr>
          <a:xfrm>
            <a:off x="548640" y="1682496"/>
            <a:ext cx="11064240" cy="0"/>
          </a:xfrm>
          <a:prstGeom prst="line">
            <a:avLst/>
          </a:prstGeom>
          <a:noFill/>
          <a:ln w="12700">
            <a:solidFill>
              <a:srgbClr val="DDE2ED"/>
            </a:solidFill>
            <a:prstDash val="solid"/>
          </a:ln>
        </p:spPr>
      </p:sp>
      <p:sp>
        <p:nvSpPr>
          <p:cNvPr id="5" name="Text 3"/>
          <p:cNvSpPr/>
          <p:nvPr/>
        </p:nvSpPr>
        <p:spPr>
          <a:xfrm>
            <a:off x="548640" y="6519672"/>
            <a:ext cx="8869680" cy="164592"/>
          </a:xfrm>
          <a:prstGeom prst="rect">
            <a:avLst/>
          </a:prstGeom>
          <a:noFill/>
          <a:ln/>
        </p:spPr>
        <p:txBody>
          <a:bodyPr wrap="square" lIns="0" tIns="0" rIns="0" bIns="0" rtlCol="0" anchor="ctr">
            <a:normAutofit/>
          </a:bodyPr>
          <a:lstStyle/>
          <a:p>
            <a:pPr indent="0" marL="0">
              <a:buNone/>
            </a:pPr>
            <a:r>
              <a:rPr lang="en-US" sz="800" dirty="0">
                <a:solidFill>
                  <a:srgbClr val="677087"/>
                </a:solidFill>
                <a:latin typeface="Malgun Gothic" pitchFamily="34" charset="0"/>
                <a:ea typeface="Malgun Gothic" pitchFamily="34" charset="-122"/>
                <a:cs typeface="Malgun Gothic" pitchFamily="34" charset="-120"/>
              </a:rPr>
              <a:t>CleanTouch  |  사업화 현황 진단  |  2026.10.15</a:t>
            </a:r>
            <a:endParaRPr lang="en-US" sz="800" dirty="0"/>
          </a:p>
        </p:txBody>
      </p:sp>
      <p:sp>
        <p:nvSpPr>
          <p:cNvPr id="6" name="Text 4"/>
          <p:cNvSpPr/>
          <p:nvPr/>
        </p:nvSpPr>
        <p:spPr>
          <a:xfrm>
            <a:off x="10698480" y="6501384"/>
            <a:ext cx="914400" cy="182880"/>
          </a:xfrm>
          <a:prstGeom prst="rect">
            <a:avLst/>
          </a:prstGeom>
          <a:noFill/>
          <a:ln/>
        </p:spPr>
        <p:txBody>
          <a:bodyPr wrap="square" lIns="0" tIns="0" rIns="0" bIns="0" rtlCol="0" anchor="ctr">
            <a:normAutofit/>
          </a:bodyPr>
          <a:lstStyle/>
          <a:p>
            <a:pPr algn="r" indent="0" marL="0">
              <a:buNone/>
            </a:pPr>
            <a:r>
              <a:rPr lang="en-US" sz="800" dirty="0">
                <a:solidFill>
                  <a:srgbClr val="677087"/>
                </a:solidFill>
                <a:latin typeface="Malgun Gothic" pitchFamily="34" charset="0"/>
                <a:ea typeface="Malgun Gothic" pitchFamily="34" charset="-122"/>
                <a:cs typeface="Malgun Gothic" pitchFamily="34" charset="-120"/>
              </a:rPr>
              <a:t>21 / 24</a:t>
            </a:r>
            <a:endParaRPr lang="en-US" sz="800" dirty="0"/>
          </a:p>
        </p:txBody>
      </p:sp>
      <p:sp>
        <p:nvSpPr>
          <p:cNvPr id="7" name="Shape 5"/>
          <p:cNvSpPr/>
          <p:nvPr/>
        </p:nvSpPr>
        <p:spPr>
          <a:xfrm>
            <a:off x="548640" y="1901952"/>
            <a:ext cx="2377440" cy="737006"/>
          </a:xfrm>
          <a:prstGeom prst="rect">
            <a:avLst/>
          </a:prstGeom>
          <a:solidFill>
            <a:srgbClr val="171A2D"/>
          </a:solidFill>
          <a:ln w="12700">
            <a:solidFill>
              <a:srgbClr val="171A2D"/>
            </a:solidFill>
            <a:prstDash val="solid"/>
          </a:ln>
        </p:spPr>
      </p:sp>
      <p:sp>
        <p:nvSpPr>
          <p:cNvPr id="8" name="Text 6"/>
          <p:cNvSpPr/>
          <p:nvPr/>
        </p:nvSpPr>
        <p:spPr>
          <a:xfrm>
            <a:off x="685800" y="2011680"/>
            <a:ext cx="2103120" cy="554126"/>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단계·예상 범위</a:t>
            </a:r>
            <a:endParaRPr lang="en-US" sz="1400" dirty="0"/>
          </a:p>
        </p:txBody>
      </p:sp>
      <p:sp>
        <p:nvSpPr>
          <p:cNvPr id="9" name="Shape 7"/>
          <p:cNvSpPr/>
          <p:nvPr/>
        </p:nvSpPr>
        <p:spPr>
          <a:xfrm>
            <a:off x="2926080" y="1901952"/>
            <a:ext cx="4663440" cy="737006"/>
          </a:xfrm>
          <a:prstGeom prst="rect">
            <a:avLst/>
          </a:prstGeom>
          <a:solidFill>
            <a:srgbClr val="171A2D"/>
          </a:solidFill>
          <a:ln w="12700">
            <a:solidFill>
              <a:srgbClr val="171A2D"/>
            </a:solidFill>
            <a:prstDash val="solid"/>
          </a:ln>
        </p:spPr>
      </p:sp>
      <p:sp>
        <p:nvSpPr>
          <p:cNvPr id="10" name="Text 8"/>
          <p:cNvSpPr/>
          <p:nvPr/>
        </p:nvSpPr>
        <p:spPr>
          <a:xfrm>
            <a:off x="3063240" y="2011680"/>
            <a:ext cx="4389120" cy="554126"/>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핵심 산출물</a:t>
            </a:r>
            <a:endParaRPr lang="en-US" sz="1400" dirty="0"/>
          </a:p>
        </p:txBody>
      </p:sp>
      <p:sp>
        <p:nvSpPr>
          <p:cNvPr id="11" name="Shape 9"/>
          <p:cNvSpPr/>
          <p:nvPr/>
        </p:nvSpPr>
        <p:spPr>
          <a:xfrm>
            <a:off x="7589520" y="1901952"/>
            <a:ext cx="4023360" cy="737006"/>
          </a:xfrm>
          <a:prstGeom prst="rect">
            <a:avLst/>
          </a:prstGeom>
          <a:solidFill>
            <a:srgbClr val="171A2D"/>
          </a:solidFill>
          <a:ln w="12700">
            <a:solidFill>
              <a:srgbClr val="171A2D"/>
            </a:solidFill>
            <a:prstDash val="solid"/>
          </a:ln>
        </p:spPr>
      </p:sp>
      <p:sp>
        <p:nvSpPr>
          <p:cNvPr id="12" name="Text 10"/>
          <p:cNvSpPr/>
          <p:nvPr/>
        </p:nvSpPr>
        <p:spPr>
          <a:xfrm>
            <a:off x="7726680" y="2011680"/>
            <a:ext cx="3749040" cy="554126"/>
          </a:xfrm>
          <a:prstGeom prst="rect">
            <a:avLst/>
          </a:prstGeom>
          <a:noFill/>
          <a:ln/>
        </p:spPr>
        <p:txBody>
          <a:bodyPr wrap="square" lIns="0" tIns="0" rIns="0" bIns="0" rtlCol="0" anchor="ctr">
            <a:normAutofit/>
          </a:bodyP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다음 단계 조건</a:t>
            </a:r>
            <a:endParaRPr lang="en-US" sz="1400" dirty="0"/>
          </a:p>
        </p:txBody>
      </p:sp>
      <p:sp>
        <p:nvSpPr>
          <p:cNvPr id="13" name="Shape 11"/>
          <p:cNvSpPr/>
          <p:nvPr/>
        </p:nvSpPr>
        <p:spPr>
          <a:xfrm>
            <a:off x="548640" y="2638958"/>
            <a:ext cx="2377440" cy="737006"/>
          </a:xfrm>
          <a:prstGeom prst="rect">
            <a:avLst/>
          </a:prstGeom>
          <a:solidFill>
            <a:srgbClr val="FFFFFF"/>
          </a:solidFill>
          <a:ln w="6350">
            <a:solidFill>
              <a:srgbClr val="DDE2ED"/>
            </a:solidFill>
            <a:prstDash val="solid"/>
          </a:ln>
        </p:spPr>
      </p:sp>
      <p:sp>
        <p:nvSpPr>
          <p:cNvPr id="14" name="Text 12"/>
          <p:cNvSpPr/>
          <p:nvPr/>
        </p:nvSpPr>
        <p:spPr>
          <a:xfrm>
            <a:off x="685800" y="2739542"/>
            <a:ext cx="2103120" cy="554126"/>
          </a:xfrm>
          <a:prstGeom prst="rect">
            <a:avLst/>
          </a:prstGeom>
          <a:noFill/>
          <a:ln/>
        </p:spPr>
        <p:txBody>
          <a:bodyPr wrap="square" lIns="0" tIns="0" rIns="0" bIns="0" rtlCol="0" anchor="ctr">
            <a:normAutofit/>
          </a:bodyPr>
          <a:lstStyle/>
          <a:p>
            <a:pPr indent="0" marL="0">
              <a:buNone/>
            </a:pPr>
            <a:r>
              <a:rPr lang="en-US" sz="1330" b="1" dirty="0">
                <a:solidFill>
                  <a:srgbClr val="7150E8"/>
                </a:solidFill>
                <a:latin typeface="Malgun Gothic" pitchFamily="34" charset="0"/>
                <a:ea typeface="Malgun Gothic" pitchFamily="34" charset="-122"/>
                <a:cs typeface="Malgun Gothic" pitchFamily="34" charset="-120"/>
              </a:rPr>
              <a:t>0 · 1~2주</a:t>
            </a:r>
            <a:endParaRPr lang="en-US" sz="1330" dirty="0"/>
          </a:p>
        </p:txBody>
      </p:sp>
      <p:sp>
        <p:nvSpPr>
          <p:cNvPr id="15" name="Shape 13"/>
          <p:cNvSpPr/>
          <p:nvPr/>
        </p:nvSpPr>
        <p:spPr>
          <a:xfrm>
            <a:off x="2926080" y="2638958"/>
            <a:ext cx="4663440" cy="737006"/>
          </a:xfrm>
          <a:prstGeom prst="rect">
            <a:avLst/>
          </a:prstGeom>
          <a:solidFill>
            <a:srgbClr val="FFFFFF"/>
          </a:solidFill>
          <a:ln w="6350">
            <a:solidFill>
              <a:srgbClr val="DDE2ED"/>
            </a:solidFill>
            <a:prstDash val="solid"/>
          </a:ln>
        </p:spPr>
      </p:sp>
      <p:sp>
        <p:nvSpPr>
          <p:cNvPr id="16" name="Text 14"/>
          <p:cNvSpPr/>
          <p:nvPr/>
        </p:nvSpPr>
        <p:spPr>
          <a:xfrm>
            <a:off x="3063240" y="2739542"/>
            <a:ext cx="4389120" cy="554126"/>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상태/문서 정리·평가셋·공급 후보·원가 계측</a:t>
            </a:r>
            <a:endParaRPr lang="en-US" sz="1330" dirty="0"/>
          </a:p>
        </p:txBody>
      </p:sp>
      <p:sp>
        <p:nvSpPr>
          <p:cNvPr id="17" name="Shape 15"/>
          <p:cNvSpPr/>
          <p:nvPr/>
        </p:nvSpPr>
        <p:spPr>
          <a:xfrm>
            <a:off x="7589520" y="2638958"/>
            <a:ext cx="4023360" cy="737006"/>
          </a:xfrm>
          <a:prstGeom prst="rect">
            <a:avLst/>
          </a:prstGeom>
          <a:solidFill>
            <a:srgbClr val="FFFFFF"/>
          </a:solidFill>
          <a:ln w="6350">
            <a:solidFill>
              <a:srgbClr val="DDE2ED"/>
            </a:solidFill>
            <a:prstDash val="solid"/>
          </a:ln>
        </p:spPr>
      </p:sp>
      <p:sp>
        <p:nvSpPr>
          <p:cNvPr id="18" name="Text 16"/>
          <p:cNvSpPr/>
          <p:nvPr/>
        </p:nvSpPr>
        <p:spPr>
          <a:xfrm>
            <a:off x="7726680" y="2739542"/>
            <a:ext cx="3749040" cy="554126"/>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정답·실패·비용을 재현 가능하게 측정</a:t>
            </a:r>
            <a:endParaRPr lang="en-US" sz="1330" dirty="0"/>
          </a:p>
        </p:txBody>
      </p:sp>
      <p:sp>
        <p:nvSpPr>
          <p:cNvPr id="19" name="Shape 17"/>
          <p:cNvSpPr/>
          <p:nvPr/>
        </p:nvSpPr>
        <p:spPr>
          <a:xfrm>
            <a:off x="548640" y="3375965"/>
            <a:ext cx="2377440" cy="737006"/>
          </a:xfrm>
          <a:prstGeom prst="rect">
            <a:avLst/>
          </a:prstGeom>
          <a:solidFill>
            <a:srgbClr val="F8F9FC"/>
          </a:solidFill>
          <a:ln w="6350">
            <a:solidFill>
              <a:srgbClr val="DDE2ED"/>
            </a:solidFill>
            <a:prstDash val="solid"/>
          </a:ln>
        </p:spPr>
      </p:sp>
      <p:sp>
        <p:nvSpPr>
          <p:cNvPr id="20" name="Text 18"/>
          <p:cNvSpPr/>
          <p:nvPr/>
        </p:nvSpPr>
        <p:spPr>
          <a:xfrm>
            <a:off x="685800" y="3476549"/>
            <a:ext cx="2103120" cy="554126"/>
          </a:xfrm>
          <a:prstGeom prst="rect">
            <a:avLst/>
          </a:prstGeom>
          <a:noFill/>
          <a:ln/>
        </p:spPr>
        <p:txBody>
          <a:bodyPr wrap="square" lIns="0" tIns="0" rIns="0" bIns="0" rtlCol="0" anchor="ctr">
            <a:normAutofit/>
          </a:bodyPr>
          <a:lstStyle/>
          <a:p>
            <a:pPr indent="0" marL="0">
              <a:buNone/>
            </a:pPr>
            <a:r>
              <a:rPr lang="en-US" sz="1330" b="1" dirty="0">
                <a:solidFill>
                  <a:srgbClr val="7150E8"/>
                </a:solidFill>
                <a:latin typeface="Malgun Gothic" pitchFamily="34" charset="0"/>
                <a:ea typeface="Malgun Gothic" pitchFamily="34" charset="-122"/>
                <a:cs typeface="Malgun Gothic" pitchFamily="34" charset="-120"/>
              </a:rPr>
              <a:t>1 · 추가 3~4주</a:t>
            </a:r>
            <a:endParaRPr lang="en-US" sz="1330" dirty="0"/>
          </a:p>
        </p:txBody>
      </p:sp>
      <p:sp>
        <p:nvSpPr>
          <p:cNvPr id="21" name="Shape 19"/>
          <p:cNvSpPr/>
          <p:nvPr/>
        </p:nvSpPr>
        <p:spPr>
          <a:xfrm>
            <a:off x="2926080" y="3375965"/>
            <a:ext cx="4663440" cy="737006"/>
          </a:xfrm>
          <a:prstGeom prst="rect">
            <a:avLst/>
          </a:prstGeom>
          <a:solidFill>
            <a:srgbClr val="F8F9FC"/>
          </a:solidFill>
          <a:ln w="6350">
            <a:solidFill>
              <a:srgbClr val="DDE2ED"/>
            </a:solidFill>
            <a:prstDash val="solid"/>
          </a:ln>
        </p:spPr>
      </p:sp>
      <p:sp>
        <p:nvSpPr>
          <p:cNvPr id="22" name="Text 20"/>
          <p:cNvSpPr/>
          <p:nvPr/>
        </p:nvSpPr>
        <p:spPr>
          <a:xfrm>
            <a:off x="3063240" y="3476549"/>
            <a:ext cx="4389120" cy="554126"/>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제한 카탈로그 엔진·판매 URL 검증·SDK 실증</a:t>
            </a:r>
            <a:endParaRPr lang="en-US" sz="1330" dirty="0"/>
          </a:p>
        </p:txBody>
      </p:sp>
      <p:sp>
        <p:nvSpPr>
          <p:cNvPr id="23" name="Shape 21"/>
          <p:cNvSpPr/>
          <p:nvPr/>
        </p:nvSpPr>
        <p:spPr>
          <a:xfrm>
            <a:off x="7589520" y="3375965"/>
            <a:ext cx="4023360" cy="737006"/>
          </a:xfrm>
          <a:prstGeom prst="rect">
            <a:avLst/>
          </a:prstGeom>
          <a:solidFill>
            <a:srgbClr val="F8F9FC"/>
          </a:solidFill>
          <a:ln w="6350">
            <a:solidFill>
              <a:srgbClr val="DDE2ED"/>
            </a:solidFill>
            <a:prstDash val="solid"/>
          </a:ln>
        </p:spPr>
      </p:sp>
      <p:sp>
        <p:nvSpPr>
          <p:cNvPr id="24" name="Text 22"/>
          <p:cNvSpPr/>
          <p:nvPr/>
        </p:nvSpPr>
        <p:spPr>
          <a:xfrm>
            <a:off x="7726680" y="3476549"/>
            <a:ext cx="3749040" cy="554126"/>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2~3개 파트너의 데이터·권한 확보</a:t>
            </a:r>
            <a:endParaRPr lang="en-US" sz="1330" dirty="0"/>
          </a:p>
        </p:txBody>
      </p:sp>
      <p:sp>
        <p:nvSpPr>
          <p:cNvPr id="25" name="Shape 23"/>
          <p:cNvSpPr/>
          <p:nvPr/>
        </p:nvSpPr>
        <p:spPr>
          <a:xfrm>
            <a:off x="548640" y="4112971"/>
            <a:ext cx="2377440" cy="737006"/>
          </a:xfrm>
          <a:prstGeom prst="rect">
            <a:avLst/>
          </a:prstGeom>
          <a:solidFill>
            <a:srgbClr val="FFFFFF"/>
          </a:solidFill>
          <a:ln w="6350">
            <a:solidFill>
              <a:srgbClr val="DDE2ED"/>
            </a:solidFill>
            <a:prstDash val="solid"/>
          </a:ln>
        </p:spPr>
      </p:sp>
      <p:sp>
        <p:nvSpPr>
          <p:cNvPr id="26" name="Text 24"/>
          <p:cNvSpPr/>
          <p:nvPr/>
        </p:nvSpPr>
        <p:spPr>
          <a:xfrm>
            <a:off x="685800" y="4213555"/>
            <a:ext cx="2103120" cy="554126"/>
          </a:xfrm>
          <a:prstGeom prst="rect">
            <a:avLst/>
          </a:prstGeom>
          <a:noFill/>
          <a:ln/>
        </p:spPr>
        <p:txBody>
          <a:bodyPr wrap="square" lIns="0" tIns="0" rIns="0" bIns="0" rtlCol="0" anchor="ctr">
            <a:normAutofit/>
          </a:bodyPr>
          <a:lstStyle/>
          <a:p>
            <a:pPr indent="0" marL="0">
              <a:buNone/>
            </a:pPr>
            <a:r>
              <a:rPr lang="en-US" sz="1330" b="1" dirty="0">
                <a:solidFill>
                  <a:srgbClr val="7150E8"/>
                </a:solidFill>
                <a:latin typeface="Malgun Gothic" pitchFamily="34" charset="0"/>
                <a:ea typeface="Malgun Gothic" pitchFamily="34" charset="-122"/>
                <a:cs typeface="Malgun Gothic" pitchFamily="34" charset="-120"/>
              </a:rPr>
              <a:t>2 · 추가 4~6주</a:t>
            </a:r>
            <a:endParaRPr lang="en-US" sz="1330" dirty="0"/>
          </a:p>
        </p:txBody>
      </p:sp>
      <p:sp>
        <p:nvSpPr>
          <p:cNvPr id="27" name="Shape 25"/>
          <p:cNvSpPr/>
          <p:nvPr/>
        </p:nvSpPr>
        <p:spPr>
          <a:xfrm>
            <a:off x="2926080" y="4112971"/>
            <a:ext cx="4663440" cy="737006"/>
          </a:xfrm>
          <a:prstGeom prst="rect">
            <a:avLst/>
          </a:prstGeom>
          <a:solidFill>
            <a:srgbClr val="FFFFFF"/>
          </a:solidFill>
          <a:ln w="6350">
            <a:solidFill>
              <a:srgbClr val="DDE2ED"/>
            </a:solidFill>
            <a:prstDash val="solid"/>
          </a:ln>
        </p:spPr>
      </p:sp>
      <p:sp>
        <p:nvSpPr>
          <p:cNvPr id="28" name="Text 26"/>
          <p:cNvSpPr/>
          <p:nvPr/>
        </p:nvSpPr>
        <p:spPr>
          <a:xfrm>
            <a:off x="3063240" y="4213555"/>
            <a:ext cx="4389120" cy="554126"/>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인증/구독/사용량·Windows·Android 베타</a:t>
            </a:r>
            <a:endParaRPr lang="en-US" sz="1330" dirty="0"/>
          </a:p>
        </p:txBody>
      </p:sp>
      <p:sp>
        <p:nvSpPr>
          <p:cNvPr id="29" name="Shape 27"/>
          <p:cNvSpPr/>
          <p:nvPr/>
        </p:nvSpPr>
        <p:spPr>
          <a:xfrm>
            <a:off x="7589520" y="4112971"/>
            <a:ext cx="4023360" cy="737006"/>
          </a:xfrm>
          <a:prstGeom prst="rect">
            <a:avLst/>
          </a:prstGeom>
          <a:solidFill>
            <a:srgbClr val="FFFFFF"/>
          </a:solidFill>
          <a:ln w="6350">
            <a:solidFill>
              <a:srgbClr val="DDE2ED"/>
            </a:solidFill>
            <a:prstDash val="solid"/>
          </a:ln>
        </p:spPr>
      </p:sp>
      <p:sp>
        <p:nvSpPr>
          <p:cNvPr id="30" name="Text 28"/>
          <p:cNvSpPr/>
          <p:nvPr/>
        </p:nvSpPr>
        <p:spPr>
          <a:xfrm>
            <a:off x="7726680" y="4213555"/>
            <a:ext cx="3749040" cy="554126"/>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정확도/안정성 게이트·유료 이용 의향</a:t>
            </a:r>
            <a:endParaRPr lang="en-US" sz="1330" dirty="0"/>
          </a:p>
        </p:txBody>
      </p:sp>
      <p:sp>
        <p:nvSpPr>
          <p:cNvPr id="31" name="Shape 29"/>
          <p:cNvSpPr/>
          <p:nvPr/>
        </p:nvSpPr>
        <p:spPr>
          <a:xfrm>
            <a:off x="548640" y="4849978"/>
            <a:ext cx="2377440" cy="737006"/>
          </a:xfrm>
          <a:prstGeom prst="rect">
            <a:avLst/>
          </a:prstGeom>
          <a:solidFill>
            <a:srgbClr val="F8F9FC"/>
          </a:solidFill>
          <a:ln w="6350">
            <a:solidFill>
              <a:srgbClr val="DDE2ED"/>
            </a:solidFill>
            <a:prstDash val="solid"/>
          </a:ln>
        </p:spPr>
      </p:sp>
      <p:sp>
        <p:nvSpPr>
          <p:cNvPr id="32" name="Text 30"/>
          <p:cNvSpPr/>
          <p:nvPr/>
        </p:nvSpPr>
        <p:spPr>
          <a:xfrm>
            <a:off x="685800" y="4950562"/>
            <a:ext cx="2103120" cy="554126"/>
          </a:xfrm>
          <a:prstGeom prst="rect">
            <a:avLst/>
          </a:prstGeom>
          <a:noFill/>
          <a:ln/>
        </p:spPr>
        <p:txBody>
          <a:bodyPr wrap="square" lIns="0" tIns="0" rIns="0" bIns="0" rtlCol="0" anchor="ctr">
            <a:normAutofit/>
          </a:bodyPr>
          <a:lstStyle/>
          <a:p>
            <a:pPr indent="0" marL="0">
              <a:buNone/>
            </a:pPr>
            <a:r>
              <a:rPr lang="en-US" sz="1330" b="1" dirty="0">
                <a:solidFill>
                  <a:srgbClr val="7150E8"/>
                </a:solidFill>
                <a:latin typeface="Malgun Gothic" pitchFamily="34" charset="0"/>
                <a:ea typeface="Malgun Gothic" pitchFamily="34" charset="-122"/>
                <a:cs typeface="Malgun Gothic" pitchFamily="34" charset="-120"/>
              </a:rPr>
              <a:t>3 · 조건 충족 후</a:t>
            </a:r>
            <a:endParaRPr lang="en-US" sz="1330" dirty="0"/>
          </a:p>
        </p:txBody>
      </p:sp>
      <p:sp>
        <p:nvSpPr>
          <p:cNvPr id="33" name="Shape 31"/>
          <p:cNvSpPr/>
          <p:nvPr/>
        </p:nvSpPr>
        <p:spPr>
          <a:xfrm>
            <a:off x="2926080" y="4849978"/>
            <a:ext cx="4663440" cy="737006"/>
          </a:xfrm>
          <a:prstGeom prst="rect">
            <a:avLst/>
          </a:prstGeom>
          <a:solidFill>
            <a:srgbClr val="F8F9FC"/>
          </a:solidFill>
          <a:ln w="6350">
            <a:solidFill>
              <a:srgbClr val="DDE2ED"/>
            </a:solidFill>
            <a:prstDash val="solid"/>
          </a:ln>
        </p:spPr>
      </p:sp>
      <p:sp>
        <p:nvSpPr>
          <p:cNvPr id="34" name="Text 32"/>
          <p:cNvSpPr/>
          <p:nvPr/>
        </p:nvSpPr>
        <p:spPr>
          <a:xfrm>
            <a:off x="3063240" y="4950562"/>
            <a:ext cx="4389120" cy="554126"/>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MCP·팀 기능·영어권 한 국가 검증</a:t>
            </a:r>
            <a:endParaRPr lang="en-US" sz="1330" dirty="0"/>
          </a:p>
        </p:txBody>
      </p:sp>
      <p:sp>
        <p:nvSpPr>
          <p:cNvPr id="35" name="Shape 33"/>
          <p:cNvSpPr/>
          <p:nvPr/>
        </p:nvSpPr>
        <p:spPr>
          <a:xfrm>
            <a:off x="7589520" y="4849978"/>
            <a:ext cx="4023360" cy="737006"/>
          </a:xfrm>
          <a:prstGeom prst="rect">
            <a:avLst/>
          </a:prstGeom>
          <a:solidFill>
            <a:srgbClr val="F8F9FC"/>
          </a:solidFill>
          <a:ln w="6350">
            <a:solidFill>
              <a:srgbClr val="DDE2ED"/>
            </a:solidFill>
            <a:prstDash val="solid"/>
          </a:ln>
        </p:spPr>
      </p:sp>
      <p:sp>
        <p:nvSpPr>
          <p:cNvPr id="36" name="Text 34"/>
          <p:cNvSpPr/>
          <p:nvPr/>
        </p:nvSpPr>
        <p:spPr>
          <a:xfrm>
            <a:off x="7726680" y="4950562"/>
            <a:ext cx="3749040" cy="554126"/>
          </a:xfrm>
          <a:prstGeom prst="rect">
            <a:avLst/>
          </a:prstGeom>
          <a:noFill/>
          <a:ln/>
        </p:spPr>
        <p:txBody>
          <a:bodyPr wrap="square" lIns="0" tIns="0" rIns="0" bIns="0" rtlCol="0" anchor="ctr">
            <a:normAutofit/>
          </a:bodyPr>
          <a:lstStyle/>
          <a:p>
            <a:pPr indent="0" marL="0">
              <a:buNone/>
            </a:pPr>
            <a:r>
              <a:rPr lang="en-US" sz="1330" dirty="0">
                <a:solidFill>
                  <a:srgbClr val="20243A"/>
                </a:solidFill>
                <a:latin typeface="Malgun Gothic" pitchFamily="34" charset="0"/>
                <a:ea typeface="Malgun Gothic" pitchFamily="34" charset="-122"/>
                <a:cs typeface="Malgun Gothic" pitchFamily="34" charset="-120"/>
              </a:rPr>
              <a:t>호스트 심사·현지 데이터·단위경제 확인</a:t>
            </a:r>
            <a:endParaRPr lang="en-US" sz="1330" dirty="0"/>
          </a:p>
        </p:txBody>
      </p:sp>
      <p:sp>
        <p:nvSpPr>
          <p:cNvPr id="37" name="Shape 35"/>
          <p:cNvSpPr/>
          <p:nvPr/>
        </p:nvSpPr>
        <p:spPr>
          <a:xfrm>
            <a:off x="548640" y="5824728"/>
            <a:ext cx="11082528" cy="438912"/>
          </a:xfrm>
          <a:prstGeom prst="roundRect">
            <a:avLst>
              <a:gd name="adj" fmla="val 33333"/>
            </a:avLst>
          </a:prstGeom>
          <a:solidFill>
            <a:srgbClr val="EEE9FD"/>
          </a:solidFill>
          <a:ln w="7620">
            <a:solidFill>
              <a:srgbClr val="EEE9FD"/>
            </a:solidFill>
            <a:prstDash val="solid"/>
          </a:ln>
        </p:spPr>
      </p:sp>
      <p:sp>
        <p:nvSpPr>
          <p:cNvPr id="38" name="Text 36"/>
          <p:cNvSpPr/>
          <p:nvPr/>
        </p:nvSpPr>
        <p:spPr>
          <a:xfrm>
            <a:off x="731520" y="5916168"/>
            <a:ext cx="10698480" cy="237744"/>
          </a:xfrm>
          <a:prstGeom prst="rect">
            <a:avLst/>
          </a:prstGeom>
          <a:noFill/>
          <a:ln/>
        </p:spPr>
        <p:txBody>
          <a:bodyPr wrap="square" lIns="0" tIns="0" rIns="0" bIns="0" rtlCol="0" anchor="ctr">
            <a:normAutofit/>
          </a:bodyPr>
          <a:lstStyle/>
          <a:p>
            <a:pPr indent="0" marL="0">
              <a:buNone/>
            </a:pPr>
            <a:r>
              <a:rPr lang="en-US" sz="1140" b="1" dirty="0">
                <a:solidFill>
                  <a:srgbClr val="7150E8"/>
                </a:solidFill>
                <a:latin typeface="Malgun Gothic" pitchFamily="34" charset="0"/>
                <a:ea typeface="Malgun Gothic" pitchFamily="34" charset="-122"/>
                <a:cs typeface="Malgun Gothic" pitchFamily="34" charset="-120"/>
              </a:rPr>
              <a:t>인력·데이터 계약이 확보된 경우의 계획 가설. 일정 보장이 아니며 iOS/폐쇄망은 별도 검증 범위다.</a:t>
            </a:r>
            <a:endParaRPr lang="en-US" sz="114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548640" y="274320"/>
            <a:ext cx="10058400" cy="228600"/>
          </a:xfrm>
          <a:prstGeom prst="rect">
            <a:avLst/>
          </a:prstGeom>
          <a:noFill/>
          <a:ln/>
        </p:spPr>
        <p:txBody>
          <a:bodyPr wrap="square" lIns="0" tIns="0" rIns="0" bIns="0" rtlCol="0" anchor="ctr">
            <a:normAutofit/>
          </a:bodyPr>
          <a:lstStyle/>
          <a:p>
            <a:pPr indent="0" marL="0">
              <a:buNone/>
            </a:pPr>
            <a:r>
              <a:rPr lang="en-US" sz="900" b="1" spc="160" kern="0" dirty="0">
                <a:solidFill>
                  <a:srgbClr val="7150E8"/>
                </a:solidFill>
                <a:latin typeface="Malgun Gothic" pitchFamily="34" charset="0"/>
                <a:ea typeface="Malgun Gothic" pitchFamily="34" charset="-122"/>
                <a:cs typeface="Malgun Gothic" pitchFamily="34" charset="-120"/>
              </a:rPr>
              <a:t>05 / MANAGEMENT ACTIONS</a:t>
            </a:r>
            <a:endParaRPr lang="en-US" sz="900" dirty="0"/>
          </a:p>
        </p:txBody>
      </p:sp>
      <p:sp>
        <p:nvSpPr>
          <p:cNvPr id="3" name="Text 1"/>
          <p:cNvSpPr/>
          <p:nvPr/>
        </p:nvSpPr>
        <p:spPr>
          <a:xfrm>
            <a:off x="548640" y="758952"/>
            <a:ext cx="11082528" cy="795528"/>
          </a:xfrm>
          <a:prstGeom prst="rect">
            <a:avLst/>
          </a:prstGeom>
          <a:noFill/>
          <a:ln/>
        </p:spPr>
        <p:txBody>
          <a:bodyPr wrap="square" lIns="0" tIns="0" rIns="0" bIns="0" rtlCol="0" anchor="ctr">
            <a:normAutofit/>
          </a:bodyPr>
          <a:lstStyle/>
          <a:p>
            <a:pPr indent="0" marL="0">
              <a:buNone/>
            </a:pPr>
            <a:r>
              <a:rPr lang="en-US" sz="2700" b="1" dirty="0">
                <a:solidFill>
                  <a:srgbClr val="20243A"/>
                </a:solidFill>
                <a:latin typeface="Malgun Gothic" pitchFamily="34" charset="0"/>
                <a:ea typeface="Malgun Gothic" pitchFamily="34" charset="-122"/>
                <a:cs typeface="Malgun Gothic" pitchFamily="34" charset="-120"/>
              </a:rPr>
              <a:t>지금 결정할 다섯 가지</a:t>
            </a:r>
            <a:endParaRPr lang="en-US" sz="2700" dirty="0"/>
          </a:p>
        </p:txBody>
      </p:sp>
      <p:sp>
        <p:nvSpPr>
          <p:cNvPr id="4" name="Shape 2"/>
          <p:cNvSpPr/>
          <p:nvPr/>
        </p:nvSpPr>
        <p:spPr>
          <a:xfrm>
            <a:off x="548640" y="1682496"/>
            <a:ext cx="11064240" cy="0"/>
          </a:xfrm>
          <a:prstGeom prst="line">
            <a:avLst/>
          </a:prstGeom>
          <a:noFill/>
          <a:ln w="12700">
            <a:solidFill>
              <a:srgbClr val="DDE2ED"/>
            </a:solidFill>
            <a:prstDash val="solid"/>
          </a:ln>
        </p:spPr>
      </p:sp>
      <p:sp>
        <p:nvSpPr>
          <p:cNvPr id="5" name="Text 3"/>
          <p:cNvSpPr/>
          <p:nvPr/>
        </p:nvSpPr>
        <p:spPr>
          <a:xfrm>
            <a:off x="548640" y="6519672"/>
            <a:ext cx="8869680" cy="164592"/>
          </a:xfrm>
          <a:prstGeom prst="rect">
            <a:avLst/>
          </a:prstGeom>
          <a:noFill/>
          <a:ln/>
        </p:spPr>
        <p:txBody>
          <a:bodyPr wrap="square" lIns="0" tIns="0" rIns="0" bIns="0" rtlCol="0" anchor="ctr">
            <a:normAutofit/>
          </a:bodyPr>
          <a:lstStyle/>
          <a:p>
            <a:pPr indent="0" marL="0">
              <a:buNone/>
            </a:pPr>
            <a:r>
              <a:rPr lang="en-US" sz="800" dirty="0">
                <a:solidFill>
                  <a:srgbClr val="677087"/>
                </a:solidFill>
                <a:latin typeface="Malgun Gothic" pitchFamily="34" charset="0"/>
                <a:ea typeface="Malgun Gothic" pitchFamily="34" charset="-122"/>
                <a:cs typeface="Malgun Gothic" pitchFamily="34" charset="-120"/>
              </a:rPr>
              <a:t>CleanTouch  |  사업화 현황 진단  |  2026.10.15</a:t>
            </a:r>
            <a:endParaRPr lang="en-US" sz="800" dirty="0"/>
          </a:p>
        </p:txBody>
      </p:sp>
      <p:sp>
        <p:nvSpPr>
          <p:cNvPr id="6" name="Text 4"/>
          <p:cNvSpPr/>
          <p:nvPr/>
        </p:nvSpPr>
        <p:spPr>
          <a:xfrm>
            <a:off x="10698480" y="6501384"/>
            <a:ext cx="914400" cy="182880"/>
          </a:xfrm>
          <a:prstGeom prst="rect">
            <a:avLst/>
          </a:prstGeom>
          <a:noFill/>
          <a:ln/>
        </p:spPr>
        <p:txBody>
          <a:bodyPr wrap="square" lIns="0" tIns="0" rIns="0" bIns="0" rtlCol="0" anchor="ctr">
            <a:normAutofit/>
          </a:bodyPr>
          <a:lstStyle/>
          <a:p>
            <a:pPr algn="r" indent="0" marL="0">
              <a:buNone/>
            </a:pPr>
            <a:r>
              <a:rPr lang="en-US" sz="800" dirty="0">
                <a:solidFill>
                  <a:srgbClr val="677087"/>
                </a:solidFill>
                <a:latin typeface="Malgun Gothic" pitchFamily="34" charset="0"/>
                <a:ea typeface="Malgun Gothic" pitchFamily="34" charset="-122"/>
                <a:cs typeface="Malgun Gothic" pitchFamily="34" charset="-120"/>
              </a:rPr>
              <a:t>22 / 24</a:t>
            </a:r>
            <a:endParaRPr lang="en-US" sz="800" dirty="0"/>
          </a:p>
        </p:txBody>
      </p:sp>
      <p:sp>
        <p:nvSpPr>
          <p:cNvPr id="7" name="Shape 5"/>
          <p:cNvSpPr/>
          <p:nvPr/>
        </p:nvSpPr>
        <p:spPr>
          <a:xfrm>
            <a:off x="548640" y="1874520"/>
            <a:ext cx="11082528" cy="640080"/>
          </a:xfrm>
          <a:prstGeom prst="roundRect">
            <a:avLst>
              <a:gd name="adj" fmla="val 22857"/>
            </a:avLst>
          </a:prstGeom>
          <a:solidFill>
            <a:srgbClr val="FFFFFF"/>
          </a:solidFill>
          <a:ln w="7620">
            <a:solidFill>
              <a:srgbClr val="DDE2ED"/>
            </a:solidFill>
            <a:prstDash val="solid"/>
          </a:ln>
        </p:spPr>
      </p:sp>
      <p:sp>
        <p:nvSpPr>
          <p:cNvPr id="8" name="Text 6"/>
          <p:cNvSpPr/>
          <p:nvPr/>
        </p:nvSpPr>
        <p:spPr>
          <a:xfrm>
            <a:off x="768096" y="2039112"/>
            <a:ext cx="548640" cy="274320"/>
          </a:xfrm>
          <a:prstGeom prst="rect">
            <a:avLst/>
          </a:prstGeom>
          <a:noFill/>
          <a:ln/>
        </p:spPr>
        <p:txBody>
          <a:bodyPr wrap="square" lIns="0" tIns="0" rIns="0" bIns="0" rtlCol="0" anchor="ctr">
            <a:normAutofit/>
          </a:bodyPr>
          <a:lstStyle/>
          <a:p>
            <a:pPr indent="0" marL="0">
              <a:buNone/>
            </a:pPr>
            <a:r>
              <a:rPr lang="en-US" sz="1900" b="1" dirty="0">
                <a:solidFill>
                  <a:srgbClr val="7150E8"/>
                </a:solidFill>
                <a:latin typeface="Malgun Gothic" pitchFamily="34" charset="0"/>
                <a:ea typeface="Malgun Gothic" pitchFamily="34" charset="-122"/>
                <a:cs typeface="Malgun Gothic" pitchFamily="34" charset="-120"/>
              </a:rPr>
              <a:t>01</a:t>
            </a:r>
            <a:endParaRPr lang="en-US" sz="1900" dirty="0"/>
          </a:p>
        </p:txBody>
      </p:sp>
      <p:sp>
        <p:nvSpPr>
          <p:cNvPr id="9" name="Text 7"/>
          <p:cNvSpPr/>
          <p:nvPr/>
        </p:nvSpPr>
        <p:spPr>
          <a:xfrm>
            <a:off x="1554480" y="2039112"/>
            <a:ext cx="3291840" cy="283464"/>
          </a:xfrm>
          <a:prstGeom prst="rect">
            <a:avLst/>
          </a:prstGeom>
          <a:noFill/>
          <a:ln/>
        </p:spPr>
        <p:txBody>
          <a:bodyPr wrap="square" lIns="0" tIns="0" rIns="0" bIns="0" rtlCol="0" anchor="ctr">
            <a:normAutofit/>
          </a:bodyPr>
          <a:lstStyle/>
          <a:p>
            <a:pPr indent="0" marL="0">
              <a:buNone/>
            </a:pPr>
            <a:r>
              <a:rPr lang="en-US" sz="1700" b="1" dirty="0">
                <a:solidFill>
                  <a:srgbClr val="20243A"/>
                </a:solidFill>
                <a:latin typeface="Malgun Gothic" pitchFamily="34" charset="0"/>
                <a:ea typeface="Malgun Gothic" pitchFamily="34" charset="-122"/>
                <a:cs typeface="Malgun Gothic" pitchFamily="34" charset="-120"/>
              </a:rPr>
              <a:t>첫 유료 고객</a:t>
            </a:r>
            <a:endParaRPr lang="en-US" sz="1700" dirty="0"/>
          </a:p>
        </p:txBody>
      </p:sp>
      <p:sp>
        <p:nvSpPr>
          <p:cNvPr id="10" name="Text 8"/>
          <p:cNvSpPr/>
          <p:nvPr/>
        </p:nvSpPr>
        <p:spPr>
          <a:xfrm>
            <a:off x="4937760" y="2057400"/>
            <a:ext cx="6400800" cy="274320"/>
          </a:xfrm>
          <a:prstGeom prst="rect">
            <a:avLst/>
          </a:prstGeom>
          <a:noFill/>
          <a:ln/>
        </p:spPr>
        <p:txBody>
          <a:bodyPr wrap="square" lIns="0" tIns="0" rIns="0" bIns="0" rtlCol="0" anchor="ctr">
            <a:normAutofit/>
          </a:bodyPr>
          <a:lstStyle/>
          <a:p>
            <a:pPr indent="0" marL="0">
              <a:buNone/>
            </a:pPr>
            <a:r>
              <a:rPr lang="en-US" sz="1400" dirty="0">
                <a:solidFill>
                  <a:srgbClr val="677087"/>
                </a:solidFill>
                <a:latin typeface="Malgun Gothic" pitchFamily="34" charset="0"/>
                <a:ea typeface="Malgun Gothic" pitchFamily="34" charset="-122"/>
                <a:cs typeface="Malgun Gothic" pitchFamily="34" charset="-120"/>
              </a:rPr>
              <a:t>카탈로그 제공 가능한 판매자/팀을 우선할지 결정</a:t>
            </a:r>
            <a:endParaRPr lang="en-US" sz="1400" dirty="0"/>
          </a:p>
        </p:txBody>
      </p:sp>
      <p:sp>
        <p:nvSpPr>
          <p:cNvPr id="11" name="Shape 9"/>
          <p:cNvSpPr/>
          <p:nvPr/>
        </p:nvSpPr>
        <p:spPr>
          <a:xfrm>
            <a:off x="548640" y="2642616"/>
            <a:ext cx="11082528" cy="640080"/>
          </a:xfrm>
          <a:prstGeom prst="roundRect">
            <a:avLst>
              <a:gd name="adj" fmla="val 22857"/>
            </a:avLst>
          </a:prstGeom>
          <a:solidFill>
            <a:srgbClr val="FFFFFF"/>
          </a:solidFill>
          <a:ln w="7620">
            <a:solidFill>
              <a:srgbClr val="DDE2ED"/>
            </a:solidFill>
            <a:prstDash val="solid"/>
          </a:ln>
        </p:spPr>
      </p:sp>
      <p:sp>
        <p:nvSpPr>
          <p:cNvPr id="12" name="Text 10"/>
          <p:cNvSpPr/>
          <p:nvPr/>
        </p:nvSpPr>
        <p:spPr>
          <a:xfrm>
            <a:off x="768096" y="2807208"/>
            <a:ext cx="548640" cy="274320"/>
          </a:xfrm>
          <a:prstGeom prst="rect">
            <a:avLst/>
          </a:prstGeom>
          <a:noFill/>
          <a:ln/>
        </p:spPr>
        <p:txBody>
          <a:bodyPr wrap="square" lIns="0" tIns="0" rIns="0" bIns="0" rtlCol="0" anchor="ctr">
            <a:normAutofit/>
          </a:bodyPr>
          <a:lstStyle/>
          <a:p>
            <a:pPr indent="0" marL="0">
              <a:buNone/>
            </a:pPr>
            <a:r>
              <a:rPr lang="en-US" sz="1900" b="1" dirty="0">
                <a:solidFill>
                  <a:srgbClr val="7150E8"/>
                </a:solidFill>
                <a:latin typeface="Malgun Gothic" pitchFamily="34" charset="0"/>
                <a:ea typeface="Malgun Gothic" pitchFamily="34" charset="-122"/>
                <a:cs typeface="Malgun Gothic" pitchFamily="34" charset="-120"/>
              </a:rPr>
              <a:t>02</a:t>
            </a:r>
            <a:endParaRPr lang="en-US" sz="1900" dirty="0"/>
          </a:p>
        </p:txBody>
      </p:sp>
      <p:sp>
        <p:nvSpPr>
          <p:cNvPr id="13" name="Text 11"/>
          <p:cNvSpPr/>
          <p:nvPr/>
        </p:nvSpPr>
        <p:spPr>
          <a:xfrm>
            <a:off x="1554480" y="2807208"/>
            <a:ext cx="3291840" cy="283464"/>
          </a:xfrm>
          <a:prstGeom prst="rect">
            <a:avLst/>
          </a:prstGeom>
          <a:noFill/>
          <a:ln/>
        </p:spPr>
        <p:txBody>
          <a:bodyPr wrap="square" lIns="0" tIns="0" rIns="0" bIns="0" rtlCol="0" anchor="ctr">
            <a:normAutofit/>
          </a:bodyPr>
          <a:lstStyle/>
          <a:p>
            <a:pPr indent="0" marL="0">
              <a:buNone/>
            </a:pPr>
            <a:r>
              <a:rPr lang="en-US" sz="1700" b="1" dirty="0">
                <a:solidFill>
                  <a:srgbClr val="20243A"/>
                </a:solidFill>
                <a:latin typeface="Malgun Gothic" pitchFamily="34" charset="0"/>
                <a:ea typeface="Malgun Gothic" pitchFamily="34" charset="-122"/>
                <a:cs typeface="Malgun Gothic" pitchFamily="34" charset="-120"/>
              </a:rPr>
              <a:t>지원 범위</a:t>
            </a:r>
            <a:endParaRPr lang="en-US" sz="1700" dirty="0"/>
          </a:p>
        </p:txBody>
      </p:sp>
      <p:sp>
        <p:nvSpPr>
          <p:cNvPr id="14" name="Text 12"/>
          <p:cNvSpPr/>
          <p:nvPr/>
        </p:nvSpPr>
        <p:spPr>
          <a:xfrm>
            <a:off x="4937760" y="2825496"/>
            <a:ext cx="6400800" cy="274320"/>
          </a:xfrm>
          <a:prstGeom prst="rect">
            <a:avLst/>
          </a:prstGeom>
          <a:noFill/>
          <a:ln/>
        </p:spPr>
        <p:txBody>
          <a:bodyPr wrap="square" lIns="0" tIns="0" rIns="0" bIns="0" rtlCol="0" anchor="ctr">
            <a:normAutofit/>
          </a:bodyPr>
          <a:lstStyle/>
          <a:p>
            <a:pPr indent="0" marL="0">
              <a:buNone/>
            </a:pPr>
            <a:r>
              <a:rPr lang="en-US" sz="1400" dirty="0">
                <a:solidFill>
                  <a:srgbClr val="677087"/>
                </a:solidFill>
                <a:latin typeface="Malgun Gothic" pitchFamily="34" charset="0"/>
                <a:ea typeface="Malgun Gothic" pitchFamily="34" charset="-122"/>
                <a:cs typeface="Malgun Gothic" pitchFamily="34" charset="-120"/>
              </a:rPr>
              <a:t>한 업종·상품군·국가·Windows/Android 범위 합의</a:t>
            </a:r>
            <a:endParaRPr lang="en-US" sz="1400" dirty="0"/>
          </a:p>
        </p:txBody>
      </p:sp>
      <p:sp>
        <p:nvSpPr>
          <p:cNvPr id="15" name="Shape 13"/>
          <p:cNvSpPr/>
          <p:nvPr/>
        </p:nvSpPr>
        <p:spPr>
          <a:xfrm>
            <a:off x="548640" y="3410712"/>
            <a:ext cx="11082528" cy="640080"/>
          </a:xfrm>
          <a:prstGeom prst="roundRect">
            <a:avLst>
              <a:gd name="adj" fmla="val 22857"/>
            </a:avLst>
          </a:prstGeom>
          <a:solidFill>
            <a:srgbClr val="FFFFFF"/>
          </a:solidFill>
          <a:ln w="7620">
            <a:solidFill>
              <a:srgbClr val="DDE2ED"/>
            </a:solidFill>
            <a:prstDash val="solid"/>
          </a:ln>
        </p:spPr>
      </p:sp>
      <p:sp>
        <p:nvSpPr>
          <p:cNvPr id="16" name="Text 14"/>
          <p:cNvSpPr/>
          <p:nvPr/>
        </p:nvSpPr>
        <p:spPr>
          <a:xfrm>
            <a:off x="768096" y="3575304"/>
            <a:ext cx="548640" cy="274320"/>
          </a:xfrm>
          <a:prstGeom prst="rect">
            <a:avLst/>
          </a:prstGeom>
          <a:noFill/>
          <a:ln/>
        </p:spPr>
        <p:txBody>
          <a:bodyPr wrap="square" lIns="0" tIns="0" rIns="0" bIns="0" rtlCol="0" anchor="ctr">
            <a:normAutofit/>
          </a:bodyPr>
          <a:lstStyle/>
          <a:p>
            <a:pPr indent="0" marL="0">
              <a:buNone/>
            </a:pPr>
            <a:r>
              <a:rPr lang="en-US" sz="1900" b="1" dirty="0">
                <a:solidFill>
                  <a:srgbClr val="7150E8"/>
                </a:solidFill>
                <a:latin typeface="Malgun Gothic" pitchFamily="34" charset="0"/>
                <a:ea typeface="Malgun Gothic" pitchFamily="34" charset="-122"/>
                <a:cs typeface="Malgun Gothic" pitchFamily="34" charset="-120"/>
              </a:rPr>
              <a:t>03</a:t>
            </a:r>
            <a:endParaRPr lang="en-US" sz="1900" dirty="0"/>
          </a:p>
        </p:txBody>
      </p:sp>
      <p:sp>
        <p:nvSpPr>
          <p:cNvPr id="17" name="Text 15"/>
          <p:cNvSpPr/>
          <p:nvPr/>
        </p:nvSpPr>
        <p:spPr>
          <a:xfrm>
            <a:off x="1554480" y="3575304"/>
            <a:ext cx="3291840" cy="283464"/>
          </a:xfrm>
          <a:prstGeom prst="rect">
            <a:avLst/>
          </a:prstGeom>
          <a:noFill/>
          <a:ln/>
        </p:spPr>
        <p:txBody>
          <a:bodyPr wrap="square" lIns="0" tIns="0" rIns="0" bIns="0" rtlCol="0" anchor="ctr">
            <a:normAutofit/>
          </a:bodyPr>
          <a:lstStyle/>
          <a:p>
            <a:pPr indent="0" marL="0">
              <a:buNone/>
            </a:pPr>
            <a:r>
              <a:rPr lang="en-US" sz="1700" b="1" dirty="0">
                <a:solidFill>
                  <a:srgbClr val="20243A"/>
                </a:solidFill>
                <a:latin typeface="Malgun Gothic" pitchFamily="34" charset="0"/>
                <a:ea typeface="Malgun Gothic" pitchFamily="34" charset="-122"/>
                <a:cs typeface="Malgun Gothic" pitchFamily="34" charset="-120"/>
              </a:rPr>
              <a:t>데이터 확보</a:t>
            </a:r>
            <a:endParaRPr lang="en-US" sz="1700" dirty="0"/>
          </a:p>
        </p:txBody>
      </p:sp>
      <p:sp>
        <p:nvSpPr>
          <p:cNvPr id="18" name="Text 16"/>
          <p:cNvSpPr/>
          <p:nvPr/>
        </p:nvSpPr>
        <p:spPr>
          <a:xfrm>
            <a:off x="4937760" y="3593592"/>
            <a:ext cx="6400800" cy="274320"/>
          </a:xfrm>
          <a:prstGeom prst="rect">
            <a:avLst/>
          </a:prstGeom>
          <a:noFill/>
          <a:ln/>
        </p:spPr>
        <p:txBody>
          <a:bodyPr wrap="square" lIns="0" tIns="0" rIns="0" bIns="0" rtlCol="0" anchor="ctr">
            <a:normAutofit/>
          </a:bodyPr>
          <a:lstStyle/>
          <a:p>
            <a:pPr indent="0" marL="0">
              <a:buNone/>
            </a:pPr>
            <a:r>
              <a:rPr lang="en-US" sz="1400" dirty="0">
                <a:solidFill>
                  <a:srgbClr val="677087"/>
                </a:solidFill>
                <a:latin typeface="Malgun Gothic" pitchFamily="34" charset="0"/>
                <a:ea typeface="Malgun Gothic" pitchFamily="34" charset="-122"/>
                <a:cs typeface="Malgun Gothic" pitchFamily="34" charset="-120"/>
              </a:rPr>
              <a:t>SKU·참조 사진·판매 URL·갱신/사용 권한 담당 지정</a:t>
            </a:r>
            <a:endParaRPr lang="en-US" sz="1400" dirty="0"/>
          </a:p>
        </p:txBody>
      </p:sp>
      <p:sp>
        <p:nvSpPr>
          <p:cNvPr id="19" name="Shape 17"/>
          <p:cNvSpPr/>
          <p:nvPr/>
        </p:nvSpPr>
        <p:spPr>
          <a:xfrm>
            <a:off x="548640" y="4178808"/>
            <a:ext cx="11082528" cy="640080"/>
          </a:xfrm>
          <a:prstGeom prst="roundRect">
            <a:avLst>
              <a:gd name="adj" fmla="val 22857"/>
            </a:avLst>
          </a:prstGeom>
          <a:solidFill>
            <a:srgbClr val="FFFFFF"/>
          </a:solidFill>
          <a:ln w="7620">
            <a:solidFill>
              <a:srgbClr val="DDE2ED"/>
            </a:solidFill>
            <a:prstDash val="solid"/>
          </a:ln>
        </p:spPr>
      </p:sp>
      <p:sp>
        <p:nvSpPr>
          <p:cNvPr id="20" name="Text 18"/>
          <p:cNvSpPr/>
          <p:nvPr/>
        </p:nvSpPr>
        <p:spPr>
          <a:xfrm>
            <a:off x="768096" y="4343400"/>
            <a:ext cx="548640" cy="274320"/>
          </a:xfrm>
          <a:prstGeom prst="rect">
            <a:avLst/>
          </a:prstGeom>
          <a:noFill/>
          <a:ln/>
        </p:spPr>
        <p:txBody>
          <a:bodyPr wrap="square" lIns="0" tIns="0" rIns="0" bIns="0" rtlCol="0" anchor="ctr">
            <a:normAutofit/>
          </a:bodyPr>
          <a:lstStyle/>
          <a:p>
            <a:pPr indent="0" marL="0">
              <a:buNone/>
            </a:pPr>
            <a:r>
              <a:rPr lang="en-US" sz="1900" b="1" dirty="0">
                <a:solidFill>
                  <a:srgbClr val="7150E8"/>
                </a:solidFill>
                <a:latin typeface="Malgun Gothic" pitchFamily="34" charset="0"/>
                <a:ea typeface="Malgun Gothic" pitchFamily="34" charset="-122"/>
                <a:cs typeface="Malgun Gothic" pitchFamily="34" charset="-120"/>
              </a:rPr>
              <a:t>04</a:t>
            </a:r>
            <a:endParaRPr lang="en-US" sz="1900" dirty="0"/>
          </a:p>
        </p:txBody>
      </p:sp>
      <p:sp>
        <p:nvSpPr>
          <p:cNvPr id="21" name="Text 19"/>
          <p:cNvSpPr/>
          <p:nvPr/>
        </p:nvSpPr>
        <p:spPr>
          <a:xfrm>
            <a:off x="1554480" y="4343400"/>
            <a:ext cx="3291840" cy="283464"/>
          </a:xfrm>
          <a:prstGeom prst="rect">
            <a:avLst/>
          </a:prstGeom>
          <a:noFill/>
          <a:ln/>
        </p:spPr>
        <p:txBody>
          <a:bodyPr wrap="square" lIns="0" tIns="0" rIns="0" bIns="0" rtlCol="0" anchor="ctr">
            <a:normAutofit/>
          </a:bodyPr>
          <a:lstStyle/>
          <a:p>
            <a:pPr indent="0" marL="0">
              <a:buNone/>
            </a:pPr>
            <a:r>
              <a:rPr lang="en-US" sz="1700" b="1" dirty="0">
                <a:solidFill>
                  <a:srgbClr val="20243A"/>
                </a:solidFill>
                <a:latin typeface="Malgun Gothic" pitchFamily="34" charset="0"/>
                <a:ea typeface="Malgun Gothic" pitchFamily="34" charset="-122"/>
                <a:cs typeface="Malgun Gothic" pitchFamily="34" charset="-120"/>
              </a:rPr>
              <a:t>투자 기준</a:t>
            </a:r>
            <a:endParaRPr lang="en-US" sz="1700" dirty="0"/>
          </a:p>
        </p:txBody>
      </p:sp>
      <p:sp>
        <p:nvSpPr>
          <p:cNvPr id="22" name="Text 20"/>
          <p:cNvSpPr/>
          <p:nvPr/>
        </p:nvSpPr>
        <p:spPr>
          <a:xfrm>
            <a:off x="4937760" y="4361688"/>
            <a:ext cx="6400800" cy="274320"/>
          </a:xfrm>
          <a:prstGeom prst="rect">
            <a:avLst/>
          </a:prstGeom>
          <a:noFill/>
          <a:ln/>
        </p:spPr>
        <p:txBody>
          <a:bodyPr wrap="square" lIns="0" tIns="0" rIns="0" bIns="0" rtlCol="0" anchor="ctr">
            <a:normAutofit/>
          </a:bodyPr>
          <a:lstStyle/>
          <a:p>
            <a:pPr indent="0" marL="0">
              <a:buNone/>
            </a:pPr>
            <a:r>
              <a:rPr lang="en-US" sz="1400" dirty="0">
                <a:solidFill>
                  <a:srgbClr val="677087"/>
                </a:solidFill>
                <a:latin typeface="Malgun Gothic" pitchFamily="34" charset="0"/>
                <a:ea typeface="Malgun Gothic" pitchFamily="34" charset="-122"/>
                <a:cs typeface="Malgun Gothic" pitchFamily="34" charset="-120"/>
              </a:rPr>
              <a:t>정확도·유효 링크·성공당 원가로 다음 단계 승인</a:t>
            </a:r>
            <a:endParaRPr lang="en-US" sz="1400" dirty="0"/>
          </a:p>
        </p:txBody>
      </p:sp>
      <p:sp>
        <p:nvSpPr>
          <p:cNvPr id="23" name="Shape 21"/>
          <p:cNvSpPr/>
          <p:nvPr/>
        </p:nvSpPr>
        <p:spPr>
          <a:xfrm>
            <a:off x="548640" y="4946904"/>
            <a:ext cx="11082528" cy="640080"/>
          </a:xfrm>
          <a:prstGeom prst="roundRect">
            <a:avLst>
              <a:gd name="adj" fmla="val 22857"/>
            </a:avLst>
          </a:prstGeom>
          <a:solidFill>
            <a:srgbClr val="FFFFFF"/>
          </a:solidFill>
          <a:ln w="7620">
            <a:solidFill>
              <a:srgbClr val="DDE2ED"/>
            </a:solidFill>
            <a:prstDash val="solid"/>
          </a:ln>
        </p:spPr>
      </p:sp>
      <p:sp>
        <p:nvSpPr>
          <p:cNvPr id="24" name="Text 22"/>
          <p:cNvSpPr/>
          <p:nvPr/>
        </p:nvSpPr>
        <p:spPr>
          <a:xfrm>
            <a:off x="768096" y="5111496"/>
            <a:ext cx="548640" cy="274320"/>
          </a:xfrm>
          <a:prstGeom prst="rect">
            <a:avLst/>
          </a:prstGeom>
          <a:noFill/>
          <a:ln/>
        </p:spPr>
        <p:txBody>
          <a:bodyPr wrap="square" lIns="0" tIns="0" rIns="0" bIns="0" rtlCol="0" anchor="ctr">
            <a:normAutofit/>
          </a:bodyPr>
          <a:lstStyle/>
          <a:p>
            <a:pPr indent="0" marL="0">
              <a:buNone/>
            </a:pPr>
            <a:r>
              <a:rPr lang="en-US" sz="1900" b="1" dirty="0">
                <a:solidFill>
                  <a:srgbClr val="7150E8"/>
                </a:solidFill>
                <a:latin typeface="Malgun Gothic" pitchFamily="34" charset="0"/>
                <a:ea typeface="Malgun Gothic" pitchFamily="34" charset="-122"/>
                <a:cs typeface="Malgun Gothic" pitchFamily="34" charset="-120"/>
              </a:rPr>
              <a:t>05</a:t>
            </a:r>
            <a:endParaRPr lang="en-US" sz="1900" dirty="0"/>
          </a:p>
        </p:txBody>
      </p:sp>
      <p:sp>
        <p:nvSpPr>
          <p:cNvPr id="25" name="Text 23"/>
          <p:cNvSpPr/>
          <p:nvPr/>
        </p:nvSpPr>
        <p:spPr>
          <a:xfrm>
            <a:off x="1554480" y="5111496"/>
            <a:ext cx="3291840" cy="283464"/>
          </a:xfrm>
          <a:prstGeom prst="rect">
            <a:avLst/>
          </a:prstGeom>
          <a:noFill/>
          <a:ln/>
        </p:spPr>
        <p:txBody>
          <a:bodyPr wrap="square" lIns="0" tIns="0" rIns="0" bIns="0" rtlCol="0" anchor="ctr">
            <a:normAutofit/>
          </a:bodyPr>
          <a:lstStyle/>
          <a:p>
            <a:pPr indent="0" marL="0">
              <a:buNone/>
            </a:pPr>
            <a:r>
              <a:rPr lang="en-US" sz="1700" b="1" dirty="0">
                <a:solidFill>
                  <a:srgbClr val="20243A"/>
                </a:solidFill>
                <a:latin typeface="Malgun Gothic" pitchFamily="34" charset="0"/>
                <a:ea typeface="Malgun Gothic" pitchFamily="34" charset="-122"/>
                <a:cs typeface="Malgun Gothic" pitchFamily="34" charset="-120"/>
              </a:rPr>
              <a:t>채널 확장</a:t>
            </a:r>
            <a:endParaRPr lang="en-US" sz="1700" dirty="0"/>
          </a:p>
        </p:txBody>
      </p:sp>
      <p:sp>
        <p:nvSpPr>
          <p:cNvPr id="26" name="Text 24"/>
          <p:cNvSpPr/>
          <p:nvPr/>
        </p:nvSpPr>
        <p:spPr>
          <a:xfrm>
            <a:off x="4937760" y="5129784"/>
            <a:ext cx="6400800" cy="274320"/>
          </a:xfrm>
          <a:prstGeom prst="rect">
            <a:avLst/>
          </a:prstGeom>
          <a:noFill/>
          <a:ln/>
        </p:spPr>
        <p:txBody>
          <a:bodyPr wrap="square" lIns="0" tIns="0" rIns="0" bIns="0" rtlCol="0" anchor="ctr">
            <a:normAutofit/>
          </a:bodyPr>
          <a:lstStyle/>
          <a:p>
            <a:pPr indent="0" marL="0">
              <a:buNone/>
            </a:pPr>
            <a:r>
              <a:rPr lang="en-US" sz="1400" dirty="0">
                <a:solidFill>
                  <a:srgbClr val="677087"/>
                </a:solidFill>
                <a:latin typeface="Malgun Gothic" pitchFamily="34" charset="0"/>
                <a:ea typeface="Malgun Gothic" pitchFamily="34" charset="-122"/>
                <a:cs typeface="Malgun Gothic" pitchFamily="34" charset="-120"/>
              </a:rPr>
              <a:t>공통 엔진 안정화 뒤 MCP·iOS·해외를 순차 확대</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548640" y="274320"/>
            <a:ext cx="10058400" cy="228600"/>
          </a:xfrm>
          <a:prstGeom prst="rect">
            <a:avLst/>
          </a:prstGeom>
          <a:noFill/>
          <a:ln/>
        </p:spPr>
        <p:txBody>
          <a:bodyPr wrap="square" lIns="0" tIns="0" rIns="0" bIns="0" rtlCol="0" anchor="ctr">
            <a:normAutofit/>
          </a:bodyPr>
          <a:lstStyle/>
          <a:p>
            <a:pPr indent="0" marL="0">
              <a:buNone/>
            </a:pPr>
            <a:r>
              <a:rPr lang="en-US" sz="900" b="1" spc="160" kern="0" dirty="0">
                <a:solidFill>
                  <a:srgbClr val="7150E8"/>
                </a:solidFill>
                <a:latin typeface="Malgun Gothic" pitchFamily="34" charset="0"/>
                <a:ea typeface="Malgun Gothic" pitchFamily="34" charset="-122"/>
                <a:cs typeface="Malgun Gothic" pitchFamily="34" charset="-120"/>
              </a:rPr>
              <a:t>APPENDIX A / INTERNAL EVIDENCE</a:t>
            </a:r>
            <a:endParaRPr lang="en-US" sz="900" dirty="0"/>
          </a:p>
        </p:txBody>
      </p:sp>
      <p:sp>
        <p:nvSpPr>
          <p:cNvPr id="3" name="Text 1"/>
          <p:cNvSpPr/>
          <p:nvPr/>
        </p:nvSpPr>
        <p:spPr>
          <a:xfrm>
            <a:off x="548640" y="758952"/>
            <a:ext cx="11082528" cy="795528"/>
          </a:xfrm>
          <a:prstGeom prst="rect">
            <a:avLst/>
          </a:prstGeom>
          <a:noFill/>
          <a:ln/>
        </p:spPr>
        <p:txBody>
          <a:bodyPr wrap="square" lIns="0" tIns="0" rIns="0" bIns="0" rtlCol="0" anchor="ctr">
            <a:normAutofit/>
          </a:bodyPr>
          <a:lstStyle/>
          <a:p>
            <a:pPr indent="0" marL="0">
              <a:buNone/>
            </a:pPr>
            <a:r>
              <a:rPr lang="en-US" sz="2700" b="1" dirty="0">
                <a:solidFill>
                  <a:srgbClr val="20243A"/>
                </a:solidFill>
                <a:latin typeface="Malgun Gothic" pitchFamily="34" charset="0"/>
                <a:ea typeface="Malgun Gothic" pitchFamily="34" charset="-122"/>
                <a:cs typeface="Malgun Gothic" pitchFamily="34" charset="-120"/>
              </a:rPr>
              <a:t>분석 근거와 상태 구분</a:t>
            </a:r>
            <a:endParaRPr lang="en-US" sz="2700" dirty="0"/>
          </a:p>
        </p:txBody>
      </p:sp>
      <p:sp>
        <p:nvSpPr>
          <p:cNvPr id="4" name="Shape 2"/>
          <p:cNvSpPr/>
          <p:nvPr/>
        </p:nvSpPr>
        <p:spPr>
          <a:xfrm>
            <a:off x="548640" y="1682496"/>
            <a:ext cx="11064240" cy="0"/>
          </a:xfrm>
          <a:prstGeom prst="line">
            <a:avLst/>
          </a:prstGeom>
          <a:noFill/>
          <a:ln w="12700">
            <a:solidFill>
              <a:srgbClr val="DDE2ED"/>
            </a:solidFill>
            <a:prstDash val="solid"/>
          </a:ln>
        </p:spPr>
      </p:sp>
      <p:sp>
        <p:nvSpPr>
          <p:cNvPr id="5" name="Text 3"/>
          <p:cNvSpPr/>
          <p:nvPr/>
        </p:nvSpPr>
        <p:spPr>
          <a:xfrm>
            <a:off x="548640" y="6519672"/>
            <a:ext cx="8869680" cy="164592"/>
          </a:xfrm>
          <a:prstGeom prst="rect">
            <a:avLst/>
          </a:prstGeom>
          <a:noFill/>
          <a:ln/>
        </p:spPr>
        <p:txBody>
          <a:bodyPr wrap="square" lIns="0" tIns="0" rIns="0" bIns="0" rtlCol="0" anchor="ctr">
            <a:normAutofit/>
          </a:bodyPr>
          <a:lstStyle/>
          <a:p>
            <a:pPr indent="0" marL="0">
              <a:buNone/>
            </a:pPr>
            <a:r>
              <a:rPr lang="en-US" sz="800" dirty="0">
                <a:solidFill>
                  <a:srgbClr val="677087"/>
                </a:solidFill>
                <a:latin typeface="Malgun Gothic" pitchFamily="34" charset="0"/>
                <a:ea typeface="Malgun Gothic" pitchFamily="34" charset="-122"/>
                <a:cs typeface="Malgun Gothic" pitchFamily="34" charset="-120"/>
              </a:rPr>
              <a:t>CleanTouch  |  사업화 현황 진단  |  2026.10.15</a:t>
            </a:r>
            <a:endParaRPr lang="en-US" sz="800" dirty="0"/>
          </a:p>
        </p:txBody>
      </p:sp>
      <p:sp>
        <p:nvSpPr>
          <p:cNvPr id="6" name="Text 4"/>
          <p:cNvSpPr/>
          <p:nvPr/>
        </p:nvSpPr>
        <p:spPr>
          <a:xfrm>
            <a:off x="10698480" y="6501384"/>
            <a:ext cx="914400" cy="182880"/>
          </a:xfrm>
          <a:prstGeom prst="rect">
            <a:avLst/>
          </a:prstGeom>
          <a:noFill/>
          <a:ln/>
        </p:spPr>
        <p:txBody>
          <a:bodyPr wrap="square" lIns="0" tIns="0" rIns="0" bIns="0" rtlCol="0" anchor="ctr">
            <a:normAutofit/>
          </a:bodyPr>
          <a:lstStyle/>
          <a:p>
            <a:pPr algn="r" indent="0" marL="0">
              <a:buNone/>
            </a:pPr>
            <a:r>
              <a:rPr lang="en-US" sz="800" dirty="0">
                <a:solidFill>
                  <a:srgbClr val="677087"/>
                </a:solidFill>
                <a:latin typeface="Malgun Gothic" pitchFamily="34" charset="0"/>
                <a:ea typeface="Malgun Gothic" pitchFamily="34" charset="-122"/>
                <a:cs typeface="Malgun Gothic" pitchFamily="34" charset="-120"/>
              </a:rPr>
              <a:t>23 / 24</a:t>
            </a:r>
            <a:endParaRPr lang="en-US" sz="800" dirty="0"/>
          </a:p>
        </p:txBody>
      </p:sp>
      <p:sp>
        <p:nvSpPr>
          <p:cNvPr id="7" name="Shape 5"/>
          <p:cNvSpPr/>
          <p:nvPr/>
        </p:nvSpPr>
        <p:spPr>
          <a:xfrm>
            <a:off x="548640" y="1901952"/>
            <a:ext cx="5413248" cy="1700784"/>
          </a:xfrm>
          <a:prstGeom prst="roundRect">
            <a:avLst>
              <a:gd name="adj" fmla="val 8602"/>
            </a:avLst>
          </a:prstGeom>
          <a:solidFill>
            <a:srgbClr val="FFFFFF"/>
          </a:solidFill>
          <a:ln w="7620">
            <a:solidFill>
              <a:srgbClr val="DDE2ED"/>
            </a:solidFill>
            <a:prstDash val="solid"/>
          </a:ln>
        </p:spPr>
      </p:sp>
      <p:sp>
        <p:nvSpPr>
          <p:cNvPr id="8" name="Shape 6"/>
          <p:cNvSpPr/>
          <p:nvPr/>
        </p:nvSpPr>
        <p:spPr>
          <a:xfrm>
            <a:off x="713232" y="2112264"/>
            <a:ext cx="41148" cy="1280160"/>
          </a:xfrm>
          <a:prstGeom prst="rect">
            <a:avLst/>
          </a:prstGeom>
          <a:solidFill>
            <a:srgbClr val="7150E8"/>
          </a:solidFill>
          <a:ln w="12700">
            <a:solidFill>
              <a:srgbClr val="7150E8">
                <a:alpha val="0"/>
              </a:srgbClr>
            </a:solidFill>
            <a:prstDash val="solid"/>
          </a:ln>
        </p:spPr>
      </p:sp>
      <p:sp>
        <p:nvSpPr>
          <p:cNvPr id="9" name="Text 7"/>
          <p:cNvSpPr/>
          <p:nvPr/>
        </p:nvSpPr>
        <p:spPr>
          <a:xfrm>
            <a:off x="914400" y="2103120"/>
            <a:ext cx="4773168" cy="338328"/>
          </a:xfrm>
          <a:prstGeom prst="rect">
            <a:avLst/>
          </a:prstGeom>
          <a:noFill/>
          <a:ln/>
        </p:spPr>
        <p:txBody>
          <a:bodyPr wrap="square" lIns="0" tIns="0" rIns="0" bIns="0" rtlCol="0" anchor="ctr">
            <a:normAutofit/>
          </a:bodyPr>
          <a:lstStyle/>
          <a:p>
            <a:pPr indent="0" marL="0">
              <a:buNone/>
            </a:pPr>
            <a:r>
              <a:rPr lang="en-US" sz="1700" b="1" dirty="0">
                <a:solidFill>
                  <a:srgbClr val="7150E8"/>
                </a:solidFill>
                <a:latin typeface="Malgun Gothic" pitchFamily="34" charset="0"/>
                <a:ea typeface="Malgun Gothic" pitchFamily="34" charset="-122"/>
                <a:cs typeface="Malgun Gothic" pitchFamily="34" charset="-120"/>
              </a:rPr>
              <a:t>검토 범위</a:t>
            </a:r>
            <a:endParaRPr lang="en-US" sz="1700" dirty="0"/>
          </a:p>
        </p:txBody>
      </p:sp>
      <p:sp>
        <p:nvSpPr>
          <p:cNvPr id="10" name="Text 8"/>
          <p:cNvSpPr/>
          <p:nvPr/>
        </p:nvSpPr>
        <p:spPr>
          <a:xfrm>
            <a:off x="914400" y="2679192"/>
            <a:ext cx="4718304" cy="758952"/>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cleantouch-project 내부 소스·품질 기록·문서</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관련 없는 practice-board 게시판은 제외</a:t>
            </a:r>
            <a:endParaRPr lang="en-US" sz="1500" dirty="0"/>
          </a:p>
        </p:txBody>
      </p:sp>
      <p:sp>
        <p:nvSpPr>
          <p:cNvPr id="11" name="Shape 9"/>
          <p:cNvSpPr/>
          <p:nvPr/>
        </p:nvSpPr>
        <p:spPr>
          <a:xfrm>
            <a:off x="6217920" y="1901952"/>
            <a:ext cx="5413248" cy="1700784"/>
          </a:xfrm>
          <a:prstGeom prst="roundRect">
            <a:avLst>
              <a:gd name="adj" fmla="val 8602"/>
            </a:avLst>
          </a:prstGeom>
          <a:solidFill>
            <a:srgbClr val="FFFFFF"/>
          </a:solidFill>
          <a:ln w="7620">
            <a:solidFill>
              <a:srgbClr val="DDE2ED"/>
            </a:solidFill>
            <a:prstDash val="solid"/>
          </a:ln>
        </p:spPr>
      </p:sp>
      <p:sp>
        <p:nvSpPr>
          <p:cNvPr id="12" name="Shape 10"/>
          <p:cNvSpPr/>
          <p:nvPr/>
        </p:nvSpPr>
        <p:spPr>
          <a:xfrm>
            <a:off x="6382512" y="2112264"/>
            <a:ext cx="41148" cy="1280160"/>
          </a:xfrm>
          <a:prstGeom prst="rect">
            <a:avLst/>
          </a:prstGeom>
          <a:solidFill>
            <a:srgbClr val="147D7A"/>
          </a:solidFill>
          <a:ln w="12700">
            <a:solidFill>
              <a:srgbClr val="147D7A">
                <a:alpha val="0"/>
              </a:srgbClr>
            </a:solidFill>
            <a:prstDash val="solid"/>
          </a:ln>
        </p:spPr>
      </p:sp>
      <p:sp>
        <p:nvSpPr>
          <p:cNvPr id="13" name="Text 11"/>
          <p:cNvSpPr/>
          <p:nvPr/>
        </p:nvSpPr>
        <p:spPr>
          <a:xfrm>
            <a:off x="6583680" y="2103120"/>
            <a:ext cx="4773168" cy="338328"/>
          </a:xfrm>
          <a:prstGeom prst="rect">
            <a:avLst/>
          </a:prstGeom>
          <a:noFill/>
          <a:ln/>
        </p:spPr>
        <p:txBody>
          <a:bodyPr wrap="square" lIns="0" tIns="0" rIns="0" bIns="0" rtlCol="0" anchor="ctr">
            <a:normAutofit/>
          </a:bodyPr>
          <a:lstStyle/>
          <a:p>
            <a:pPr indent="0" marL="0">
              <a:buNone/>
            </a:pPr>
            <a:r>
              <a:rPr lang="en-US" sz="1700" b="1" dirty="0">
                <a:solidFill>
                  <a:srgbClr val="147D7A"/>
                </a:solidFill>
                <a:latin typeface="Malgun Gothic" pitchFamily="34" charset="0"/>
                <a:ea typeface="Malgun Gothic" pitchFamily="34" charset="-122"/>
                <a:cs typeface="Malgun Gothic" pitchFamily="34" charset="-120"/>
              </a:rPr>
              <a:t>버전 기준</a:t>
            </a:r>
            <a:endParaRPr lang="en-US" sz="1700" dirty="0"/>
          </a:p>
        </p:txBody>
      </p:sp>
      <p:sp>
        <p:nvSpPr>
          <p:cNvPr id="14" name="Text 12"/>
          <p:cNvSpPr/>
          <p:nvPr/>
        </p:nvSpPr>
        <p:spPr>
          <a:xfrm>
            <a:off x="6583680" y="2679192"/>
            <a:ext cx="4718304" cy="758952"/>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Windows package.json: 0.1.61</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Android build.gradle.kts: 0.5.0 / README는 이전 버전</a:t>
            </a:r>
            <a:endParaRPr lang="en-US" sz="1500" dirty="0"/>
          </a:p>
        </p:txBody>
      </p:sp>
      <p:sp>
        <p:nvSpPr>
          <p:cNvPr id="15" name="Shape 13"/>
          <p:cNvSpPr/>
          <p:nvPr/>
        </p:nvSpPr>
        <p:spPr>
          <a:xfrm>
            <a:off x="548640" y="3785616"/>
            <a:ext cx="5413248" cy="1700784"/>
          </a:xfrm>
          <a:prstGeom prst="roundRect">
            <a:avLst>
              <a:gd name="adj" fmla="val 8602"/>
            </a:avLst>
          </a:prstGeom>
          <a:solidFill>
            <a:srgbClr val="FFFFFF"/>
          </a:solidFill>
          <a:ln w="7620">
            <a:solidFill>
              <a:srgbClr val="DDE2ED"/>
            </a:solidFill>
            <a:prstDash val="solid"/>
          </a:ln>
        </p:spPr>
      </p:sp>
      <p:sp>
        <p:nvSpPr>
          <p:cNvPr id="16" name="Shape 14"/>
          <p:cNvSpPr/>
          <p:nvPr/>
        </p:nvSpPr>
        <p:spPr>
          <a:xfrm>
            <a:off x="713232" y="3995928"/>
            <a:ext cx="41148" cy="1280160"/>
          </a:xfrm>
          <a:prstGeom prst="rect">
            <a:avLst/>
          </a:prstGeom>
          <a:solidFill>
            <a:srgbClr val="7150E8"/>
          </a:solidFill>
          <a:ln w="12700">
            <a:solidFill>
              <a:srgbClr val="7150E8">
                <a:alpha val="0"/>
              </a:srgbClr>
            </a:solidFill>
            <a:prstDash val="solid"/>
          </a:ln>
        </p:spPr>
      </p:sp>
      <p:sp>
        <p:nvSpPr>
          <p:cNvPr id="17" name="Text 15"/>
          <p:cNvSpPr/>
          <p:nvPr/>
        </p:nvSpPr>
        <p:spPr>
          <a:xfrm>
            <a:off x="914400" y="3986784"/>
            <a:ext cx="4773168" cy="338328"/>
          </a:xfrm>
          <a:prstGeom prst="rect">
            <a:avLst/>
          </a:prstGeom>
          <a:noFill/>
          <a:ln/>
        </p:spPr>
        <p:txBody>
          <a:bodyPr wrap="square" lIns="0" tIns="0" rIns="0" bIns="0" rtlCol="0" anchor="ctr">
            <a:normAutofit/>
          </a:bodyPr>
          <a:lstStyle/>
          <a:p>
            <a:pPr indent="0" marL="0">
              <a:buNone/>
            </a:pPr>
            <a:r>
              <a:rPr lang="en-US" sz="1700" b="1" dirty="0">
                <a:solidFill>
                  <a:srgbClr val="7150E8"/>
                </a:solidFill>
                <a:latin typeface="Malgun Gothic" pitchFamily="34" charset="0"/>
                <a:ea typeface="Malgun Gothic" pitchFamily="34" charset="-122"/>
                <a:cs typeface="Malgun Gothic" pitchFamily="34" charset="-120"/>
              </a:rPr>
              <a:t>검증 기록</a:t>
            </a:r>
            <a:endParaRPr lang="en-US" sz="1700" dirty="0"/>
          </a:p>
        </p:txBody>
      </p:sp>
      <p:sp>
        <p:nvSpPr>
          <p:cNvPr id="18" name="Text 16"/>
          <p:cNvSpPr/>
          <p:nvPr/>
        </p:nvSpPr>
        <p:spPr>
          <a:xfrm>
            <a:off x="914400" y="4562856"/>
            <a:ext cx="4718304" cy="758952"/>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QUALITY-0.1.59~61 / Windows 테스트 138개</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API 구매 테스트 81개 / 실제 검색 제한 응답</a:t>
            </a:r>
            <a:endParaRPr lang="en-US" sz="1500" dirty="0"/>
          </a:p>
        </p:txBody>
      </p:sp>
      <p:sp>
        <p:nvSpPr>
          <p:cNvPr id="19" name="Shape 17"/>
          <p:cNvSpPr/>
          <p:nvPr/>
        </p:nvSpPr>
        <p:spPr>
          <a:xfrm>
            <a:off x="6217920" y="3785616"/>
            <a:ext cx="5413248" cy="1700784"/>
          </a:xfrm>
          <a:prstGeom prst="roundRect">
            <a:avLst>
              <a:gd name="adj" fmla="val 8602"/>
            </a:avLst>
          </a:prstGeom>
          <a:solidFill>
            <a:srgbClr val="FFFFFF"/>
          </a:solidFill>
          <a:ln w="7620">
            <a:solidFill>
              <a:srgbClr val="DDE2ED"/>
            </a:solidFill>
            <a:prstDash val="solid"/>
          </a:ln>
        </p:spPr>
      </p:sp>
      <p:sp>
        <p:nvSpPr>
          <p:cNvPr id="20" name="Shape 18"/>
          <p:cNvSpPr/>
          <p:nvPr/>
        </p:nvSpPr>
        <p:spPr>
          <a:xfrm>
            <a:off x="6382512" y="3995928"/>
            <a:ext cx="41148" cy="1280160"/>
          </a:xfrm>
          <a:prstGeom prst="rect">
            <a:avLst/>
          </a:prstGeom>
          <a:solidFill>
            <a:srgbClr val="147D7A"/>
          </a:solidFill>
          <a:ln w="12700">
            <a:solidFill>
              <a:srgbClr val="147D7A">
                <a:alpha val="0"/>
              </a:srgbClr>
            </a:solidFill>
            <a:prstDash val="solid"/>
          </a:ln>
        </p:spPr>
      </p:sp>
      <p:sp>
        <p:nvSpPr>
          <p:cNvPr id="21" name="Text 19"/>
          <p:cNvSpPr/>
          <p:nvPr/>
        </p:nvSpPr>
        <p:spPr>
          <a:xfrm>
            <a:off x="6583680" y="3986784"/>
            <a:ext cx="4773168" cy="338328"/>
          </a:xfrm>
          <a:prstGeom prst="rect">
            <a:avLst/>
          </a:prstGeom>
          <a:noFill/>
          <a:ln/>
        </p:spPr>
        <p:txBody>
          <a:bodyPr wrap="square" lIns="0" tIns="0" rIns="0" bIns="0" rtlCol="0" anchor="ctr">
            <a:normAutofit/>
          </a:bodyPr>
          <a:lstStyle/>
          <a:p>
            <a:pPr indent="0" marL="0">
              <a:buNone/>
            </a:pPr>
            <a:r>
              <a:rPr lang="en-US" sz="1700" b="1" dirty="0">
                <a:solidFill>
                  <a:srgbClr val="147D7A"/>
                </a:solidFill>
                <a:latin typeface="Malgun Gothic" pitchFamily="34" charset="0"/>
                <a:ea typeface="Malgun Gothic" pitchFamily="34" charset="-122"/>
                <a:cs typeface="Malgun Gothic" pitchFamily="34" charset="-120"/>
              </a:rPr>
              <a:t>해석의 한계</a:t>
            </a:r>
            <a:endParaRPr lang="en-US" sz="1700" dirty="0"/>
          </a:p>
        </p:txBody>
      </p:sp>
      <p:sp>
        <p:nvSpPr>
          <p:cNvPr id="22" name="Text 20"/>
          <p:cNvSpPr/>
          <p:nvPr/>
        </p:nvSpPr>
        <p:spPr>
          <a:xfrm>
            <a:off x="6583680" y="4562856"/>
            <a:ext cx="4718304" cy="758952"/>
          </a:xfrm>
          <a:prstGeom prst="rect">
            <a:avLst/>
          </a:prstGeom>
          <a:noFill/>
          <a:ln/>
        </p:spPr>
        <p:txBody>
          <a:bodyPr wrap="square" lIns="0" tIns="0" rIns="0" bIns="0" rtlCol="0" anchor="ctr">
            <a:normAutofit/>
          </a:bodyPr>
          <a:lstStyle/>
          <a:p>
            <a:pPr indent="0" marL="0">
              <a:buNone/>
            </a:pPr>
            <a:r>
              <a:rPr lang="en-US" sz="1500" dirty="0">
                <a:solidFill>
                  <a:srgbClr val="20243A"/>
                </a:solidFill>
                <a:latin typeface="Malgun Gothic" pitchFamily="34" charset="0"/>
                <a:ea typeface="Malgun Gothic" pitchFamily="34" charset="-122"/>
                <a:cs typeface="Malgun Gothic" pitchFamily="34" charset="-120"/>
              </a:rPr>
              <a:t>직전 구매 개선은 로컬 수정·테스트 단계</a:t>
            </a:r>
            <a:endParaRPr lang="en-US" sz="1500" dirty="0"/>
          </a:p>
          <a:p>
            <a:pPr indent="0" marL="0">
              <a:buNone/>
            </a:pPr>
            <a:r>
              <a:rPr lang="en-US" sz="1500" dirty="0">
                <a:solidFill>
                  <a:srgbClr val="20243A"/>
                </a:solidFill>
                <a:latin typeface="Malgun Gothic" pitchFamily="34" charset="0"/>
                <a:ea typeface="Malgun Gothic" pitchFamily="34" charset="-122"/>
                <a:cs typeface="Malgun Gothic" pitchFamily="34" charset="-120"/>
              </a:rPr>
              <a:t>전체 실기기·부하·침투·시장성 검증은 미실시</a:t>
            </a:r>
            <a:endParaRPr lang="en-US" sz="1500" dirty="0"/>
          </a:p>
        </p:txBody>
      </p:sp>
      <p:sp>
        <p:nvSpPr>
          <p:cNvPr id="23" name="Shape 21"/>
          <p:cNvSpPr/>
          <p:nvPr/>
        </p:nvSpPr>
        <p:spPr>
          <a:xfrm>
            <a:off x="548640" y="5824728"/>
            <a:ext cx="11082528" cy="438912"/>
          </a:xfrm>
          <a:prstGeom prst="roundRect">
            <a:avLst>
              <a:gd name="adj" fmla="val 33333"/>
            </a:avLst>
          </a:prstGeom>
          <a:solidFill>
            <a:srgbClr val="EEE9FD"/>
          </a:solidFill>
          <a:ln w="7620">
            <a:solidFill>
              <a:srgbClr val="EEE9FD"/>
            </a:solidFill>
            <a:prstDash val="solid"/>
          </a:ln>
        </p:spPr>
      </p:sp>
      <p:sp>
        <p:nvSpPr>
          <p:cNvPr id="24" name="Text 22"/>
          <p:cNvSpPr/>
          <p:nvPr/>
        </p:nvSpPr>
        <p:spPr>
          <a:xfrm>
            <a:off x="731520" y="5916168"/>
            <a:ext cx="10698480" cy="237744"/>
          </a:xfrm>
          <a:prstGeom prst="rect">
            <a:avLst/>
          </a:prstGeom>
          <a:noFill/>
          <a:ln/>
        </p:spPr>
        <p:txBody>
          <a:bodyPr wrap="square" lIns="0" tIns="0" rIns="0" bIns="0" rtlCol="0" anchor="ctr">
            <a:normAutofit/>
          </a:bodyPr>
          <a:lstStyle/>
          <a:p>
            <a:pPr indent="0" marL="0">
              <a:buNone/>
            </a:pPr>
            <a:r>
              <a:rPr lang="en-US" sz="1140" b="1" dirty="0">
                <a:solidFill>
                  <a:srgbClr val="7150E8"/>
                </a:solidFill>
                <a:latin typeface="Malgun Gothic" pitchFamily="34" charset="0"/>
                <a:ea typeface="Malgun Gothic" pitchFamily="34" charset="-122"/>
                <a:cs typeface="Malgun Gothic" pitchFamily="34" charset="-120"/>
              </a:rPr>
              <a:t>발표 자료 안의 “제안·목표·가정”을 실제 구현, 고객 확보, 매출 또는 품질 달성으로 인용하지 않는다.</a:t>
            </a:r>
            <a:endParaRPr lang="en-US" sz="114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9FC"/>
        </a:solidFill>
      </p:bgPr>
    </p:bg>
    <p:spTree>
      <p:nvGrpSpPr>
        <p:cNvPr id="1" name=""/>
        <p:cNvGrpSpPr/>
        <p:nvPr/>
      </p:nvGrpSpPr>
      <p:grpSpPr>
        <a:xfrm>
          <a:off x="0" y="0"/>
          <a:ext cx="0" cy="0"/>
          <a:chOff x="0" y="0"/>
          <a:chExt cx="0" cy="0"/>
        </a:xfrm>
      </p:grpSpPr>
      <p:sp>
        <p:nvSpPr>
          <p:cNvPr id="2" name="Text 0"/>
          <p:cNvSpPr/>
          <p:nvPr/>
        </p:nvSpPr>
        <p:spPr>
          <a:xfrm>
            <a:off x="548640" y="274320"/>
            <a:ext cx="10058400" cy="228600"/>
          </a:xfrm>
          <a:prstGeom prst="rect">
            <a:avLst/>
          </a:prstGeom>
          <a:noFill/>
          <a:ln/>
        </p:spPr>
        <p:txBody>
          <a:bodyPr wrap="square" lIns="0" tIns="0" rIns="0" bIns="0" rtlCol="0" anchor="ctr">
            <a:normAutofit/>
          </a:bodyPr>
          <a:lstStyle/>
          <a:p>
            <a:pPr indent="0" marL="0">
              <a:buNone/>
            </a:pPr>
            <a:r>
              <a:rPr lang="en-US" sz="900" b="1" spc="160" kern="0" dirty="0">
                <a:solidFill>
                  <a:srgbClr val="7150E8"/>
                </a:solidFill>
                <a:latin typeface="Malgun Gothic" pitchFamily="34" charset="0"/>
                <a:ea typeface="Malgun Gothic" pitchFamily="34" charset="-122"/>
                <a:cs typeface="Malgun Gothic" pitchFamily="34" charset="-120"/>
              </a:rPr>
              <a:t>APPENDIX B / SOURCES</a:t>
            </a:r>
            <a:endParaRPr lang="en-US" sz="900" dirty="0"/>
          </a:p>
        </p:txBody>
      </p:sp>
      <p:sp>
        <p:nvSpPr>
          <p:cNvPr id="3" name="Text 1"/>
          <p:cNvSpPr/>
          <p:nvPr/>
        </p:nvSpPr>
        <p:spPr>
          <a:xfrm>
            <a:off x="548640" y="758952"/>
            <a:ext cx="11082528" cy="795528"/>
          </a:xfrm>
          <a:prstGeom prst="rect">
            <a:avLst/>
          </a:prstGeom>
          <a:noFill/>
          <a:ln/>
        </p:spPr>
        <p:txBody>
          <a:bodyPr wrap="square" lIns="0" tIns="0" rIns="0" bIns="0" rtlCol="0" anchor="ctr">
            <a:normAutofit/>
          </a:bodyPr>
          <a:lstStyle/>
          <a:p>
            <a:pPr indent="0" marL="0">
              <a:buNone/>
            </a:pPr>
            <a:r>
              <a:rPr lang="en-US" sz="2700" b="1" dirty="0">
                <a:solidFill>
                  <a:srgbClr val="20243A"/>
                </a:solidFill>
                <a:latin typeface="Malgun Gothic" pitchFamily="34" charset="0"/>
                <a:ea typeface="Malgun Gothic" pitchFamily="34" charset="-122"/>
                <a:cs typeface="Malgun Gothic" pitchFamily="34" charset="-120"/>
              </a:rPr>
              <a:t>공식 참고자료</a:t>
            </a:r>
            <a:endParaRPr lang="en-US" sz="2700" dirty="0"/>
          </a:p>
        </p:txBody>
      </p:sp>
      <p:sp>
        <p:nvSpPr>
          <p:cNvPr id="4" name="Shape 2"/>
          <p:cNvSpPr/>
          <p:nvPr/>
        </p:nvSpPr>
        <p:spPr>
          <a:xfrm>
            <a:off x="548640" y="1682496"/>
            <a:ext cx="11064240" cy="0"/>
          </a:xfrm>
          <a:prstGeom prst="line">
            <a:avLst/>
          </a:prstGeom>
          <a:noFill/>
          <a:ln w="12700">
            <a:solidFill>
              <a:srgbClr val="DDE2ED"/>
            </a:solidFill>
            <a:prstDash val="solid"/>
          </a:ln>
        </p:spPr>
      </p:sp>
      <p:sp>
        <p:nvSpPr>
          <p:cNvPr id="5" name="Text 3"/>
          <p:cNvSpPr/>
          <p:nvPr/>
        </p:nvSpPr>
        <p:spPr>
          <a:xfrm>
            <a:off x="548640" y="6519672"/>
            <a:ext cx="8869680" cy="164592"/>
          </a:xfrm>
          <a:prstGeom prst="rect">
            <a:avLst/>
          </a:prstGeom>
          <a:noFill/>
          <a:ln/>
        </p:spPr>
        <p:txBody>
          <a:bodyPr wrap="square" lIns="0" tIns="0" rIns="0" bIns="0" rtlCol="0" anchor="ctr">
            <a:normAutofit/>
          </a:bodyPr>
          <a:lstStyle/>
          <a:p>
            <a:pPr indent="0" marL="0">
              <a:buNone/>
            </a:pPr>
            <a:r>
              <a:rPr lang="en-US" sz="800" dirty="0">
                <a:solidFill>
                  <a:srgbClr val="677087"/>
                </a:solidFill>
                <a:latin typeface="Malgun Gothic" pitchFamily="34" charset="0"/>
                <a:ea typeface="Malgun Gothic" pitchFamily="34" charset="-122"/>
                <a:cs typeface="Malgun Gothic" pitchFamily="34" charset="-120"/>
              </a:rPr>
              <a:t>CleanTouch  |  사업화 현황 진단  |  2026.10.15</a:t>
            </a:r>
            <a:endParaRPr lang="en-US" sz="800" dirty="0"/>
          </a:p>
        </p:txBody>
      </p:sp>
      <p:sp>
        <p:nvSpPr>
          <p:cNvPr id="6" name="Text 4"/>
          <p:cNvSpPr/>
          <p:nvPr/>
        </p:nvSpPr>
        <p:spPr>
          <a:xfrm>
            <a:off x="10698480" y="6501384"/>
            <a:ext cx="914400" cy="182880"/>
          </a:xfrm>
          <a:prstGeom prst="rect">
            <a:avLst/>
          </a:prstGeom>
          <a:noFill/>
          <a:ln/>
        </p:spPr>
        <p:txBody>
          <a:bodyPr wrap="square" lIns="0" tIns="0" rIns="0" bIns="0" rtlCol="0" anchor="ctr">
            <a:normAutofit/>
          </a:bodyPr>
          <a:lstStyle/>
          <a:p>
            <a:pPr algn="r" indent="0" marL="0">
              <a:buNone/>
            </a:pPr>
            <a:r>
              <a:rPr lang="en-US" sz="800" dirty="0">
                <a:solidFill>
                  <a:srgbClr val="677087"/>
                </a:solidFill>
                <a:latin typeface="Malgun Gothic" pitchFamily="34" charset="0"/>
                <a:ea typeface="Malgun Gothic" pitchFamily="34" charset="-122"/>
                <a:cs typeface="Malgun Gothic" pitchFamily="34" charset="-120"/>
              </a:rPr>
              <a:t>24 / 24</a:t>
            </a:r>
            <a:endParaRPr lang="en-US" sz="800" dirty="0"/>
          </a:p>
        </p:txBody>
      </p:sp>
      <p:sp>
        <p:nvSpPr>
          <p:cNvPr id="7" name="Text 5"/>
          <p:cNvSpPr/>
          <p:nvPr/>
        </p:nvSpPr>
        <p:spPr>
          <a:xfrm>
            <a:off x="594360" y="1856232"/>
            <a:ext cx="457200" cy="228600"/>
          </a:xfrm>
          <a:prstGeom prst="rect">
            <a:avLst/>
          </a:prstGeom>
          <a:noFill/>
          <a:ln/>
        </p:spPr>
        <p:txBody>
          <a:bodyPr wrap="square" lIns="0" tIns="0" rIns="0" bIns="0" rtlCol="0" anchor="ctr">
            <a:normAutofit/>
          </a:bodyPr>
          <a:lstStyle/>
          <a:p>
            <a:pPr indent="0" marL="0">
              <a:buNone/>
            </a:pPr>
            <a:r>
              <a:rPr lang="en-US" sz="1100" b="1" dirty="0">
                <a:solidFill>
                  <a:srgbClr val="7150E8"/>
                </a:solidFill>
                <a:latin typeface="Malgun Gothic" pitchFamily="34" charset="0"/>
                <a:ea typeface="Malgun Gothic" pitchFamily="34" charset="-122"/>
                <a:cs typeface="Malgun Gothic" pitchFamily="34" charset="-120"/>
              </a:rPr>
              <a:t>S1</a:t>
            </a:r>
            <a:endParaRPr lang="en-US" sz="1100" dirty="0"/>
          </a:p>
        </p:txBody>
      </p:sp>
      <p:sp>
        <p:nvSpPr>
          <p:cNvPr id="8" name="Text 6">
            <a:hlinkClick r:id="rId1" tooltip=""/>
          </p:cNvPr>
          <p:cNvSpPr/>
          <p:nvPr/>
        </p:nvSpPr>
        <p:spPr>
          <a:xfrm>
            <a:off x="1143000" y="1856232"/>
            <a:ext cx="9921240" cy="237744"/>
          </a:xfrm>
          <a:prstGeom prst="rect">
            <a:avLst/>
          </a:prstGeom>
          <a:noFill/>
          <a:ln/>
        </p:spPr>
        <p:txBody>
          <a:bodyPr wrap="square" lIns="0" tIns="0" rIns="0" bIns="0" rtlCol="0" anchor="ctr">
            <a:normAutofit/>
          </a:bodyPr>
          <a:lstStyle/>
          <a:p>
            <a:pPr indent="0" marL="0">
              <a:buNone/>
            </a:pPr>
            <a:r>
              <a:rPr lang="en-US" sz="1200" u="sng" dirty="0">
                <a:solidFill>
                  <a:srgbClr val="20243A"/>
                </a:solidFill>
                <a:latin typeface="Malgun Gothic" pitchFamily="34" charset="0"/>
                <a:ea typeface="Malgun Gothic" pitchFamily="34" charset="-122"/>
                <a:cs typeface="Malgun Gothic"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OpenAI · MCP server and UI quickstart</a:t>
            </a:r>
            <a:endParaRPr lang="en-US" sz="1200" dirty="0"/>
          </a:p>
        </p:txBody>
      </p:sp>
      <p:sp>
        <p:nvSpPr>
          <p:cNvPr id="9" name="Text 7"/>
          <p:cNvSpPr/>
          <p:nvPr/>
        </p:nvSpPr>
        <p:spPr>
          <a:xfrm>
            <a:off x="594360" y="2295144"/>
            <a:ext cx="457200" cy="228600"/>
          </a:xfrm>
          <a:prstGeom prst="rect">
            <a:avLst/>
          </a:prstGeom>
          <a:noFill/>
          <a:ln/>
        </p:spPr>
        <p:txBody>
          <a:bodyPr wrap="square" lIns="0" tIns="0" rIns="0" bIns="0" rtlCol="0" anchor="ctr">
            <a:normAutofit/>
          </a:bodyPr>
          <a:lstStyle/>
          <a:p>
            <a:pPr indent="0" marL="0">
              <a:buNone/>
            </a:pPr>
            <a:r>
              <a:rPr lang="en-US" sz="1100" b="1" dirty="0">
                <a:solidFill>
                  <a:srgbClr val="7150E8"/>
                </a:solidFill>
                <a:latin typeface="Malgun Gothic" pitchFamily="34" charset="0"/>
                <a:ea typeface="Malgun Gothic" pitchFamily="34" charset="-122"/>
                <a:cs typeface="Malgun Gothic" pitchFamily="34" charset="-120"/>
              </a:rPr>
              <a:t>S2</a:t>
            </a:r>
            <a:endParaRPr lang="en-US" sz="1100" dirty="0"/>
          </a:p>
        </p:txBody>
      </p:sp>
      <p:sp>
        <p:nvSpPr>
          <p:cNvPr id="10" name="Text 8">
            <a:hlinkClick r:id="rId2" tooltip=""/>
          </p:cNvPr>
          <p:cNvSpPr/>
          <p:nvPr/>
        </p:nvSpPr>
        <p:spPr>
          <a:xfrm>
            <a:off x="1143000" y="2295144"/>
            <a:ext cx="9921240" cy="237744"/>
          </a:xfrm>
          <a:prstGeom prst="rect">
            <a:avLst/>
          </a:prstGeom>
          <a:noFill/>
          <a:ln/>
        </p:spPr>
        <p:txBody>
          <a:bodyPr wrap="square" lIns="0" tIns="0" rIns="0" bIns="0" rtlCol="0" anchor="ctr">
            <a:normAutofit/>
          </a:bodyPr>
          <a:lstStyle/>
          <a:p>
            <a:pPr indent="0" marL="0">
              <a:buNone/>
            </a:pPr>
            <a:r>
              <a:rPr lang="en-US" sz="1200" u="sng" dirty="0">
                <a:solidFill>
                  <a:srgbClr val="20243A"/>
                </a:solidFill>
                <a:latin typeface="Malgun Gothic" pitchFamily="34" charset="0"/>
                <a:ea typeface="Malgun Gothic" pitchFamily="34" charset="-122"/>
                <a:cs typeface="Malgun Gothic" pitchFamily="34" charset="-120"/>
                <a:hlinkClick r:id="rId2" invalidUrl="" action="" tgtFrame="" tooltip="" history="1" highlightClick="0" endSnd="0">
                  <a:extLst>
                    <a:ext uri="{A12FA001-AC4F-418D-AE19-62706E023703}">
                      <ahyp:hlinkClr xmlns:ahyp="http://schemas.microsoft.com/office/drawing/2018/hyperlinkcolor" val="tx"/>
                    </a:ext>
                  </a:extLst>
                </a:hlinkClick>
              </a:rPr>
              <a:t>Claude · Custom connectors / remote MCP</a:t>
            </a:r>
            <a:endParaRPr lang="en-US" sz="1200" dirty="0"/>
          </a:p>
        </p:txBody>
      </p:sp>
      <p:sp>
        <p:nvSpPr>
          <p:cNvPr id="11" name="Text 9"/>
          <p:cNvSpPr/>
          <p:nvPr/>
        </p:nvSpPr>
        <p:spPr>
          <a:xfrm>
            <a:off x="594360" y="2734056"/>
            <a:ext cx="457200" cy="228600"/>
          </a:xfrm>
          <a:prstGeom prst="rect">
            <a:avLst/>
          </a:prstGeom>
          <a:noFill/>
          <a:ln/>
        </p:spPr>
        <p:txBody>
          <a:bodyPr wrap="square" lIns="0" tIns="0" rIns="0" bIns="0" rtlCol="0" anchor="ctr">
            <a:normAutofit/>
          </a:bodyPr>
          <a:lstStyle/>
          <a:p>
            <a:pPr indent="0" marL="0">
              <a:buNone/>
            </a:pPr>
            <a:r>
              <a:rPr lang="en-US" sz="1100" b="1" dirty="0">
                <a:solidFill>
                  <a:srgbClr val="7150E8"/>
                </a:solidFill>
                <a:latin typeface="Malgun Gothic" pitchFamily="34" charset="0"/>
                <a:ea typeface="Malgun Gothic" pitchFamily="34" charset="-122"/>
                <a:cs typeface="Malgun Gothic" pitchFamily="34" charset="-120"/>
              </a:rPr>
              <a:t>S3</a:t>
            </a:r>
            <a:endParaRPr lang="en-US" sz="1100" dirty="0"/>
          </a:p>
        </p:txBody>
      </p:sp>
      <p:sp>
        <p:nvSpPr>
          <p:cNvPr id="12" name="Text 10">
            <a:hlinkClick r:id="rId3" tooltip=""/>
          </p:cNvPr>
          <p:cNvSpPr/>
          <p:nvPr/>
        </p:nvSpPr>
        <p:spPr>
          <a:xfrm>
            <a:off x="1143000" y="2734056"/>
            <a:ext cx="9921240" cy="237744"/>
          </a:xfrm>
          <a:prstGeom prst="rect">
            <a:avLst/>
          </a:prstGeom>
          <a:noFill/>
          <a:ln/>
        </p:spPr>
        <p:txBody>
          <a:bodyPr wrap="square" lIns="0" tIns="0" rIns="0" bIns="0" rtlCol="0" anchor="ctr">
            <a:normAutofit/>
          </a:bodyPr>
          <a:lstStyle/>
          <a:p>
            <a:pPr indent="0" marL="0">
              <a:buNone/>
            </a:pPr>
            <a:r>
              <a:rPr lang="en-US" sz="1200" u="sng" dirty="0">
                <a:solidFill>
                  <a:srgbClr val="20243A"/>
                </a:solidFill>
                <a:latin typeface="Malgun Gothic" pitchFamily="34" charset="0"/>
                <a:ea typeface="Malgun Gothic" pitchFamily="34" charset="-122"/>
                <a:cs typeface="Malgun Gothic" pitchFamily="34" charset="-120"/>
                <a:hlinkClick r:id="rId3" invalidUrl="" action="" tgtFrame="" tooltip="" history="1" highlightClick="0" endSnd="0">
                  <a:extLst>
                    <a:ext uri="{A12FA001-AC4F-418D-AE19-62706E023703}">
                      <ahyp:hlinkClr xmlns:ahyp="http://schemas.microsoft.com/office/drawing/2018/hyperlinkcolor" val="tx"/>
                    </a:ext>
                  </a:extLst>
                </a:hlinkClick>
              </a:rPr>
              <a:t>Android · Media projection</a:t>
            </a:r>
            <a:endParaRPr lang="en-US" sz="1200" dirty="0"/>
          </a:p>
        </p:txBody>
      </p:sp>
      <p:sp>
        <p:nvSpPr>
          <p:cNvPr id="13" name="Text 11"/>
          <p:cNvSpPr/>
          <p:nvPr/>
        </p:nvSpPr>
        <p:spPr>
          <a:xfrm>
            <a:off x="594360" y="3172968"/>
            <a:ext cx="457200" cy="228600"/>
          </a:xfrm>
          <a:prstGeom prst="rect">
            <a:avLst/>
          </a:prstGeom>
          <a:noFill/>
          <a:ln/>
        </p:spPr>
        <p:txBody>
          <a:bodyPr wrap="square" lIns="0" tIns="0" rIns="0" bIns="0" rtlCol="0" anchor="ctr">
            <a:normAutofit/>
          </a:bodyPr>
          <a:lstStyle/>
          <a:p>
            <a:pPr indent="0" marL="0">
              <a:buNone/>
            </a:pPr>
            <a:r>
              <a:rPr lang="en-US" sz="1100" b="1" dirty="0">
                <a:solidFill>
                  <a:srgbClr val="7150E8"/>
                </a:solidFill>
                <a:latin typeface="Malgun Gothic" pitchFamily="34" charset="0"/>
                <a:ea typeface="Malgun Gothic" pitchFamily="34" charset="-122"/>
                <a:cs typeface="Malgun Gothic" pitchFamily="34" charset="-120"/>
              </a:rPr>
              <a:t>S4</a:t>
            </a:r>
            <a:endParaRPr lang="en-US" sz="1100" dirty="0"/>
          </a:p>
        </p:txBody>
      </p:sp>
      <p:sp>
        <p:nvSpPr>
          <p:cNvPr id="14" name="Text 12">
            <a:hlinkClick r:id="rId4" tooltip=""/>
          </p:cNvPr>
          <p:cNvSpPr/>
          <p:nvPr/>
        </p:nvSpPr>
        <p:spPr>
          <a:xfrm>
            <a:off x="1143000" y="3172968"/>
            <a:ext cx="9921240" cy="237744"/>
          </a:xfrm>
          <a:prstGeom prst="rect">
            <a:avLst/>
          </a:prstGeom>
          <a:noFill/>
          <a:ln/>
        </p:spPr>
        <p:txBody>
          <a:bodyPr wrap="square" lIns="0" tIns="0" rIns="0" bIns="0" rtlCol="0" anchor="ctr">
            <a:normAutofit/>
          </a:bodyPr>
          <a:lstStyle/>
          <a:p>
            <a:pPr indent="0" marL="0">
              <a:buNone/>
            </a:pPr>
            <a:r>
              <a:rPr lang="en-US" sz="1200" u="sng" dirty="0">
                <a:solidFill>
                  <a:srgbClr val="20243A"/>
                </a:solidFill>
                <a:latin typeface="Malgun Gothic" pitchFamily="34" charset="0"/>
                <a:ea typeface="Malgun Gothic" pitchFamily="34" charset="-122"/>
                <a:cs typeface="Malgun Gothic" pitchFamily="34" charset="-120"/>
                <a:hlinkClick r:id="rId4" invalidUrl="" action="" tgtFrame="" tooltip="" history="1" highlightClick="0" endSnd="0">
                  <a:extLst>
                    <a:ext uri="{A12FA001-AC4F-418D-AE19-62706E023703}">
                      <ahyp:hlinkClr xmlns:ahyp="http://schemas.microsoft.com/office/drawing/2018/hyperlinkcolor" val="tx"/>
                    </a:ext>
                  </a:extLst>
                </a:hlinkClick>
              </a:rPr>
              <a:t>Apple · ReplayKit</a:t>
            </a:r>
            <a:endParaRPr lang="en-US" sz="1200" dirty="0"/>
          </a:p>
        </p:txBody>
      </p:sp>
      <p:sp>
        <p:nvSpPr>
          <p:cNvPr id="15" name="Text 13"/>
          <p:cNvSpPr/>
          <p:nvPr/>
        </p:nvSpPr>
        <p:spPr>
          <a:xfrm>
            <a:off x="594360" y="3611880"/>
            <a:ext cx="457200" cy="228600"/>
          </a:xfrm>
          <a:prstGeom prst="rect">
            <a:avLst/>
          </a:prstGeom>
          <a:noFill/>
          <a:ln/>
        </p:spPr>
        <p:txBody>
          <a:bodyPr wrap="square" lIns="0" tIns="0" rIns="0" bIns="0" rtlCol="0" anchor="ctr">
            <a:normAutofit/>
          </a:bodyPr>
          <a:lstStyle/>
          <a:p>
            <a:pPr indent="0" marL="0">
              <a:buNone/>
            </a:pPr>
            <a:r>
              <a:rPr lang="en-US" sz="1100" b="1" dirty="0">
                <a:solidFill>
                  <a:srgbClr val="7150E8"/>
                </a:solidFill>
                <a:latin typeface="Malgun Gothic" pitchFamily="34" charset="0"/>
                <a:ea typeface="Malgun Gothic" pitchFamily="34" charset="-122"/>
                <a:cs typeface="Malgun Gothic" pitchFamily="34" charset="-120"/>
              </a:rPr>
              <a:t>S5</a:t>
            </a:r>
            <a:endParaRPr lang="en-US" sz="1100" dirty="0"/>
          </a:p>
        </p:txBody>
      </p:sp>
      <p:sp>
        <p:nvSpPr>
          <p:cNvPr id="16" name="Text 14">
            <a:hlinkClick r:id="rId5" tooltip=""/>
          </p:cNvPr>
          <p:cNvSpPr/>
          <p:nvPr/>
        </p:nvSpPr>
        <p:spPr>
          <a:xfrm>
            <a:off x="1143000" y="3611880"/>
            <a:ext cx="9921240" cy="237744"/>
          </a:xfrm>
          <a:prstGeom prst="rect">
            <a:avLst/>
          </a:prstGeom>
          <a:noFill/>
          <a:ln/>
        </p:spPr>
        <p:txBody>
          <a:bodyPr wrap="square" lIns="0" tIns="0" rIns="0" bIns="0" rtlCol="0" anchor="ctr">
            <a:normAutofit/>
          </a:bodyPr>
          <a:lstStyle/>
          <a:p>
            <a:pPr indent="0" marL="0">
              <a:buNone/>
            </a:pPr>
            <a:r>
              <a:rPr lang="en-US" sz="1200" u="sng" dirty="0">
                <a:solidFill>
                  <a:srgbClr val="20243A"/>
                </a:solidFill>
                <a:latin typeface="Malgun Gothic" pitchFamily="34" charset="0"/>
                <a:ea typeface="Malgun Gothic" pitchFamily="34" charset="-122"/>
                <a:cs typeface="Malgun Gothic" pitchFamily="34" charset="-120"/>
                <a:hlinkClick r:id="rId5" invalidUrl="" action="" tgtFrame="" tooltip="" history="1" highlightClick="0" endSnd="0">
                  <a:extLst>
                    <a:ext uri="{A12FA001-AC4F-418D-AE19-62706E023703}">
                      <ahyp:hlinkClr xmlns:ahyp="http://schemas.microsoft.com/office/drawing/2018/hyperlinkcolor" val="tx"/>
                    </a:ext>
                  </a:extLst>
                </a:hlinkClick>
              </a:rPr>
              <a:t>Google · Vision API Product Search</a:t>
            </a:r>
            <a:endParaRPr lang="en-US" sz="1200" dirty="0"/>
          </a:p>
        </p:txBody>
      </p:sp>
      <p:sp>
        <p:nvSpPr>
          <p:cNvPr id="17" name="Text 15"/>
          <p:cNvSpPr/>
          <p:nvPr/>
        </p:nvSpPr>
        <p:spPr>
          <a:xfrm>
            <a:off x="594360" y="4050792"/>
            <a:ext cx="457200" cy="228600"/>
          </a:xfrm>
          <a:prstGeom prst="rect">
            <a:avLst/>
          </a:prstGeom>
          <a:noFill/>
          <a:ln/>
        </p:spPr>
        <p:txBody>
          <a:bodyPr wrap="square" lIns="0" tIns="0" rIns="0" bIns="0" rtlCol="0" anchor="ctr">
            <a:normAutofit/>
          </a:bodyPr>
          <a:lstStyle/>
          <a:p>
            <a:pPr indent="0" marL="0">
              <a:buNone/>
            </a:pPr>
            <a:r>
              <a:rPr lang="en-US" sz="1100" b="1" dirty="0">
                <a:solidFill>
                  <a:srgbClr val="7150E8"/>
                </a:solidFill>
                <a:latin typeface="Malgun Gothic" pitchFamily="34" charset="0"/>
                <a:ea typeface="Malgun Gothic" pitchFamily="34" charset="-122"/>
                <a:cs typeface="Malgun Gothic" pitchFamily="34" charset="-120"/>
              </a:rPr>
              <a:t>S6</a:t>
            </a:r>
            <a:endParaRPr lang="en-US" sz="1100" dirty="0"/>
          </a:p>
        </p:txBody>
      </p:sp>
      <p:sp>
        <p:nvSpPr>
          <p:cNvPr id="18" name="Text 16">
            <a:hlinkClick r:id="rId6" tooltip=""/>
          </p:cNvPr>
          <p:cNvSpPr/>
          <p:nvPr/>
        </p:nvSpPr>
        <p:spPr>
          <a:xfrm>
            <a:off x="1143000" y="4050792"/>
            <a:ext cx="9921240" cy="237744"/>
          </a:xfrm>
          <a:prstGeom prst="rect">
            <a:avLst/>
          </a:prstGeom>
          <a:noFill/>
          <a:ln/>
        </p:spPr>
        <p:txBody>
          <a:bodyPr wrap="square" lIns="0" tIns="0" rIns="0" bIns="0" rtlCol="0" anchor="ctr">
            <a:normAutofit/>
          </a:bodyPr>
          <a:lstStyle/>
          <a:p>
            <a:pPr indent="0" marL="0">
              <a:buNone/>
            </a:pPr>
            <a:r>
              <a:rPr lang="en-US" sz="1200" u="sng" dirty="0">
                <a:solidFill>
                  <a:srgbClr val="20243A"/>
                </a:solidFill>
                <a:latin typeface="Malgun Gothic" pitchFamily="34" charset="0"/>
                <a:ea typeface="Malgun Gothic" pitchFamily="34" charset="-122"/>
                <a:cs typeface="Malgun Gothic" pitchFamily="34" charset="-120"/>
                <a:hlinkClick r:id="rId6" invalidUrl="" action="" tgtFrame="" tooltip="" history="1" highlightClick="0" endSnd="0">
                  <a:extLst>
                    <a:ext uri="{A12FA001-AC4F-418D-AE19-62706E023703}">
                      <ahyp:hlinkClr xmlns:ahyp="http://schemas.microsoft.com/office/drawing/2018/hyperlinkcolor" val="tx"/>
                    </a:ext>
                  </a:extLst>
                </a:hlinkClick>
              </a:rPr>
              <a:t>Google · Ecommerce product data / Lens</a:t>
            </a:r>
            <a:endParaRPr lang="en-US" sz="1200" dirty="0"/>
          </a:p>
        </p:txBody>
      </p:sp>
      <p:sp>
        <p:nvSpPr>
          <p:cNvPr id="19" name="Text 17"/>
          <p:cNvSpPr/>
          <p:nvPr/>
        </p:nvSpPr>
        <p:spPr>
          <a:xfrm>
            <a:off x="594360" y="4489704"/>
            <a:ext cx="457200" cy="228600"/>
          </a:xfrm>
          <a:prstGeom prst="rect">
            <a:avLst/>
          </a:prstGeom>
          <a:noFill/>
          <a:ln/>
        </p:spPr>
        <p:txBody>
          <a:bodyPr wrap="square" lIns="0" tIns="0" rIns="0" bIns="0" rtlCol="0" anchor="ctr">
            <a:normAutofit/>
          </a:bodyPr>
          <a:lstStyle/>
          <a:p>
            <a:pPr indent="0" marL="0">
              <a:buNone/>
            </a:pPr>
            <a:r>
              <a:rPr lang="en-US" sz="1100" b="1" dirty="0">
                <a:solidFill>
                  <a:srgbClr val="7150E8"/>
                </a:solidFill>
                <a:latin typeface="Malgun Gothic" pitchFamily="34" charset="0"/>
                <a:ea typeface="Malgun Gothic" pitchFamily="34" charset="-122"/>
                <a:cs typeface="Malgun Gothic" pitchFamily="34" charset="-120"/>
              </a:rPr>
              <a:t>S7</a:t>
            </a:r>
            <a:endParaRPr lang="en-US" sz="1100" dirty="0"/>
          </a:p>
        </p:txBody>
      </p:sp>
      <p:sp>
        <p:nvSpPr>
          <p:cNvPr id="20" name="Text 18">
            <a:hlinkClick r:id="rId7" tooltip=""/>
          </p:cNvPr>
          <p:cNvSpPr/>
          <p:nvPr/>
        </p:nvSpPr>
        <p:spPr>
          <a:xfrm>
            <a:off x="1143000" y="4489704"/>
            <a:ext cx="9921240" cy="237744"/>
          </a:xfrm>
          <a:prstGeom prst="rect">
            <a:avLst/>
          </a:prstGeom>
          <a:noFill/>
          <a:ln/>
        </p:spPr>
        <p:txBody>
          <a:bodyPr wrap="square" lIns="0" tIns="0" rIns="0" bIns="0" rtlCol="0" anchor="ctr">
            <a:normAutofit/>
          </a:bodyPr>
          <a:lstStyle/>
          <a:p>
            <a:pPr indent="0" marL="0">
              <a:buNone/>
            </a:pPr>
            <a:r>
              <a:rPr lang="en-US" sz="1200" u="sng" dirty="0">
                <a:solidFill>
                  <a:srgbClr val="20243A"/>
                </a:solidFill>
                <a:latin typeface="Malgun Gothic" pitchFamily="34" charset="0"/>
                <a:ea typeface="Malgun Gothic" pitchFamily="34" charset="-122"/>
                <a:cs typeface="Malgun Gothic" pitchFamily="34" charset="-120"/>
                <a:hlinkClick r:id="rId7" invalidUrl="" action="" tgtFrame="" tooltip="" history="1" highlightClick="0" endSnd="0">
                  <a:extLst>
                    <a:ext uri="{A12FA001-AC4F-418D-AE19-62706E023703}">
                      <ahyp:hlinkClr xmlns:ahyp="http://schemas.microsoft.com/office/drawing/2018/hyperlinkcolor" val="tx"/>
                    </a:ext>
                  </a:extLst>
                </a:hlinkClick>
              </a:rPr>
              <a:t>MCP · Security best practices</a:t>
            </a:r>
            <a:endParaRPr lang="en-US" sz="1200" dirty="0"/>
          </a:p>
        </p:txBody>
      </p:sp>
      <p:sp>
        <p:nvSpPr>
          <p:cNvPr id="21" name="Text 19"/>
          <p:cNvSpPr/>
          <p:nvPr/>
        </p:nvSpPr>
        <p:spPr>
          <a:xfrm>
            <a:off x="594360" y="4928616"/>
            <a:ext cx="457200" cy="228600"/>
          </a:xfrm>
          <a:prstGeom prst="rect">
            <a:avLst/>
          </a:prstGeom>
          <a:noFill/>
          <a:ln/>
        </p:spPr>
        <p:txBody>
          <a:bodyPr wrap="square" lIns="0" tIns="0" rIns="0" bIns="0" rtlCol="0" anchor="ctr">
            <a:normAutofit/>
          </a:bodyPr>
          <a:lstStyle/>
          <a:p>
            <a:pPr indent="0" marL="0">
              <a:buNone/>
            </a:pPr>
            <a:r>
              <a:rPr lang="en-US" sz="1100" b="1" dirty="0">
                <a:solidFill>
                  <a:srgbClr val="7150E8"/>
                </a:solidFill>
                <a:latin typeface="Malgun Gothic" pitchFamily="34" charset="0"/>
                <a:ea typeface="Malgun Gothic" pitchFamily="34" charset="-122"/>
                <a:cs typeface="Malgun Gothic" pitchFamily="34" charset="-120"/>
              </a:rPr>
              <a:t>S8</a:t>
            </a:r>
            <a:endParaRPr lang="en-US" sz="1100" dirty="0"/>
          </a:p>
        </p:txBody>
      </p:sp>
      <p:sp>
        <p:nvSpPr>
          <p:cNvPr id="22" name="Text 20">
            <a:hlinkClick r:id="rId8" tooltip=""/>
          </p:cNvPr>
          <p:cNvSpPr/>
          <p:nvPr/>
        </p:nvSpPr>
        <p:spPr>
          <a:xfrm>
            <a:off x="1143000" y="4928616"/>
            <a:ext cx="9921240" cy="237744"/>
          </a:xfrm>
          <a:prstGeom prst="rect">
            <a:avLst/>
          </a:prstGeom>
          <a:noFill/>
          <a:ln/>
        </p:spPr>
        <p:txBody>
          <a:bodyPr wrap="square" lIns="0" tIns="0" rIns="0" bIns="0" rtlCol="0" anchor="ctr">
            <a:normAutofit/>
          </a:bodyPr>
          <a:lstStyle/>
          <a:p>
            <a:pPr indent="0" marL="0">
              <a:buNone/>
            </a:pPr>
            <a:r>
              <a:rPr lang="en-US" sz="1200" u="sng" dirty="0">
                <a:solidFill>
                  <a:srgbClr val="20243A"/>
                </a:solidFill>
                <a:latin typeface="Malgun Gothic" pitchFamily="34" charset="0"/>
                <a:ea typeface="Malgun Gothic" pitchFamily="34" charset="-122"/>
                <a:cs typeface="Malgun Gothic" pitchFamily="34" charset="-120"/>
                <a:hlinkClick r:id="rId8" invalidUrl="" action="" tgtFrame="" tooltip="" history="1" highlightClick="0" endSnd="0">
                  <a:extLst>
                    <a:ext uri="{A12FA001-AC4F-418D-AE19-62706E023703}">
                      <ahyp:hlinkClr xmlns:ahyp="http://schemas.microsoft.com/office/drawing/2018/hyperlinkcolor" val="tx"/>
                    </a:ext>
                  </a:extLst>
                </a:hlinkClick>
              </a:rPr>
              <a:t>Stripe · Subscription webhooks</a:t>
            </a:r>
            <a:endParaRPr lang="en-US" sz="1200" dirty="0"/>
          </a:p>
        </p:txBody>
      </p:sp>
      <p:sp>
        <p:nvSpPr>
          <p:cNvPr id="23" name="Text 21"/>
          <p:cNvSpPr/>
          <p:nvPr/>
        </p:nvSpPr>
        <p:spPr>
          <a:xfrm>
            <a:off x="594360" y="5367528"/>
            <a:ext cx="457200" cy="228600"/>
          </a:xfrm>
          <a:prstGeom prst="rect">
            <a:avLst/>
          </a:prstGeom>
          <a:noFill/>
          <a:ln/>
        </p:spPr>
        <p:txBody>
          <a:bodyPr wrap="square" lIns="0" tIns="0" rIns="0" bIns="0" rtlCol="0" anchor="ctr">
            <a:normAutofit/>
          </a:bodyPr>
          <a:lstStyle/>
          <a:p>
            <a:pPr indent="0" marL="0">
              <a:buNone/>
            </a:pPr>
            <a:r>
              <a:rPr lang="en-US" sz="1100" b="1" dirty="0">
                <a:solidFill>
                  <a:srgbClr val="7150E8"/>
                </a:solidFill>
                <a:latin typeface="Malgun Gothic" pitchFamily="34" charset="0"/>
                <a:ea typeface="Malgun Gothic" pitchFamily="34" charset="-122"/>
                <a:cs typeface="Malgun Gothic" pitchFamily="34" charset="-120"/>
              </a:rPr>
              <a:t>S9</a:t>
            </a:r>
            <a:endParaRPr lang="en-US" sz="1100" dirty="0"/>
          </a:p>
        </p:txBody>
      </p:sp>
      <p:sp>
        <p:nvSpPr>
          <p:cNvPr id="24" name="Text 22">
            <a:hlinkClick r:id="rId9" tooltip=""/>
          </p:cNvPr>
          <p:cNvSpPr/>
          <p:nvPr/>
        </p:nvSpPr>
        <p:spPr>
          <a:xfrm>
            <a:off x="1143000" y="5367528"/>
            <a:ext cx="9921240" cy="237744"/>
          </a:xfrm>
          <a:prstGeom prst="rect">
            <a:avLst/>
          </a:prstGeom>
          <a:noFill/>
          <a:ln/>
        </p:spPr>
        <p:txBody>
          <a:bodyPr wrap="square" lIns="0" tIns="0" rIns="0" bIns="0" rtlCol="0" anchor="ctr">
            <a:normAutofit/>
          </a:bodyPr>
          <a:lstStyle/>
          <a:p>
            <a:pPr indent="0" marL="0">
              <a:buNone/>
            </a:pPr>
            <a:r>
              <a:rPr lang="en-US" sz="1200" u="sng" dirty="0">
                <a:solidFill>
                  <a:srgbClr val="20243A"/>
                </a:solidFill>
                <a:latin typeface="Malgun Gothic" pitchFamily="34" charset="0"/>
                <a:ea typeface="Malgun Gothic" pitchFamily="34" charset="-122"/>
                <a:cs typeface="Malgun Gothic" pitchFamily="34" charset="-120"/>
                <a:hlinkClick r:id="rId9" invalidUrl="" action="" tgtFrame="" tooltip="" history="1" highlightClick="0" endSnd="0">
                  <a:extLst>
                    <a:ext uri="{A12FA001-AC4F-418D-AE19-62706E023703}">
                      <ahyp:hlinkClr xmlns:ahyp="http://schemas.microsoft.com/office/drawing/2018/hyperlinkcolor" val="tx"/>
                    </a:ext>
                  </a:extLst>
                </a:hlinkClick>
              </a:rPr>
              <a:t>European Commission · International data protection</a:t>
            </a:r>
            <a:endParaRPr lang="en-US" sz="1200" dirty="0"/>
          </a:p>
        </p:txBody>
      </p:sp>
      <p:sp>
        <p:nvSpPr>
          <p:cNvPr id="25" name="Text 23"/>
          <p:cNvSpPr/>
          <p:nvPr/>
        </p:nvSpPr>
        <p:spPr>
          <a:xfrm>
            <a:off x="594360" y="5998464"/>
            <a:ext cx="10789920" cy="256032"/>
          </a:xfrm>
          <a:prstGeom prst="rect">
            <a:avLst/>
          </a:prstGeom>
          <a:noFill/>
          <a:ln/>
        </p:spPr>
        <p:txBody>
          <a:bodyPr wrap="square" lIns="0" tIns="0" rIns="0" bIns="0" rtlCol="0" anchor="ctr">
            <a:normAutofit/>
          </a:bodyPr>
          <a:lstStyle/>
          <a:p>
            <a:pPr indent="0" marL="0">
              <a:buNone/>
            </a:pPr>
            <a:r>
              <a:rPr lang="en-US" sz="1200" dirty="0">
                <a:solidFill>
                  <a:srgbClr val="677087"/>
                </a:solidFill>
                <a:latin typeface="Malgun Gothic" pitchFamily="34" charset="0"/>
                <a:ea typeface="Malgun Gothic" pitchFamily="34" charset="-122"/>
                <a:cs typeface="Malgun Gothic" pitchFamily="34" charset="-120"/>
              </a:rPr>
              <a:t>각 슬라이드 발표자 노트에 출처 URL과 추가 해석·검증 한계를 수록했습니다.</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CleanTouch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CleanTouch 사업화 현황 진단 및 확장 전략</dc:title>
  <dc:subject>제품 현황·B2B/B2C 사업화 및 글로벌 확장 진단</dc:subject>
  <dc:creator>CleanTouch</dc:creator>
  <cp:lastModifiedBy>CleanTouch</cp:lastModifiedBy>
  <cp:revision>1</cp:revision>
  <dcterms:created xsi:type="dcterms:W3CDTF">2026-10-15T06:41:43Z</dcterms:created>
  <dcterms:modified xsi:type="dcterms:W3CDTF">2026-10-15T06:41:43Z</dcterms:modified>
</cp:coreProperties>
</file>